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477" r:id="rId2"/>
    <p:sldId id="496" r:id="rId3"/>
    <p:sldId id="505" r:id="rId4"/>
    <p:sldId id="508" r:id="rId5"/>
    <p:sldId id="527" r:id="rId6"/>
    <p:sldId id="526" r:id="rId7"/>
    <p:sldId id="528" r:id="rId8"/>
    <p:sldId id="510" r:id="rId9"/>
    <p:sldId id="523" r:id="rId10"/>
    <p:sldId id="524" r:id="rId11"/>
    <p:sldId id="514" r:id="rId12"/>
    <p:sldId id="515" r:id="rId13"/>
    <p:sldId id="516" r:id="rId14"/>
    <p:sldId id="517" r:id="rId15"/>
    <p:sldId id="518" r:id="rId16"/>
    <p:sldId id="521" r:id="rId17"/>
    <p:sldId id="519" r:id="rId18"/>
    <p:sldId id="525" r:id="rId19"/>
    <p:sldId id="511" r:id="rId20"/>
    <p:sldId id="512" r:id="rId21"/>
    <p:sldId id="51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9F61FF"/>
    <a:srgbClr val="2E2C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30"/>
    <p:restoredTop sz="94932"/>
  </p:normalViewPr>
  <p:slideViewPr>
    <p:cSldViewPr snapToGrid="0">
      <p:cViewPr>
        <p:scale>
          <a:sx n="133" d="100"/>
          <a:sy n="133" d="100"/>
        </p:scale>
        <p:origin x="704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055514-7F84-8A44-BF0D-F67E421A0CC6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3BFEB-DD89-0645-80CB-A8799B564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144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1921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054BC-D01F-968C-DD83-4209F470E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A580A2-5B7A-7031-9D78-D8336AC791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6D1ED1-AD3E-DF67-67E3-F34B2C576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E5895-D915-3C3F-4CF7-8E4848872A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720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64495-5C4E-A4EA-0D5D-0261D58F0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32FD33-DACB-CDC3-8647-8630D37095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80B807-FE18-BCE2-C7FA-B94EEF8CD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070F3-F898-8F7F-2E49-D1EB1E3603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3504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E493A-29B4-3992-E818-4A0B0E61D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4570B6-E1DD-06F4-68FA-5582D234D1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E3ED6D-5022-B418-3D66-ECBA604AA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F0ECA-2299-81BC-6F61-DEAA11279E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455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A27F1-8CBA-66F6-6BBB-1B912D3F0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7339E2-81A0-705C-E06E-0C8C28C9FF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8CE019-FBA0-1368-E27B-3D9333001A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9DD3E5-F18C-93B8-C6D1-E033BDB953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990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1E22D-1A58-49E5-F957-3B700B52F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08949D-9242-DF48-332E-FC841AB4B6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E5C287-9467-AE03-D52C-186937926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F0876-C3BF-E5B5-43CD-EDE222DF38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2121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7BDB3-295F-D393-4932-2BF083D79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D82D0-AA45-C040-E956-9D14C97857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ADD456-6E33-775F-8917-771A27CBC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42CBC-F781-84BB-7408-9AD8FE90DA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2454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9E69F-1448-92B8-736F-9746235A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1451D5-FD35-AF4C-8C4F-21E8002AB5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77F9D1-351B-2ADA-F95C-ACF118415A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04064F-4664-575F-1F06-FD4D351A95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3094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B7D10-15E1-A694-B298-C736EF3EE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F33B24-08C6-6CD1-1D47-30AA97BAA5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360DA3-FA4E-2D39-0856-17C0C5AA15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92076-D6DA-AF7B-B6AF-A9494F437D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8949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912BA-0402-A6D5-9E22-5DC04F994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56B360-6EA6-26F6-D900-97A61EA1D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826058-4165-D0D6-CBBD-9BD5CFD6E9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EFBC04-C2EC-BBC9-B978-B0267789D8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1769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48BCA-FBC7-57FF-C055-88127731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FE1BAA-8DCD-C1A2-F87E-00112AE46D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1FF033-56FE-695C-63E2-0B62CFF6E0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2ADF9-FC8B-ED84-AC01-4574F033D9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2520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8D8C0-C0D7-2A5A-C2B0-BA37B5EE9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1063B2-FAFD-2F30-CF16-42AAE367D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3E4A09-E2B5-9066-F0CF-5A1433CB0B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E21EE1-69CD-E04A-5461-0B4A135DC6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5680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5E61C-010C-9E3A-C578-E99E527F5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5322FA-0ED1-8E35-A641-6F4C04FEF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54B32E-F1AE-7E4C-BB80-EAF38844BF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690D0-5464-79BE-3C93-35E892C4FA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4365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C5041-4D02-36D7-A632-823F2A763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BDFEB0-5049-85A9-E1AF-5FF3555034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EEB172-5FC8-3119-3378-6AEBBFCA77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2D978-961D-D202-A1F5-46290A49F9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0218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B05EC-7A6D-217A-302B-DE50587ED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2864E9-1AD8-D35C-B60E-F7862C4E9B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389326-5A06-CB5E-819A-1145BFC7D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A77E7-7D00-F7F0-7DF5-F74727332E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5679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AE49D-7D78-5DF8-D731-73AE61267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A63619-E5E3-68A9-354A-15EF12277B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87F4DA-C25E-18D6-93FF-44F15EC936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14B63-FCE1-B94E-D902-A9FB4809BD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836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46B90-1F2F-9849-0EFB-C0134ADA0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FD751C-55B3-DEC2-274A-FF012E7D5C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4E3951-C624-34CD-6269-46F718C24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C1ADF-3712-8F95-17D8-3175B6C439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4980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638B6-6160-0F6D-1FD1-6BDD362CC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1A4B61-3098-594E-2342-9AAF1DE7A0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0AF8F9-6DF3-0C20-389B-EBC126062D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E972F-5EFF-1A2A-3E2E-51F2595F06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0811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09BE8-3600-F262-38E8-396140E8D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40E87D-0733-4127-0B6F-1218CA7D5D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246D78-97D5-3CFC-E486-47BCC0868F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EFAB7-85F9-8AAA-7A7D-AF2B13BD5D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5419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CD87A-7D29-4A63-B5B3-24E6291CF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724A01-B956-A3D9-35E2-9D58D6D107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834A4A-6BD0-D142-4814-553A8F3801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6BB557-4789-9DA1-AF44-A5AF6BA5CC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3776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3011C-6EB3-8C36-6B58-9044A6CA6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ADF49E-4DB2-5847-CF0D-6141EC0F39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A96531-AAC0-7479-67E8-5FFBEAAE5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511132-C47A-FD8B-CDF8-066BFD9564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883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81828-A740-60EF-5F7D-328A01908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46C149-91B5-D709-D604-9584F6DFE2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FDA84-C123-C8B7-BB16-2325D9498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5C21B-8755-B94D-BF21-332D92EFB94C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50313-7C58-E4B7-4FDA-E25E1610F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85CB0-9FEC-6A9E-4CFF-4FD3D472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094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E4662-E4D8-8CA7-3779-B91513EC8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E77A2-E909-B688-AD08-534C18F19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D6EE6-E4D8-C434-F684-7BDECD3CC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5C21B-8755-B94D-BF21-332D92EFB94C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72FF9-1EF4-47A4-648E-A8B6E547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33235-18F6-14B7-3F3C-1B310D36A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338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F5017-3F85-C2E6-5223-EDEBE5345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BA6AA-4581-665D-E86C-3B9112C72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D9C1-1EC7-0095-9E10-CD587E79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5C21B-8755-B94D-BF21-332D92EFB94C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838B0-8D46-6591-E13B-B62AEEEB6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77FE6-EC81-455E-9B35-2EA59EF01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24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C6101-F797-E64D-FA54-3D9EDC352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F29BB-B08E-A6A3-E23C-8249FDD738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4D1720-80A5-C549-E427-D6E34CBF95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DADA3F-5BC8-33B1-4189-E3B09EB1F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5C21B-8755-B94D-BF21-332D92EFB94C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7241D-8BA1-7634-9F0F-3CCDC159B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A0BD1-5FBC-D461-C10C-FD6A8E54B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648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BA313-CE77-5A6F-1076-DC07B8319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7E2FB0-868C-4E75-F108-B0F0E94C5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69C154-890B-3905-BC3B-27FD1AFA1B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10E697-7659-F2D9-2650-1DD2EA5669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AFD821-CAF0-78FE-A714-AD8C47EF8E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4367DF-F1FB-0BD2-EE43-8377FA841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5C21B-8755-B94D-BF21-332D92EFB94C}" type="datetimeFigureOut">
              <a:rPr lang="en-US" smtClean="0"/>
              <a:t>5/8/26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B73405-8153-057C-F0B3-7FC449CFC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8C04F8-2DA2-2DD7-383C-E6AA0DF25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162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1579D-6958-9DCD-FEFD-E33A46F31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BBD8C7-08C9-A825-2CF0-885111CCB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5C21B-8755-B94D-BF21-332D92EFB94C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A69594-A820-57FA-D7BB-E26473D5B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4ED3E-D1F4-1DBA-E6B3-FC786A145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129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F0074D-7F29-ED97-3C6F-3A85EF565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5C21B-8755-B94D-BF21-332D92EFB94C}" type="datetimeFigureOut">
              <a:rPr lang="en-US" smtClean="0"/>
              <a:t>5/8/26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4F0620-8F1B-8A53-1AA7-3F2ECFA6A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A3951-4F2E-6F10-D7C5-3037B0E47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202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DAF97-852E-02ED-58F0-6309FCC54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7C630-AAD8-151F-C40F-443103545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3E170-27A4-7FD2-FF3B-B51326F67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54BD4-BEEC-BCF8-4D36-777CFE173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5C21B-8755-B94D-BF21-332D92EFB94C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46C24B-DF94-73BC-5F4C-21A8A9400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036ACD-6277-85CF-B58A-A31A9364E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61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44D50-EFC2-B2BE-11C7-360A75B8A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827050-819B-F6C2-CFC4-B0B3D535C9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438D2B-D60F-7B7A-D18A-F983C72EA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B2680E-AD25-2C7E-002C-25AC17811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5C21B-8755-B94D-BF21-332D92EFB94C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A238F8-806A-352D-6E2F-9CDA90035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A7ECD-6F0E-1D20-7002-5A4DA8D7D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543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40CEB-0EAD-DA96-C068-9A26670C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E67B2C-1552-E19F-82EE-6C3023C855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81990-6543-EB05-FA47-7676CD81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5C21B-8755-B94D-BF21-332D92EFB94C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242A2-92D9-3B84-F52F-717CD05B7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747D2-4730-FD71-2257-B2B678CA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499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874F61-394E-0423-441D-64174FCBBD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68D413-7F7E-1F7D-CC3B-29D83AB51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64D48-917A-F0BF-397C-D0DFC133F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5C21B-8755-B94D-BF21-332D92EFB94C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6FA1D-8038-B110-7035-48232E48D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1AF4E-24B4-93C5-A966-DEC52D7B8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01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654920-4B0E-0BF2-6788-397E1EB6A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FFACF1-7249-ABD7-FD7A-923C35382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8B585-BDA3-C9B1-C2BA-512DD11B95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C5C21B-8755-B94D-BF21-332D92EFB94C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A012F-4C81-44F6-F78D-28C261DAC5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411A4-CB77-A53A-D675-7A6609DB66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987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3.emf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6.png"/><Relationship Id="rId26" Type="http://schemas.openxmlformats.org/officeDocument/2006/relationships/image" Target="../media/image38.png"/><Relationship Id="rId3" Type="http://schemas.openxmlformats.org/officeDocument/2006/relationships/image" Target="../media/image17.png"/><Relationship Id="rId21" Type="http://schemas.openxmlformats.org/officeDocument/2006/relationships/image" Target="../media/image34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5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0.png"/><Relationship Id="rId20" Type="http://schemas.openxmlformats.org/officeDocument/2006/relationships/image" Target="../media/image33.png"/><Relationship Id="rId29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24" Type="http://schemas.openxmlformats.org/officeDocument/2006/relationships/image" Target="../media/image4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23" Type="http://schemas.openxmlformats.org/officeDocument/2006/relationships/image" Target="../media/image36.png"/><Relationship Id="rId28" Type="http://schemas.openxmlformats.org/officeDocument/2006/relationships/image" Target="../media/image32.png"/><Relationship Id="rId10" Type="http://schemas.openxmlformats.org/officeDocument/2006/relationships/image" Target="../media/image24.png"/><Relationship Id="rId19" Type="http://schemas.openxmlformats.org/officeDocument/2006/relationships/image" Target="../media/image15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35.png"/><Relationship Id="rId27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2.png"/><Relationship Id="rId3" Type="http://schemas.openxmlformats.org/officeDocument/2006/relationships/image" Target="../media/image39.png"/><Relationship Id="rId7" Type="http://schemas.openxmlformats.org/officeDocument/2006/relationships/image" Target="../media/image44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50.png"/><Relationship Id="rId5" Type="http://schemas.openxmlformats.org/officeDocument/2006/relationships/image" Target="../media/image42.png"/><Relationship Id="rId15" Type="http://schemas.openxmlformats.org/officeDocument/2006/relationships/image" Target="../media/image47.png"/><Relationship Id="rId10" Type="http://schemas.openxmlformats.org/officeDocument/2006/relationships/image" Target="../media/image49.png"/><Relationship Id="rId4" Type="http://schemas.openxmlformats.org/officeDocument/2006/relationships/image" Target="../media/image40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svg"/><Relationship Id="rId4" Type="http://schemas.openxmlformats.org/officeDocument/2006/relationships/image" Target="../media/image6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svg"/><Relationship Id="rId4" Type="http://schemas.openxmlformats.org/officeDocument/2006/relationships/image" Target="../media/image7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svg"/><Relationship Id="rId4" Type="http://schemas.openxmlformats.org/officeDocument/2006/relationships/image" Target="../media/image75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0.png"/><Relationship Id="rId4" Type="http://schemas.openxmlformats.org/officeDocument/2006/relationships/image" Target="../media/image31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70C406E-5381-7676-FAC3-23D2538C83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286539"/>
            <a:ext cx="12192000" cy="118320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29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Research Updates on GNN Species Discovery </a:t>
            </a:r>
            <a:br>
              <a:rPr lang="en-US" sz="29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</a:br>
            <a:endParaRPr lang="en-US" sz="2900" b="1" dirty="0">
              <a:solidFill>
                <a:srgbClr val="2E2C28"/>
              </a:solidFill>
              <a:latin typeface="Garamond" panose="02020404030301010803" pitchFamily="18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FD5BD63-C5E7-ED49-10F7-79782BC8C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311522"/>
            <a:ext cx="12192000" cy="1259939"/>
          </a:xfrm>
        </p:spPr>
        <p:txBody>
          <a:bodyPr>
            <a:noAutofit/>
          </a:bodyPr>
          <a:lstStyle/>
          <a:p>
            <a:pPr marL="0" indent="0" eaLnBrk="1" hangingPunct="1"/>
            <a:r>
              <a:rPr lang="en-US" altLang="en-US" sz="2000" b="1" dirty="0">
                <a:solidFill>
                  <a:srgbClr val="2E2C28"/>
                </a:solidFill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Rui Xu</a:t>
            </a:r>
          </a:p>
          <a:p>
            <a:pPr marL="0" indent="0" eaLnBrk="1" hangingPunct="1"/>
            <a:r>
              <a:rPr lang="en-US" altLang="en-US" sz="2000" b="1" dirty="0">
                <a:solidFill>
                  <a:srgbClr val="2E2C28"/>
                </a:solidFill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University of Southern California</a:t>
            </a:r>
          </a:p>
          <a:p>
            <a:pPr marL="0" indent="0" eaLnBrk="1" hangingPunct="1"/>
            <a:r>
              <a:rPr lang="en-US" altLang="en-US" sz="2000" b="1" dirty="0">
                <a:solidFill>
                  <a:srgbClr val="2E2C28"/>
                </a:solidFill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May 6, 2026</a:t>
            </a:r>
          </a:p>
        </p:txBody>
      </p:sp>
    </p:spTree>
    <p:extLst>
      <p:ext uri="{BB962C8B-B14F-4D97-AF65-F5344CB8AC3E}">
        <p14:creationId xmlns:p14="http://schemas.microsoft.com/office/powerpoint/2010/main" val="725083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7BAD3-69A4-A523-8263-E4D9D4AA6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DB4CB7F-8A63-9A5D-568F-82AA98EC8B6D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8DB1A28-4C6A-05CA-1E27-969FD484D829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Research objectives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10D4669F-E004-18BD-136E-3C6C51C4F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CF7D-2046-C245-B30D-A7832F828C2B}" type="slidenum">
              <a:rPr lang="en-US" smtClean="0"/>
              <a:t>2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F14829-B0DA-14AE-1C77-19B43E85543A}"/>
              </a:ext>
            </a:extLst>
          </p:cNvPr>
          <p:cNvSpPr txBox="1"/>
          <p:nvPr/>
        </p:nvSpPr>
        <p:spPr>
          <a:xfrm>
            <a:off x="358698" y="1088191"/>
            <a:ext cx="10995102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Objectives</a:t>
            </a:r>
          </a:p>
          <a:p>
            <a:pPr marL="285750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Develop a graph network generation approach that allows GNN to self grow, evolve, and prune</a:t>
            </a:r>
          </a:p>
          <a:p>
            <a:pPr marL="285750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Study network behavior during the GNN growth process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D70080-0BE1-A7B7-18EE-40A6C4351C5F}"/>
              </a:ext>
            </a:extLst>
          </p:cNvPr>
          <p:cNvSpPr txBox="1"/>
          <p:nvPr/>
        </p:nvSpPr>
        <p:spPr>
          <a:xfrm>
            <a:off x="358698" y="2145342"/>
            <a:ext cx="10995102" cy="3524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Study/Test systems</a:t>
            </a:r>
          </a:p>
          <a:p>
            <a:pPr marL="285750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H/O system: </a:t>
            </a:r>
          </a:p>
          <a:p>
            <a:pPr marL="742950" lvl="1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-O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oxidation: simplest reaction network for GNN development and tests</a:t>
            </a:r>
          </a:p>
          <a:p>
            <a:pPr marL="285750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H/O/C system: </a:t>
            </a:r>
          </a:p>
          <a:p>
            <a:pPr marL="742950" lvl="1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CH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/C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/C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-O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oxidation: small hydrocarbon reaction networks</a:t>
            </a:r>
          </a:p>
          <a:p>
            <a:pPr marL="742950" lvl="1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-O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oxidation: less-resolved reaction network; relevant to modern solid fuel combustion</a:t>
            </a:r>
          </a:p>
          <a:p>
            <a:pPr marL="285750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H/O/C/N system: </a:t>
            </a:r>
          </a:p>
          <a:p>
            <a:pPr marL="742950" lvl="1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Reactions are relevant to modern solid fuels and explosive chemistry, e.g., HTPB/AP combustion</a:t>
            </a:r>
          </a:p>
          <a:p>
            <a:pPr marL="742950" lvl="1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We can build the network following two general steps:</a:t>
            </a:r>
          </a:p>
          <a:p>
            <a:pPr marL="1200150" lvl="2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Step 1: NH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-O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reaction network</a:t>
            </a:r>
          </a:p>
          <a:p>
            <a:pPr marL="1200150" lvl="2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Step 2: Hydrocarbon-N-O reaction network</a:t>
            </a:r>
          </a:p>
        </p:txBody>
      </p:sp>
    </p:spTree>
    <p:extLst>
      <p:ext uri="{BB962C8B-B14F-4D97-AF65-F5344CB8AC3E}">
        <p14:creationId xmlns:p14="http://schemas.microsoft.com/office/powerpoint/2010/main" val="324850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D676C-494B-3284-A7F6-CB1F11B08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9D8B25C-7EB7-47F0-940B-FD46721503C0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DD16916-F493-F1AE-2B45-F3F55456A805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Current research task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18A0318-D0F3-91E6-C425-13B70005E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CF7D-2046-C245-B30D-A7832F828C2B}" type="slidenum">
              <a:rPr lang="en-US" smtClean="0"/>
              <a:t>3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D2FF95-1F7A-6135-204E-1A0CFFE337F4}"/>
              </a:ext>
            </a:extLst>
          </p:cNvPr>
          <p:cNvSpPr txBox="1"/>
          <p:nvPr/>
        </p:nvSpPr>
        <p:spPr>
          <a:xfrm>
            <a:off x="358698" y="1088191"/>
            <a:ext cx="10995102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Atom-based GNNs with species identifications</a:t>
            </a:r>
          </a:p>
          <a:p>
            <a:pPr marL="285750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Use the existence of species inside given chemical kinetic models to train GNN</a:t>
            </a:r>
          </a:p>
          <a:p>
            <a:pPr marL="285750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GNN evolves to self-grow and prune atomic nodes and bond edges  </a:t>
            </a:r>
          </a:p>
          <a:p>
            <a:pPr marL="285750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Two research directions are proposed:</a:t>
            </a:r>
          </a:p>
          <a:p>
            <a:pPr marL="742950" lvl="1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Direction 1: Minimum-unit growing GNN</a:t>
            </a:r>
          </a:p>
          <a:p>
            <a:pPr marL="742950" lvl="1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Direction 2: Multiple-node classification GNN</a:t>
            </a:r>
          </a:p>
          <a:p>
            <a:pPr marL="285750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US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Will start with the H/O (H</a:t>
            </a:r>
            <a:r>
              <a:rPr lang="en-US" b="1" baseline="-250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-O</a:t>
            </a:r>
            <a:r>
              <a:rPr lang="en-US" b="1" baseline="-250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system and a four-node, minimum-unit GNN configuration.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AAADA6-5F5C-1AB7-E2B3-F8B2E84D7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681" y="3517220"/>
            <a:ext cx="3431176" cy="28391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4A9A4A-6D2C-5D72-A947-F6395BDBE6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889669"/>
            <a:ext cx="5446733" cy="229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228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6ED98-7DFB-2C2E-EAC0-AA1177D6D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92622D4-3A42-F653-EAF8-99519A14FB84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390D128-523C-59CF-ED82-5E61E09E6788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Two research directions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11665334-BEC2-F795-C03D-B03580216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CF7D-2046-C245-B30D-A7832F828C2B}" type="slidenum">
              <a:rPr lang="en-US" smtClean="0"/>
              <a:t>4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0A15E8-FEE4-99C9-C9CF-FF68E01D7AA5}"/>
              </a:ext>
            </a:extLst>
          </p:cNvPr>
          <p:cNvSpPr txBox="1"/>
          <p:nvPr/>
        </p:nvSpPr>
        <p:spPr>
          <a:xfrm>
            <a:off x="271249" y="1041836"/>
            <a:ext cx="5574380" cy="1646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600" b="1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Direction/Idea 1: Minimum-unit growing GNN</a:t>
            </a:r>
          </a:p>
          <a:p>
            <a:pPr marL="285750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GNN grows in iterations by a minimum unit set of atom nodes (e.g., for H/O system, a minimum unit can be 2H + 2O atom nodes)</a:t>
            </a:r>
          </a:p>
          <a:p>
            <a:pPr marL="285750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GNN is trained using the existence of species from literature kinetic model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4DD5083-D4A8-992B-A323-126EC85343DE}"/>
              </a:ext>
            </a:extLst>
          </p:cNvPr>
          <p:cNvSpPr txBox="1"/>
          <p:nvPr/>
        </p:nvSpPr>
        <p:spPr>
          <a:xfrm>
            <a:off x="2575500" y="4966331"/>
            <a:ext cx="62709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EFDBBEA-D034-BC6A-631D-1256182300A9}"/>
              </a:ext>
            </a:extLst>
          </p:cNvPr>
          <p:cNvSpPr txBox="1"/>
          <p:nvPr/>
        </p:nvSpPr>
        <p:spPr>
          <a:xfrm>
            <a:off x="6160190" y="1041836"/>
            <a:ext cx="5689688" cy="1685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600" b="1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Direction/Idea 2: Multiple-node classification GNN</a:t>
            </a:r>
          </a:p>
          <a:p>
            <a:pPr marL="285750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GNN performs classification task to identify species</a:t>
            </a:r>
          </a:p>
          <a:p>
            <a:pPr marL="285750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GNN is initiated with multiple atom nodes at O(10) size (e.g., for H/O system, about 50 H and 50 O atom nodes are initiated)</a:t>
            </a:r>
          </a:p>
          <a:p>
            <a:pPr marL="285750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GNN is trained using using the existence of species from literature kinetic model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81C5BAC-E5C2-CFB7-4AA8-43F8BD7B8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69" y="3035032"/>
            <a:ext cx="4840840" cy="20396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CE0E18A-7D5A-1980-2A87-A55408B779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3830" y="2926724"/>
            <a:ext cx="3475787" cy="287604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E091AF3-A0EC-42EC-A7E0-283582572FF1}"/>
              </a:ext>
            </a:extLst>
          </p:cNvPr>
          <p:cNvSpPr txBox="1"/>
          <p:nvPr/>
        </p:nvSpPr>
        <p:spPr>
          <a:xfrm>
            <a:off x="8502326" y="5343493"/>
            <a:ext cx="62709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2DE4BC-49A2-24FA-A99B-773277461B70}"/>
              </a:ext>
            </a:extLst>
          </p:cNvPr>
          <p:cNvSpPr txBox="1"/>
          <p:nvPr/>
        </p:nvSpPr>
        <p:spPr>
          <a:xfrm>
            <a:off x="10320843" y="3712980"/>
            <a:ext cx="62709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2E58C56-A9B6-9877-4578-C2B10FFDC6F0}"/>
              </a:ext>
            </a:extLst>
          </p:cNvPr>
          <p:cNvSpPr/>
          <p:nvPr/>
        </p:nvSpPr>
        <p:spPr>
          <a:xfrm>
            <a:off x="6374794" y="2815699"/>
            <a:ext cx="4606524" cy="3342503"/>
          </a:xfrm>
          <a:prstGeom prst="roundRect">
            <a:avLst>
              <a:gd name="adj" fmla="val 12438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9E2D59-C72F-E60C-9C24-8A601BCF445B}"/>
              </a:ext>
            </a:extLst>
          </p:cNvPr>
          <p:cNvSpPr txBox="1"/>
          <p:nvPr/>
        </p:nvSpPr>
        <p:spPr>
          <a:xfrm>
            <a:off x="6356735" y="3712980"/>
            <a:ext cx="62709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379208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8F262-0C98-B2D8-D676-7CEFEAE9D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97908FCE-58F9-0D50-2C43-E0428FCAD5F3}"/>
              </a:ext>
            </a:extLst>
          </p:cNvPr>
          <p:cNvSpPr/>
          <p:nvPr/>
        </p:nvSpPr>
        <p:spPr>
          <a:xfrm>
            <a:off x="3498343" y="5133658"/>
            <a:ext cx="5876634" cy="9101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E9FEE1-3959-A395-F629-B9438B2506B9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71CC1A5-0B46-F617-0D6C-0BC6620082FA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Starting point – The four-node minimum unit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553D1B8-93E9-C57C-7223-9B3F4064C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CF7D-2046-C245-B30D-A7832F828C2B}" type="slidenum">
              <a:rPr lang="en-US" smtClean="0"/>
              <a:t>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66A86F-50AF-4B80-AF8D-6607499B31F4}"/>
              </a:ext>
            </a:extLst>
          </p:cNvPr>
          <p:cNvSpPr txBox="1"/>
          <p:nvPr/>
        </p:nvSpPr>
        <p:spPr>
          <a:xfrm>
            <a:off x="271249" y="1041836"/>
            <a:ext cx="8538214" cy="1192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600" b="1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started training a four-node minimum growing unit system as a starting point.</a:t>
            </a:r>
          </a:p>
          <a:p>
            <a:pPr marL="285750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Define the </a:t>
            </a:r>
            <a:r>
              <a:rPr lang="en-US" sz="16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minimum growing unit</a:t>
            </a:r>
            <a:r>
              <a:rPr lang="en-US" sz="16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as </a:t>
            </a:r>
            <a:r>
              <a:rPr lang="en-US" sz="1600" b="1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 H atom</a:t>
            </a:r>
            <a:r>
              <a:rPr lang="en-US" sz="16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nodes and  </a:t>
            </a:r>
            <a:r>
              <a:rPr lang="en-US" sz="1600" b="1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 O atom</a:t>
            </a:r>
            <a:r>
              <a:rPr lang="en-US" sz="16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nodes, and initialize them</a:t>
            </a:r>
          </a:p>
          <a:p>
            <a:pPr marL="285750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Nodes with the same elements are permutationally invariant</a:t>
            </a:r>
          </a:p>
          <a:p>
            <a:pPr marL="285750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GNN training follows a two-step procedure presented below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7BC2A7E-E95F-5E52-E048-79257F40696B}"/>
              </a:ext>
            </a:extLst>
          </p:cNvPr>
          <p:cNvSpPr/>
          <p:nvPr/>
        </p:nvSpPr>
        <p:spPr>
          <a:xfrm>
            <a:off x="502951" y="2506344"/>
            <a:ext cx="2569228" cy="3894169"/>
          </a:xfrm>
          <a:prstGeom prst="roundRect">
            <a:avLst>
              <a:gd name="adj" fmla="val 12438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C6AFB1-B0EB-1DC3-8840-63310B2E6B79}"/>
              </a:ext>
            </a:extLst>
          </p:cNvPr>
          <p:cNvSpPr txBox="1"/>
          <p:nvPr/>
        </p:nvSpPr>
        <p:spPr>
          <a:xfrm>
            <a:off x="655589" y="2685639"/>
            <a:ext cx="1933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Embeddings (inputs)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7C91FC6-4DA5-7798-9155-94D85A2CD55E}"/>
              </a:ext>
            </a:extLst>
          </p:cNvPr>
          <p:cNvSpPr/>
          <p:nvPr/>
        </p:nvSpPr>
        <p:spPr>
          <a:xfrm>
            <a:off x="1093828" y="4040332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91B3728-FDC6-4EDA-D946-4996578BA01C}"/>
              </a:ext>
            </a:extLst>
          </p:cNvPr>
          <p:cNvSpPr/>
          <p:nvPr/>
        </p:nvSpPr>
        <p:spPr>
          <a:xfrm>
            <a:off x="2204844" y="4040332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0B7269-9F89-C9AB-A52B-B99A31201CC6}"/>
              </a:ext>
            </a:extLst>
          </p:cNvPr>
          <p:cNvSpPr txBox="1"/>
          <p:nvPr/>
        </p:nvSpPr>
        <p:spPr>
          <a:xfrm>
            <a:off x="1160806" y="4089119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3F7438-5F4C-B7B4-ECBC-819B581458B6}"/>
              </a:ext>
            </a:extLst>
          </p:cNvPr>
          <p:cNvSpPr txBox="1"/>
          <p:nvPr/>
        </p:nvSpPr>
        <p:spPr>
          <a:xfrm>
            <a:off x="2267758" y="4089119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4176364-5D4D-D906-5726-B39E1D7346FA}"/>
              </a:ext>
            </a:extLst>
          </p:cNvPr>
          <p:cNvSpPr/>
          <p:nvPr/>
        </p:nvSpPr>
        <p:spPr>
          <a:xfrm>
            <a:off x="765781" y="5227927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A342C35-8A63-CF04-8D85-4C3DFBD4A539}"/>
              </a:ext>
            </a:extLst>
          </p:cNvPr>
          <p:cNvSpPr/>
          <p:nvPr/>
        </p:nvSpPr>
        <p:spPr>
          <a:xfrm>
            <a:off x="2267758" y="5645484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FFF3A0A-BF1B-EC15-1820-40DA7E9BF9E8}"/>
              </a:ext>
            </a:extLst>
          </p:cNvPr>
          <p:cNvSpPr txBox="1"/>
          <p:nvPr/>
        </p:nvSpPr>
        <p:spPr>
          <a:xfrm>
            <a:off x="822438" y="5286788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06DF21-A57A-5969-9D7E-3F47C9F45C85}"/>
              </a:ext>
            </a:extLst>
          </p:cNvPr>
          <p:cNvSpPr txBox="1"/>
          <p:nvPr/>
        </p:nvSpPr>
        <p:spPr>
          <a:xfrm>
            <a:off x="2334713" y="567449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8BA62AB-4891-F595-F274-68BCD31A3D47}"/>
              </a:ext>
            </a:extLst>
          </p:cNvPr>
          <p:cNvCxnSpPr>
            <a:cxnSpLocks/>
            <a:stCxn id="24" idx="4"/>
            <a:endCxn id="28" idx="0"/>
          </p:cNvCxnSpPr>
          <p:nvPr/>
        </p:nvCxnSpPr>
        <p:spPr>
          <a:xfrm flipH="1">
            <a:off x="994381" y="4497532"/>
            <a:ext cx="328047" cy="730395"/>
          </a:xfrm>
          <a:prstGeom prst="line">
            <a:avLst/>
          </a:prstGeom>
          <a:ln w="28575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070C645-E636-8642-C0C4-F1E7CDAC453E}"/>
              </a:ext>
            </a:extLst>
          </p:cNvPr>
          <p:cNvCxnSpPr>
            <a:cxnSpLocks/>
            <a:stCxn id="25" idx="2"/>
            <a:endCxn id="24" idx="6"/>
          </p:cNvCxnSpPr>
          <p:nvPr/>
        </p:nvCxnSpPr>
        <p:spPr>
          <a:xfrm flipH="1">
            <a:off x="1551028" y="4268932"/>
            <a:ext cx="653816" cy="0"/>
          </a:xfrm>
          <a:prstGeom prst="line">
            <a:avLst/>
          </a:prstGeom>
          <a:ln w="28575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3BF8B11-683D-36FA-3A4A-5AA01E16BFC9}"/>
              </a:ext>
            </a:extLst>
          </p:cNvPr>
          <p:cNvCxnSpPr>
            <a:cxnSpLocks/>
            <a:stCxn id="29" idx="0"/>
            <a:endCxn id="25" idx="4"/>
          </p:cNvCxnSpPr>
          <p:nvPr/>
        </p:nvCxnSpPr>
        <p:spPr>
          <a:xfrm flipH="1" flipV="1">
            <a:off x="2433444" y="4497532"/>
            <a:ext cx="62914" cy="1147952"/>
          </a:xfrm>
          <a:prstGeom prst="line">
            <a:avLst/>
          </a:prstGeom>
          <a:ln w="28575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2DEC190-FE52-B702-869E-DEAB6F5FB060}"/>
              </a:ext>
            </a:extLst>
          </p:cNvPr>
          <p:cNvCxnSpPr>
            <a:cxnSpLocks/>
            <a:stCxn id="29" idx="2"/>
            <a:endCxn id="28" idx="6"/>
          </p:cNvCxnSpPr>
          <p:nvPr/>
        </p:nvCxnSpPr>
        <p:spPr>
          <a:xfrm flipH="1" flipV="1">
            <a:off x="1222981" y="5456527"/>
            <a:ext cx="1044777" cy="417557"/>
          </a:xfrm>
          <a:prstGeom prst="line">
            <a:avLst/>
          </a:prstGeom>
          <a:ln w="28575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25BF7F7-0E15-FDD7-2A96-2FE431B9A695}"/>
              </a:ext>
            </a:extLst>
          </p:cNvPr>
          <p:cNvCxnSpPr>
            <a:cxnSpLocks/>
            <a:stCxn id="25" idx="3"/>
            <a:endCxn id="28" idx="7"/>
          </p:cNvCxnSpPr>
          <p:nvPr/>
        </p:nvCxnSpPr>
        <p:spPr>
          <a:xfrm flipH="1">
            <a:off x="1156026" y="4430577"/>
            <a:ext cx="1115773" cy="864305"/>
          </a:xfrm>
          <a:prstGeom prst="line">
            <a:avLst/>
          </a:prstGeom>
          <a:ln w="28575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802041D-97B4-0712-3162-1C1641C92D19}"/>
              </a:ext>
            </a:extLst>
          </p:cNvPr>
          <p:cNvCxnSpPr>
            <a:cxnSpLocks/>
            <a:stCxn id="29" idx="1"/>
            <a:endCxn id="24" idx="5"/>
          </p:cNvCxnSpPr>
          <p:nvPr/>
        </p:nvCxnSpPr>
        <p:spPr>
          <a:xfrm flipH="1" flipV="1">
            <a:off x="1484073" y="4430577"/>
            <a:ext cx="850640" cy="1281862"/>
          </a:xfrm>
          <a:prstGeom prst="line">
            <a:avLst/>
          </a:prstGeom>
          <a:ln w="28575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EEA29587-BE16-B3D7-FC96-5D5EFE328FDC}"/>
              </a:ext>
            </a:extLst>
          </p:cNvPr>
          <p:cNvSpPr txBox="1"/>
          <p:nvPr/>
        </p:nvSpPr>
        <p:spPr>
          <a:xfrm>
            <a:off x="3498343" y="5133657"/>
            <a:ext cx="61821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Training data: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Existence of species in given chemical kinetic models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Species bond length vs. bond order data from chemistry database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48D1873-1A53-4C57-3172-E3F2CE764844}"/>
              </a:ext>
            </a:extLst>
          </p:cNvPr>
          <p:cNvSpPr txBox="1"/>
          <p:nvPr/>
        </p:nvSpPr>
        <p:spPr>
          <a:xfrm>
            <a:off x="8913984" y="3698432"/>
            <a:ext cx="2357471" cy="1077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Training outputs: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Node: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existence probability in a species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Edge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: bond order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2B5F44-B75A-769E-6485-CCDDE2795524}"/>
                  </a:ext>
                </a:extLst>
              </p:cNvPr>
              <p:cNvSpPr txBox="1"/>
              <p:nvPr/>
            </p:nvSpPr>
            <p:spPr>
              <a:xfrm>
                <a:off x="770260" y="3871833"/>
                <a:ext cx="2900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2B5F44-B75A-769E-6485-CCDDE2795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260" y="3871833"/>
                <a:ext cx="290079" cy="276999"/>
              </a:xfrm>
              <a:prstGeom prst="rect">
                <a:avLst/>
              </a:prstGeom>
              <a:blipFill>
                <a:blip r:embed="rId3"/>
                <a:stretch>
                  <a:fillRect l="-12500" r="-8333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361C1D-1D73-F6DE-E746-4175698F6764}"/>
                  </a:ext>
                </a:extLst>
              </p:cNvPr>
              <p:cNvSpPr txBox="1"/>
              <p:nvPr/>
            </p:nvSpPr>
            <p:spPr>
              <a:xfrm>
                <a:off x="747784" y="5720657"/>
                <a:ext cx="2900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361C1D-1D73-F6DE-E746-4175698F6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784" y="5720657"/>
                <a:ext cx="290079" cy="276999"/>
              </a:xfrm>
              <a:prstGeom prst="rect">
                <a:avLst/>
              </a:prstGeom>
              <a:blipFill>
                <a:blip r:embed="rId4"/>
                <a:stretch>
                  <a:fillRect l="-13043" r="-8696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5CD264-C322-A61B-E49D-EDBAA9347BFD}"/>
                  </a:ext>
                </a:extLst>
              </p:cNvPr>
              <p:cNvSpPr txBox="1"/>
              <p:nvPr/>
            </p:nvSpPr>
            <p:spPr>
              <a:xfrm>
                <a:off x="2654078" y="5993615"/>
                <a:ext cx="2900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5CD264-C322-A61B-E49D-EDBAA9347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4078" y="5993615"/>
                <a:ext cx="290079" cy="276999"/>
              </a:xfrm>
              <a:prstGeom prst="rect">
                <a:avLst/>
              </a:prstGeom>
              <a:blipFill>
                <a:blip r:embed="rId5"/>
                <a:stretch>
                  <a:fillRect l="-12500" r="-8333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BF2478-6DB9-C6EF-D5B8-691055A9202A}"/>
                  </a:ext>
                </a:extLst>
              </p:cNvPr>
              <p:cNvSpPr txBox="1"/>
              <p:nvPr/>
            </p:nvSpPr>
            <p:spPr>
              <a:xfrm>
                <a:off x="2669887" y="3901832"/>
                <a:ext cx="2900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BF2478-6DB9-C6EF-D5B8-691055A92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887" y="3901832"/>
                <a:ext cx="290079" cy="276999"/>
              </a:xfrm>
              <a:prstGeom prst="rect">
                <a:avLst/>
              </a:prstGeom>
              <a:blipFill>
                <a:blip r:embed="rId6"/>
                <a:stretch>
                  <a:fillRect l="-12500" r="-4167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A9FE600-FAD3-5529-64A3-48492BA54025}"/>
                  </a:ext>
                </a:extLst>
              </p:cNvPr>
              <p:cNvSpPr txBox="1"/>
              <p:nvPr/>
            </p:nvSpPr>
            <p:spPr>
              <a:xfrm>
                <a:off x="1681104" y="3896033"/>
                <a:ext cx="4070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𝟏𝟒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A9FE600-FAD3-5529-64A3-48492BA54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1104" y="3896033"/>
                <a:ext cx="407099" cy="276999"/>
              </a:xfrm>
              <a:prstGeom prst="rect">
                <a:avLst/>
              </a:prstGeom>
              <a:blipFill>
                <a:blip r:embed="rId7"/>
                <a:stretch>
                  <a:fillRect l="-15152" r="-6061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01011E6-27F8-E677-2D88-5A06DE1C74A2}"/>
                  </a:ext>
                </a:extLst>
              </p:cNvPr>
              <p:cNvSpPr txBox="1"/>
              <p:nvPr/>
            </p:nvSpPr>
            <p:spPr>
              <a:xfrm>
                <a:off x="2521408" y="4927536"/>
                <a:ext cx="4070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𝟑𝟒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01011E6-27F8-E677-2D88-5A06DE1C7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1408" y="4927536"/>
                <a:ext cx="407099" cy="276999"/>
              </a:xfrm>
              <a:prstGeom prst="rect">
                <a:avLst/>
              </a:prstGeom>
              <a:blipFill>
                <a:blip r:embed="rId8"/>
                <a:stretch>
                  <a:fillRect l="-15152" r="-6061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CA2261C-73A7-A61B-441E-3BCDF0816B05}"/>
                  </a:ext>
                </a:extLst>
              </p:cNvPr>
              <p:cNvSpPr txBox="1"/>
              <p:nvPr/>
            </p:nvSpPr>
            <p:spPr>
              <a:xfrm>
                <a:off x="1515062" y="5711385"/>
                <a:ext cx="4070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𝟐𝟑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CA2261C-73A7-A61B-441E-3BCDF0816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5062" y="5711385"/>
                <a:ext cx="407099" cy="276999"/>
              </a:xfrm>
              <a:prstGeom prst="rect">
                <a:avLst/>
              </a:prstGeom>
              <a:blipFill>
                <a:blip r:embed="rId9"/>
                <a:stretch>
                  <a:fillRect l="-15152" r="-6061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C28429F-E038-CF3F-ADE5-A6A9FB582FBF}"/>
                  </a:ext>
                </a:extLst>
              </p:cNvPr>
              <p:cNvSpPr txBox="1"/>
              <p:nvPr/>
            </p:nvSpPr>
            <p:spPr>
              <a:xfrm>
                <a:off x="733410" y="4572038"/>
                <a:ext cx="4070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C28429F-E038-CF3F-ADE5-A6A9FB582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410" y="4572038"/>
                <a:ext cx="407099" cy="276999"/>
              </a:xfrm>
              <a:prstGeom prst="rect">
                <a:avLst/>
              </a:prstGeom>
              <a:blipFill>
                <a:blip r:embed="rId10"/>
                <a:stretch>
                  <a:fillRect l="-15152" r="-6061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96D0086-18CA-511C-4CC0-165676024A6E}"/>
                  </a:ext>
                </a:extLst>
              </p:cNvPr>
              <p:cNvSpPr txBox="1"/>
              <p:nvPr/>
            </p:nvSpPr>
            <p:spPr>
              <a:xfrm>
                <a:off x="1347081" y="5085323"/>
                <a:ext cx="4070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𝟐𝟒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96D0086-18CA-511C-4CC0-165676024A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7081" y="5085323"/>
                <a:ext cx="407099" cy="276999"/>
              </a:xfrm>
              <a:prstGeom prst="rect">
                <a:avLst/>
              </a:prstGeom>
              <a:blipFill>
                <a:blip r:embed="rId11"/>
                <a:stretch>
                  <a:fillRect l="-15152" r="-6061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8717CD4-82E9-4F83-C9AB-09C2A89AC7C4}"/>
                  </a:ext>
                </a:extLst>
              </p:cNvPr>
              <p:cNvSpPr txBox="1"/>
              <p:nvPr/>
            </p:nvSpPr>
            <p:spPr>
              <a:xfrm>
                <a:off x="1902178" y="4838530"/>
                <a:ext cx="4070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𝟏𝟑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8717CD4-82E9-4F83-C9AB-09C2A89AC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2178" y="4838530"/>
                <a:ext cx="407099" cy="276999"/>
              </a:xfrm>
              <a:prstGeom prst="rect">
                <a:avLst/>
              </a:prstGeom>
              <a:blipFill>
                <a:blip r:embed="rId12"/>
                <a:stretch>
                  <a:fillRect l="-15152" r="-6061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3DE9780-60B2-0D96-3BBA-A3F2CA94CCE0}"/>
                  </a:ext>
                </a:extLst>
              </p:cNvPr>
              <p:cNvSpPr txBox="1"/>
              <p:nvPr/>
            </p:nvSpPr>
            <p:spPr>
              <a:xfrm>
                <a:off x="739538" y="3087086"/>
                <a:ext cx="160806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16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Atomic number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3DE9780-60B2-0D96-3BBA-A3F2CA94CC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38" y="3087086"/>
                <a:ext cx="1608069" cy="246221"/>
              </a:xfrm>
              <a:prstGeom prst="rect">
                <a:avLst/>
              </a:prstGeom>
              <a:blipFill>
                <a:blip r:embed="rId13"/>
                <a:stretch>
                  <a:fillRect l="-3937" t="-19048" r="-7087" b="-4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35D0438-1748-7E73-4062-B6E3ED0BCE29}"/>
                  </a:ext>
                </a:extLst>
              </p:cNvPr>
              <p:cNvSpPr txBox="1"/>
              <p:nvPr/>
            </p:nvSpPr>
            <p:spPr>
              <a:xfrm>
                <a:off x="739538" y="3431006"/>
                <a:ext cx="2177904" cy="2694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</m:oMath>
                </a14:m>
                <a:r>
                  <a:rPr lang="en-US" sz="16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Interatomic distances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35D0438-1748-7E73-4062-B6E3ED0BC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38" y="3431006"/>
                <a:ext cx="2177904" cy="269497"/>
              </a:xfrm>
              <a:prstGeom prst="rect">
                <a:avLst/>
              </a:prstGeom>
              <a:blipFill>
                <a:blip r:embed="rId14"/>
                <a:stretch>
                  <a:fillRect l="-3488" t="-27273" r="-4651" b="-3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" name="Picture 70">
            <a:extLst>
              <a:ext uri="{FF2B5EF4-FFF2-40B4-BE49-F238E27FC236}">
                <a16:creationId xmlns:a16="http://schemas.microsoft.com/office/drawing/2014/main" id="{E287905B-39A1-C5B4-B580-EA5094A0295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62424" y="3496473"/>
            <a:ext cx="1342416" cy="1428468"/>
          </a:xfrm>
          <a:prstGeom prst="rect">
            <a:avLst/>
          </a:prstGeom>
        </p:spPr>
      </p:pic>
      <p:graphicFrame>
        <p:nvGraphicFramePr>
          <p:cNvPr id="72" name="Table 71">
            <a:extLst>
              <a:ext uri="{FF2B5EF4-FFF2-40B4-BE49-F238E27FC236}">
                <a16:creationId xmlns:a16="http://schemas.microsoft.com/office/drawing/2014/main" id="{A486F25B-056F-0668-7137-B6D2B1A6A3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551679"/>
              </p:ext>
            </p:extLst>
          </p:nvPr>
        </p:nvGraphicFramePr>
        <p:xfrm>
          <a:off x="5613682" y="3642705"/>
          <a:ext cx="208280" cy="1159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452158219"/>
                    </a:ext>
                  </a:extLst>
                </a:gridCol>
              </a:tblGrid>
              <a:tr h="231987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1799702"/>
                  </a:ext>
                </a:extLst>
              </a:tr>
              <a:tr h="231987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305068"/>
                  </a:ext>
                </a:extLst>
              </a:tr>
              <a:tr h="231987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803084"/>
                  </a:ext>
                </a:extLst>
              </a:tr>
              <a:tr h="231987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5388424"/>
                  </a:ext>
                </a:extLst>
              </a:tr>
              <a:tr h="231987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65846"/>
                  </a:ext>
                </a:extLst>
              </a:tr>
            </a:tbl>
          </a:graphicData>
        </a:graphic>
      </p:graphicFrame>
      <p:pic>
        <p:nvPicPr>
          <p:cNvPr id="74" name="Picture 73">
            <a:extLst>
              <a:ext uri="{FF2B5EF4-FFF2-40B4-BE49-F238E27FC236}">
                <a16:creationId xmlns:a16="http://schemas.microsoft.com/office/drawing/2014/main" id="{A64993DC-B91E-2729-1BB6-5048CDDC99BD}"/>
              </a:ext>
            </a:extLst>
          </p:cNvPr>
          <p:cNvPicPr>
            <a:picLocks noChangeAspect="1"/>
          </p:cNvPicPr>
          <p:nvPr/>
        </p:nvPicPr>
        <p:blipFill>
          <a:blip r:embed="rId16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630804" y="3568293"/>
            <a:ext cx="1629269" cy="1308758"/>
          </a:xfrm>
          <a:prstGeom prst="rect">
            <a:avLst/>
          </a:prstGeom>
        </p:spPr>
      </p:pic>
      <p:sp>
        <p:nvSpPr>
          <p:cNvPr id="75" name="Right Arrow 74">
            <a:extLst>
              <a:ext uri="{FF2B5EF4-FFF2-40B4-BE49-F238E27FC236}">
                <a16:creationId xmlns:a16="http://schemas.microsoft.com/office/drawing/2014/main" id="{FD7B2153-F2A3-1615-6F03-348CA88D8750}"/>
              </a:ext>
            </a:extLst>
          </p:cNvPr>
          <p:cNvSpPr/>
          <p:nvPr/>
        </p:nvSpPr>
        <p:spPr>
          <a:xfrm>
            <a:off x="6072738" y="4078621"/>
            <a:ext cx="415732" cy="356605"/>
          </a:xfrm>
          <a:prstGeom prst="rightArrow">
            <a:avLst>
              <a:gd name="adj1" fmla="val 62160"/>
              <a:gd name="adj2" fmla="val 55164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ight Arrow 75">
            <a:extLst>
              <a:ext uri="{FF2B5EF4-FFF2-40B4-BE49-F238E27FC236}">
                <a16:creationId xmlns:a16="http://schemas.microsoft.com/office/drawing/2014/main" id="{37B8905F-15E0-2382-AE08-ECEBFD4DF4F1}"/>
              </a:ext>
            </a:extLst>
          </p:cNvPr>
          <p:cNvSpPr/>
          <p:nvPr/>
        </p:nvSpPr>
        <p:spPr>
          <a:xfrm>
            <a:off x="4947174" y="4078621"/>
            <a:ext cx="415732" cy="356605"/>
          </a:xfrm>
          <a:prstGeom prst="rightArrow">
            <a:avLst>
              <a:gd name="adj1" fmla="val 62160"/>
              <a:gd name="adj2" fmla="val 55164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ight Arrow 76">
            <a:extLst>
              <a:ext uri="{FF2B5EF4-FFF2-40B4-BE49-F238E27FC236}">
                <a16:creationId xmlns:a16="http://schemas.microsoft.com/office/drawing/2014/main" id="{925C3973-FE9B-4AEB-F468-7DB31C07A3F6}"/>
              </a:ext>
            </a:extLst>
          </p:cNvPr>
          <p:cNvSpPr/>
          <p:nvPr/>
        </p:nvSpPr>
        <p:spPr>
          <a:xfrm>
            <a:off x="8435476" y="4078621"/>
            <a:ext cx="415732" cy="356605"/>
          </a:xfrm>
          <a:prstGeom prst="rightArrow">
            <a:avLst>
              <a:gd name="adj1" fmla="val 62160"/>
              <a:gd name="adj2" fmla="val 55164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ight Brace 77">
            <a:extLst>
              <a:ext uri="{FF2B5EF4-FFF2-40B4-BE49-F238E27FC236}">
                <a16:creationId xmlns:a16="http://schemas.microsoft.com/office/drawing/2014/main" id="{356F68F1-24B0-7897-1627-F6D8B25C49AF}"/>
              </a:ext>
            </a:extLst>
          </p:cNvPr>
          <p:cNvSpPr/>
          <p:nvPr/>
        </p:nvSpPr>
        <p:spPr>
          <a:xfrm rot="16200000">
            <a:off x="4715193" y="2401783"/>
            <a:ext cx="179294" cy="1808919"/>
          </a:xfrm>
          <a:prstGeom prst="rightBrace">
            <a:avLst>
              <a:gd name="adj1" fmla="val 41594"/>
              <a:gd name="adj2" fmla="val 50390"/>
            </a:avLst>
          </a:prstGeom>
          <a:ln w="285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ight Brace 78">
            <a:extLst>
              <a:ext uri="{FF2B5EF4-FFF2-40B4-BE49-F238E27FC236}">
                <a16:creationId xmlns:a16="http://schemas.microsoft.com/office/drawing/2014/main" id="{EBB11732-B62A-FFFF-FB62-4F7971F2E2D5}"/>
              </a:ext>
            </a:extLst>
          </p:cNvPr>
          <p:cNvSpPr/>
          <p:nvPr/>
        </p:nvSpPr>
        <p:spPr>
          <a:xfrm rot="16200000">
            <a:off x="6864812" y="2078241"/>
            <a:ext cx="179294" cy="2468928"/>
          </a:xfrm>
          <a:prstGeom prst="rightBrace">
            <a:avLst>
              <a:gd name="adj1" fmla="val 41594"/>
              <a:gd name="adj2" fmla="val 50390"/>
            </a:avLst>
          </a:prstGeom>
          <a:ln w="285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FB7D356-7C6A-2DC1-2368-50C7D061275E}"/>
              </a:ext>
            </a:extLst>
          </p:cNvPr>
          <p:cNvSpPr txBox="1"/>
          <p:nvPr/>
        </p:nvSpPr>
        <p:spPr>
          <a:xfrm>
            <a:off x="3783053" y="2562303"/>
            <a:ext cx="20435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Step 1</a:t>
            </a:r>
          </a:p>
          <a:p>
            <a:pPr algn="ctr"/>
            <a:r>
              <a:rPr lang="en-US" sz="16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GNN message passing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443AD5F-B4EC-BC45-E205-1F46737C3B35}"/>
              </a:ext>
            </a:extLst>
          </p:cNvPr>
          <p:cNvSpPr txBox="1"/>
          <p:nvPr/>
        </p:nvSpPr>
        <p:spPr>
          <a:xfrm>
            <a:off x="5821962" y="2567547"/>
            <a:ext cx="22706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Step 2</a:t>
            </a:r>
          </a:p>
          <a:p>
            <a:pPr algn="ctr"/>
            <a:r>
              <a:rPr lang="en-US" sz="16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MLP training for outputs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2295F97-D2D0-953A-9FEE-DAF9B6A070BB}"/>
              </a:ext>
            </a:extLst>
          </p:cNvPr>
          <p:cNvSpPr txBox="1"/>
          <p:nvPr/>
        </p:nvSpPr>
        <p:spPr>
          <a:xfrm>
            <a:off x="7962730" y="2596229"/>
            <a:ext cx="19025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MLP: Multilayer perceptron</a:t>
            </a: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(i.e., Neural network)</a:t>
            </a:r>
          </a:p>
        </p:txBody>
      </p:sp>
    </p:spTree>
    <p:extLst>
      <p:ext uri="{BB962C8B-B14F-4D97-AF65-F5344CB8AC3E}">
        <p14:creationId xmlns:p14="http://schemas.microsoft.com/office/powerpoint/2010/main" val="4110313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2D740-B8A1-BE81-73F2-5EA21E26F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23E0025-4F9B-8297-0838-F2244A00649B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C607604-002B-AB17-68AE-B3784F72AB51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GNN architecture breakdown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939C9923-DF27-CF16-AF91-7FF1CE264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CF7D-2046-C245-B30D-A7832F828C2B}" type="slidenum">
              <a:rPr lang="en-US" smtClean="0"/>
              <a:t>6</a:t>
            </a:fld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B93A258-4B96-A454-7F3D-A8630FC6A31C}"/>
              </a:ext>
            </a:extLst>
          </p:cNvPr>
          <p:cNvSpPr/>
          <p:nvPr/>
        </p:nvSpPr>
        <p:spPr>
          <a:xfrm>
            <a:off x="423087" y="2025212"/>
            <a:ext cx="2569228" cy="4038439"/>
          </a:xfrm>
          <a:prstGeom prst="roundRect">
            <a:avLst>
              <a:gd name="adj" fmla="val 12438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0EF1F1-E7B3-C033-528A-83C4310C5D10}"/>
              </a:ext>
            </a:extLst>
          </p:cNvPr>
          <p:cNvSpPr txBox="1"/>
          <p:nvPr/>
        </p:nvSpPr>
        <p:spPr>
          <a:xfrm>
            <a:off x="614735" y="4909297"/>
            <a:ext cx="1933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Embeddings (inputs)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9900D41-3E70-12B6-6282-F105B4E63840}"/>
              </a:ext>
            </a:extLst>
          </p:cNvPr>
          <p:cNvSpPr/>
          <p:nvPr/>
        </p:nvSpPr>
        <p:spPr>
          <a:xfrm>
            <a:off x="970074" y="2265411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7969B2F-54A0-FB0A-F334-3B150663DFE6}"/>
              </a:ext>
            </a:extLst>
          </p:cNvPr>
          <p:cNvSpPr/>
          <p:nvPr/>
        </p:nvSpPr>
        <p:spPr>
          <a:xfrm>
            <a:off x="2081090" y="2265411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283378-3A50-D546-BA70-C6DF3297EBCA}"/>
              </a:ext>
            </a:extLst>
          </p:cNvPr>
          <p:cNvSpPr txBox="1"/>
          <p:nvPr/>
        </p:nvSpPr>
        <p:spPr>
          <a:xfrm>
            <a:off x="1037052" y="2314198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595C1F3-933E-8551-86CD-FE15E0659C32}"/>
              </a:ext>
            </a:extLst>
          </p:cNvPr>
          <p:cNvSpPr txBox="1"/>
          <p:nvPr/>
        </p:nvSpPr>
        <p:spPr>
          <a:xfrm>
            <a:off x="2144004" y="2314198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6607EAE-988E-ABB8-8D5A-BE5891581170}"/>
              </a:ext>
            </a:extLst>
          </p:cNvPr>
          <p:cNvSpPr/>
          <p:nvPr/>
        </p:nvSpPr>
        <p:spPr>
          <a:xfrm>
            <a:off x="642027" y="3453006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125A23A-655E-1550-495B-E8D0168417F6}"/>
              </a:ext>
            </a:extLst>
          </p:cNvPr>
          <p:cNvSpPr/>
          <p:nvPr/>
        </p:nvSpPr>
        <p:spPr>
          <a:xfrm>
            <a:off x="2144004" y="3870563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A7DCCBD-E2B6-2E21-0A00-3D7C76706D06}"/>
              </a:ext>
            </a:extLst>
          </p:cNvPr>
          <p:cNvSpPr txBox="1"/>
          <p:nvPr/>
        </p:nvSpPr>
        <p:spPr>
          <a:xfrm>
            <a:off x="698684" y="3511867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079873-F304-AE12-B89C-31E0C074514D}"/>
              </a:ext>
            </a:extLst>
          </p:cNvPr>
          <p:cNvSpPr txBox="1"/>
          <p:nvPr/>
        </p:nvSpPr>
        <p:spPr>
          <a:xfrm>
            <a:off x="2210959" y="3899570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CD6288D-236A-19AC-B1A7-C4C4D0142E2F}"/>
              </a:ext>
            </a:extLst>
          </p:cNvPr>
          <p:cNvCxnSpPr>
            <a:cxnSpLocks/>
            <a:stCxn id="24" idx="4"/>
            <a:endCxn id="28" idx="0"/>
          </p:cNvCxnSpPr>
          <p:nvPr/>
        </p:nvCxnSpPr>
        <p:spPr>
          <a:xfrm flipH="1">
            <a:off x="870627" y="2722611"/>
            <a:ext cx="328047" cy="730395"/>
          </a:xfrm>
          <a:prstGeom prst="line">
            <a:avLst/>
          </a:prstGeom>
          <a:ln w="28575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47D63DE-B12A-74DC-7B8D-0D7B764B6E08}"/>
              </a:ext>
            </a:extLst>
          </p:cNvPr>
          <p:cNvCxnSpPr>
            <a:cxnSpLocks/>
            <a:stCxn id="25" idx="2"/>
            <a:endCxn id="24" idx="6"/>
          </p:cNvCxnSpPr>
          <p:nvPr/>
        </p:nvCxnSpPr>
        <p:spPr>
          <a:xfrm flipH="1">
            <a:off x="1427274" y="2494011"/>
            <a:ext cx="653816" cy="0"/>
          </a:xfrm>
          <a:prstGeom prst="line">
            <a:avLst/>
          </a:prstGeom>
          <a:ln w="28575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1D249BC-1B2E-4DF0-873A-45D4BC5D06AA}"/>
              </a:ext>
            </a:extLst>
          </p:cNvPr>
          <p:cNvCxnSpPr>
            <a:cxnSpLocks/>
            <a:stCxn id="29" idx="0"/>
            <a:endCxn id="25" idx="4"/>
          </p:cNvCxnSpPr>
          <p:nvPr/>
        </p:nvCxnSpPr>
        <p:spPr>
          <a:xfrm flipH="1" flipV="1">
            <a:off x="2309690" y="2722611"/>
            <a:ext cx="62914" cy="1147952"/>
          </a:xfrm>
          <a:prstGeom prst="line">
            <a:avLst/>
          </a:prstGeom>
          <a:ln w="28575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B0352D3-3853-3A21-A9E9-3C182FAFA516}"/>
              </a:ext>
            </a:extLst>
          </p:cNvPr>
          <p:cNvCxnSpPr>
            <a:cxnSpLocks/>
            <a:stCxn id="29" idx="2"/>
            <a:endCxn id="28" idx="6"/>
          </p:cNvCxnSpPr>
          <p:nvPr/>
        </p:nvCxnSpPr>
        <p:spPr>
          <a:xfrm flipH="1" flipV="1">
            <a:off x="1099227" y="3681606"/>
            <a:ext cx="1044777" cy="417557"/>
          </a:xfrm>
          <a:prstGeom prst="line">
            <a:avLst/>
          </a:prstGeom>
          <a:ln w="28575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286EC44-3108-6D4B-86D1-CD3858B75F97}"/>
              </a:ext>
            </a:extLst>
          </p:cNvPr>
          <p:cNvCxnSpPr>
            <a:cxnSpLocks/>
            <a:stCxn id="25" idx="3"/>
            <a:endCxn id="28" idx="7"/>
          </p:cNvCxnSpPr>
          <p:nvPr/>
        </p:nvCxnSpPr>
        <p:spPr>
          <a:xfrm flipH="1">
            <a:off x="1032272" y="2655656"/>
            <a:ext cx="1115773" cy="864305"/>
          </a:xfrm>
          <a:prstGeom prst="line">
            <a:avLst/>
          </a:prstGeom>
          <a:ln w="28575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F9DDD56-6066-4ECC-3C18-270A249DACE0}"/>
              </a:ext>
            </a:extLst>
          </p:cNvPr>
          <p:cNvCxnSpPr>
            <a:cxnSpLocks/>
            <a:stCxn id="29" idx="1"/>
            <a:endCxn id="24" idx="5"/>
          </p:cNvCxnSpPr>
          <p:nvPr/>
        </p:nvCxnSpPr>
        <p:spPr>
          <a:xfrm flipH="1" flipV="1">
            <a:off x="1360319" y="2655656"/>
            <a:ext cx="850640" cy="1281862"/>
          </a:xfrm>
          <a:prstGeom prst="line">
            <a:avLst/>
          </a:prstGeom>
          <a:ln w="28575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B3595DC-0BF5-BA5C-FA0C-5C84EF91EA1E}"/>
                  </a:ext>
                </a:extLst>
              </p:cNvPr>
              <p:cNvSpPr txBox="1"/>
              <p:nvPr/>
            </p:nvSpPr>
            <p:spPr>
              <a:xfrm>
                <a:off x="646506" y="2096912"/>
                <a:ext cx="2900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B3595DC-0BF5-BA5C-FA0C-5C84EF91EA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506" y="2096912"/>
                <a:ext cx="290079" cy="276999"/>
              </a:xfrm>
              <a:prstGeom prst="rect">
                <a:avLst/>
              </a:prstGeom>
              <a:blipFill>
                <a:blip r:embed="rId3"/>
                <a:stretch>
                  <a:fillRect l="-8333" r="-8333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4560D9E-E60D-7E87-D467-D5045DC4DFEB}"/>
                  </a:ext>
                </a:extLst>
              </p:cNvPr>
              <p:cNvSpPr txBox="1"/>
              <p:nvPr/>
            </p:nvSpPr>
            <p:spPr>
              <a:xfrm>
                <a:off x="624030" y="3945736"/>
                <a:ext cx="2900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4560D9E-E60D-7E87-D467-D5045DC4D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30" y="3945736"/>
                <a:ext cx="290079" cy="276999"/>
              </a:xfrm>
              <a:prstGeom prst="rect">
                <a:avLst/>
              </a:prstGeom>
              <a:blipFill>
                <a:blip r:embed="rId4"/>
                <a:stretch>
                  <a:fillRect l="-8333" r="-8333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692FCBF-0B7B-9D16-2C18-20B484A89A4A}"/>
                  </a:ext>
                </a:extLst>
              </p:cNvPr>
              <p:cNvSpPr txBox="1"/>
              <p:nvPr/>
            </p:nvSpPr>
            <p:spPr>
              <a:xfrm>
                <a:off x="2530324" y="4218694"/>
                <a:ext cx="2900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692FCBF-0B7B-9D16-2C18-20B484A89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0324" y="4218694"/>
                <a:ext cx="290079" cy="276999"/>
              </a:xfrm>
              <a:prstGeom prst="rect">
                <a:avLst/>
              </a:prstGeom>
              <a:blipFill>
                <a:blip r:embed="rId5"/>
                <a:stretch>
                  <a:fillRect l="-12500" r="-8333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5DB7B2E-9713-8627-1987-D655266988A0}"/>
                  </a:ext>
                </a:extLst>
              </p:cNvPr>
              <p:cNvSpPr txBox="1"/>
              <p:nvPr/>
            </p:nvSpPr>
            <p:spPr>
              <a:xfrm>
                <a:off x="2546133" y="2126911"/>
                <a:ext cx="2900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5DB7B2E-9713-8627-1987-D65526698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133" y="2126911"/>
                <a:ext cx="290079" cy="276999"/>
              </a:xfrm>
              <a:prstGeom prst="rect">
                <a:avLst/>
              </a:prstGeom>
              <a:blipFill>
                <a:blip r:embed="rId6"/>
                <a:stretch>
                  <a:fillRect l="-12500" r="-4167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0E42BCD-0C47-840B-8B22-CDE7D38C71C6}"/>
                  </a:ext>
                </a:extLst>
              </p:cNvPr>
              <p:cNvSpPr txBox="1"/>
              <p:nvPr/>
            </p:nvSpPr>
            <p:spPr>
              <a:xfrm>
                <a:off x="1557350" y="2121112"/>
                <a:ext cx="4070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𝟏𝟒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0E42BCD-0C47-840B-8B22-CDE7D38C7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7350" y="2121112"/>
                <a:ext cx="407099" cy="276999"/>
              </a:xfrm>
              <a:prstGeom prst="rect">
                <a:avLst/>
              </a:prstGeom>
              <a:blipFill>
                <a:blip r:embed="rId7"/>
                <a:stretch>
                  <a:fillRect l="-15152" r="-6061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4917E6B-1BB8-A926-8685-B17F3C37F6A0}"/>
                  </a:ext>
                </a:extLst>
              </p:cNvPr>
              <p:cNvSpPr txBox="1"/>
              <p:nvPr/>
            </p:nvSpPr>
            <p:spPr>
              <a:xfrm>
                <a:off x="2397654" y="3152615"/>
                <a:ext cx="4070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𝟑𝟒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4917E6B-1BB8-A926-8685-B17F3C37F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654" y="3152615"/>
                <a:ext cx="407099" cy="276999"/>
              </a:xfrm>
              <a:prstGeom prst="rect">
                <a:avLst/>
              </a:prstGeom>
              <a:blipFill>
                <a:blip r:embed="rId8"/>
                <a:stretch>
                  <a:fillRect l="-15152" r="-6061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A1EA567-B777-315E-97D3-39C99981D6ED}"/>
                  </a:ext>
                </a:extLst>
              </p:cNvPr>
              <p:cNvSpPr txBox="1"/>
              <p:nvPr/>
            </p:nvSpPr>
            <p:spPr>
              <a:xfrm>
                <a:off x="1391308" y="3936464"/>
                <a:ext cx="4070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𝟐𝟑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A1EA567-B777-315E-97D3-39C99981D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308" y="3936464"/>
                <a:ext cx="407099" cy="276999"/>
              </a:xfrm>
              <a:prstGeom prst="rect">
                <a:avLst/>
              </a:prstGeom>
              <a:blipFill>
                <a:blip r:embed="rId9"/>
                <a:stretch>
                  <a:fillRect l="-15152" r="-6061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04A79F-6EA5-F15F-143A-B407C89F4C58}"/>
                  </a:ext>
                </a:extLst>
              </p:cNvPr>
              <p:cNvSpPr txBox="1"/>
              <p:nvPr/>
            </p:nvSpPr>
            <p:spPr>
              <a:xfrm>
                <a:off x="609656" y="2797117"/>
                <a:ext cx="4070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04A79F-6EA5-F15F-143A-B407C89F4C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56" y="2797117"/>
                <a:ext cx="407099" cy="276999"/>
              </a:xfrm>
              <a:prstGeom prst="rect">
                <a:avLst/>
              </a:prstGeom>
              <a:blipFill>
                <a:blip r:embed="rId10"/>
                <a:stretch>
                  <a:fillRect l="-15152" r="-6061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CE2D446-B2E5-26E8-D6B8-F51959B09B7C}"/>
                  </a:ext>
                </a:extLst>
              </p:cNvPr>
              <p:cNvSpPr txBox="1"/>
              <p:nvPr/>
            </p:nvSpPr>
            <p:spPr>
              <a:xfrm>
                <a:off x="1223327" y="3310402"/>
                <a:ext cx="4070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𝟐𝟒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CE2D446-B2E5-26E8-D6B8-F51959B09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327" y="3310402"/>
                <a:ext cx="407099" cy="276999"/>
              </a:xfrm>
              <a:prstGeom prst="rect">
                <a:avLst/>
              </a:prstGeom>
              <a:blipFill>
                <a:blip r:embed="rId11"/>
                <a:stretch>
                  <a:fillRect l="-15152" r="-6061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627954D-11DB-453A-F6B0-C916BEAEAC79}"/>
                  </a:ext>
                </a:extLst>
              </p:cNvPr>
              <p:cNvSpPr txBox="1"/>
              <p:nvPr/>
            </p:nvSpPr>
            <p:spPr>
              <a:xfrm>
                <a:off x="1778424" y="3063609"/>
                <a:ext cx="4070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𝟏𝟑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627954D-11DB-453A-F6B0-C916BEAEAC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424" y="3063609"/>
                <a:ext cx="407099" cy="276999"/>
              </a:xfrm>
              <a:prstGeom prst="rect">
                <a:avLst/>
              </a:prstGeom>
              <a:blipFill>
                <a:blip r:embed="rId12"/>
                <a:stretch>
                  <a:fillRect l="-15152" r="-6061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AA20AF4-8AEB-54D0-3E68-9CADB3C591D0}"/>
                  </a:ext>
                </a:extLst>
              </p:cNvPr>
              <p:cNvSpPr txBox="1"/>
              <p:nvPr/>
            </p:nvSpPr>
            <p:spPr>
              <a:xfrm>
                <a:off x="698684" y="5310744"/>
                <a:ext cx="160806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16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Atomic number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AA20AF4-8AEB-54D0-3E68-9CADB3C59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684" y="5310744"/>
                <a:ext cx="1608069" cy="246221"/>
              </a:xfrm>
              <a:prstGeom prst="rect">
                <a:avLst/>
              </a:prstGeom>
              <a:blipFill>
                <a:blip r:embed="rId13"/>
                <a:stretch>
                  <a:fillRect l="-3937" t="-25000" r="-7087" b="-4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1B63C6A-ABE5-7A0D-EB8F-D2C6F1950803}"/>
                  </a:ext>
                </a:extLst>
              </p:cNvPr>
              <p:cNvSpPr txBox="1"/>
              <p:nvPr/>
            </p:nvSpPr>
            <p:spPr>
              <a:xfrm>
                <a:off x="698684" y="5654664"/>
                <a:ext cx="2177904" cy="2694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</m:oMath>
                </a14:m>
                <a:r>
                  <a:rPr lang="en-US" sz="16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Interatomic distances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1B63C6A-ABE5-7A0D-EB8F-D2C6F1950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684" y="5654664"/>
                <a:ext cx="2177904" cy="269497"/>
              </a:xfrm>
              <a:prstGeom prst="rect">
                <a:avLst/>
              </a:prstGeom>
              <a:blipFill>
                <a:blip r:embed="rId14"/>
                <a:stretch>
                  <a:fillRect l="-3488" t="-22727" r="-4651" b="-3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B25AFC72-14A3-DA8F-640B-4CE2108563B5}"/>
              </a:ext>
            </a:extLst>
          </p:cNvPr>
          <p:cNvSpPr/>
          <p:nvPr/>
        </p:nvSpPr>
        <p:spPr>
          <a:xfrm>
            <a:off x="4294052" y="2378998"/>
            <a:ext cx="457200" cy="457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C04A49E-52EF-C4FE-BD74-1EAFE0822DF1}"/>
              </a:ext>
            </a:extLst>
          </p:cNvPr>
          <p:cNvSpPr/>
          <p:nvPr/>
        </p:nvSpPr>
        <p:spPr>
          <a:xfrm>
            <a:off x="5405068" y="2378998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DF4C63-4D64-E951-32FE-6AC18F2332E7}"/>
              </a:ext>
            </a:extLst>
          </p:cNvPr>
          <p:cNvSpPr txBox="1"/>
          <p:nvPr/>
        </p:nvSpPr>
        <p:spPr>
          <a:xfrm>
            <a:off x="4361030" y="2427785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6BCEEE-B482-B19A-9AEA-099377FAC918}"/>
              </a:ext>
            </a:extLst>
          </p:cNvPr>
          <p:cNvSpPr txBox="1"/>
          <p:nvPr/>
        </p:nvSpPr>
        <p:spPr>
          <a:xfrm>
            <a:off x="5467982" y="2427785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4CF7B48-DC06-B374-C6E6-783A3238CDF9}"/>
              </a:ext>
            </a:extLst>
          </p:cNvPr>
          <p:cNvSpPr/>
          <p:nvPr/>
        </p:nvSpPr>
        <p:spPr>
          <a:xfrm>
            <a:off x="3966005" y="3566593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5E7E3E1-2875-2871-B715-F444A550D1B0}"/>
              </a:ext>
            </a:extLst>
          </p:cNvPr>
          <p:cNvSpPr/>
          <p:nvPr/>
        </p:nvSpPr>
        <p:spPr>
          <a:xfrm>
            <a:off x="5467982" y="3984150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5241ACA-1F83-27BB-6979-81B0927C2918}"/>
              </a:ext>
            </a:extLst>
          </p:cNvPr>
          <p:cNvSpPr txBox="1"/>
          <p:nvPr/>
        </p:nvSpPr>
        <p:spPr>
          <a:xfrm>
            <a:off x="4022662" y="3625454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8A4539D-65BF-1ECF-0DBD-6C59C8766479}"/>
              </a:ext>
            </a:extLst>
          </p:cNvPr>
          <p:cNvSpPr txBox="1"/>
          <p:nvPr/>
        </p:nvSpPr>
        <p:spPr>
          <a:xfrm>
            <a:off x="5534937" y="4013157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4F537B8-D7FC-7B0A-23DD-D8A9425B7CBF}"/>
              </a:ext>
            </a:extLst>
          </p:cNvPr>
          <p:cNvCxnSpPr>
            <a:cxnSpLocks/>
          </p:cNvCxnSpPr>
          <p:nvPr/>
        </p:nvCxnSpPr>
        <p:spPr>
          <a:xfrm flipH="1">
            <a:off x="4204791" y="2851562"/>
            <a:ext cx="219695" cy="681608"/>
          </a:xfrm>
          <a:prstGeom prst="line">
            <a:avLst/>
          </a:prstGeom>
          <a:ln w="50800">
            <a:solidFill>
              <a:srgbClr val="0000FF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1F25085-E1A3-ADBA-CCD0-9CFEF20548C6}"/>
                  </a:ext>
                </a:extLst>
              </p:cNvPr>
              <p:cNvSpPr txBox="1"/>
              <p:nvPr/>
            </p:nvSpPr>
            <p:spPr>
              <a:xfrm>
                <a:off x="3970484" y="2210499"/>
                <a:ext cx="2900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1F25085-E1A3-ADBA-CCD0-9CFEF2054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0484" y="2210499"/>
                <a:ext cx="290079" cy="276999"/>
              </a:xfrm>
              <a:prstGeom prst="rect">
                <a:avLst/>
              </a:prstGeom>
              <a:blipFill>
                <a:blip r:embed="rId15"/>
                <a:stretch>
                  <a:fillRect l="-12500" r="-8333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2C74960-440B-68F0-9694-D322CA9A65C0}"/>
                  </a:ext>
                </a:extLst>
              </p:cNvPr>
              <p:cNvSpPr txBox="1"/>
              <p:nvPr/>
            </p:nvSpPr>
            <p:spPr>
              <a:xfrm>
                <a:off x="3948008" y="4059323"/>
                <a:ext cx="2900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2C74960-440B-68F0-9694-D322CA9A6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008" y="4059323"/>
                <a:ext cx="290079" cy="276999"/>
              </a:xfrm>
              <a:prstGeom prst="rect">
                <a:avLst/>
              </a:prstGeom>
              <a:blipFill>
                <a:blip r:embed="rId16"/>
                <a:stretch>
                  <a:fillRect l="-13043" r="-8696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6D00A36-9C9F-4AFB-A972-0F89B1D4D5B7}"/>
                  </a:ext>
                </a:extLst>
              </p:cNvPr>
              <p:cNvSpPr txBox="1"/>
              <p:nvPr/>
            </p:nvSpPr>
            <p:spPr>
              <a:xfrm>
                <a:off x="5854302" y="4332281"/>
                <a:ext cx="2900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6D00A36-9C9F-4AFB-A972-0F89B1D4D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4302" y="4332281"/>
                <a:ext cx="290079" cy="276999"/>
              </a:xfrm>
              <a:prstGeom prst="rect">
                <a:avLst/>
              </a:prstGeom>
              <a:blipFill>
                <a:blip r:embed="rId17"/>
                <a:stretch>
                  <a:fillRect l="-12500" r="-8333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C9D48B5-D484-4E62-F80A-563585E1907F}"/>
                  </a:ext>
                </a:extLst>
              </p:cNvPr>
              <p:cNvSpPr txBox="1"/>
              <p:nvPr/>
            </p:nvSpPr>
            <p:spPr>
              <a:xfrm>
                <a:off x="5870111" y="2240498"/>
                <a:ext cx="2900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C9D48B5-D484-4E62-F80A-563585E190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0111" y="2240498"/>
                <a:ext cx="290079" cy="276999"/>
              </a:xfrm>
              <a:prstGeom prst="rect">
                <a:avLst/>
              </a:prstGeom>
              <a:blipFill>
                <a:blip r:embed="rId18"/>
                <a:stretch>
                  <a:fillRect l="-12500" r="-4167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4D759F90-9FF6-516D-5D4A-7FFFCFBACE83}"/>
              </a:ext>
            </a:extLst>
          </p:cNvPr>
          <p:cNvSpPr txBox="1"/>
          <p:nvPr/>
        </p:nvSpPr>
        <p:spPr>
          <a:xfrm>
            <a:off x="371767" y="1067951"/>
            <a:ext cx="28085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Garamond" panose="02020404030301010803" pitchFamily="18" charset="0"/>
              </a:rPr>
              <a:t>Step 1: Message passing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0C1CB961-3089-F37B-2CFB-28100BD93D99}"/>
              </a:ext>
            </a:extLst>
          </p:cNvPr>
          <p:cNvCxnSpPr>
            <a:cxnSpLocks/>
          </p:cNvCxnSpPr>
          <p:nvPr/>
        </p:nvCxnSpPr>
        <p:spPr>
          <a:xfrm>
            <a:off x="4689966" y="2873850"/>
            <a:ext cx="844971" cy="1071886"/>
          </a:xfrm>
          <a:prstGeom prst="line">
            <a:avLst/>
          </a:prstGeom>
          <a:ln w="50800">
            <a:solidFill>
              <a:srgbClr val="0000FF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D1FCD25D-957C-911F-6798-6DA79348A2A7}"/>
              </a:ext>
            </a:extLst>
          </p:cNvPr>
          <p:cNvCxnSpPr>
            <a:cxnSpLocks/>
          </p:cNvCxnSpPr>
          <p:nvPr/>
        </p:nvCxnSpPr>
        <p:spPr>
          <a:xfrm>
            <a:off x="4738895" y="2618585"/>
            <a:ext cx="612952" cy="0"/>
          </a:xfrm>
          <a:prstGeom prst="line">
            <a:avLst/>
          </a:prstGeom>
          <a:ln w="50800">
            <a:solidFill>
              <a:srgbClr val="0000FF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7E269CAC-230B-6BD5-3C98-CDE7E753A75D}"/>
                  </a:ext>
                </a:extLst>
              </p:cNvPr>
              <p:cNvSpPr txBox="1"/>
              <p:nvPr/>
            </p:nvSpPr>
            <p:spPr>
              <a:xfrm>
                <a:off x="5976602" y="4728674"/>
                <a:ext cx="1657890" cy="3270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𝒋𝒊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𝒋𝒊</m:t>
                              </m:r>
                            </m:sub>
                          </m:sSub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7E269CAC-230B-6BD5-3C98-CDE7E753A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6602" y="4728674"/>
                <a:ext cx="1657890" cy="327077"/>
              </a:xfrm>
              <a:prstGeom prst="rect">
                <a:avLst/>
              </a:prstGeom>
              <a:blipFill>
                <a:blip r:embed="rId19"/>
                <a:stretch>
                  <a:fillRect l="-1527" r="-3053" b="-2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9B65FC11-7B41-C8E4-F71D-61CCDCC66A50}"/>
                  </a:ext>
                </a:extLst>
              </p:cNvPr>
              <p:cNvSpPr txBox="1"/>
              <p:nvPr/>
            </p:nvSpPr>
            <p:spPr>
              <a:xfrm>
                <a:off x="3787506" y="3040651"/>
                <a:ext cx="4728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9B65FC11-7B41-C8E4-F71D-61CCDCC66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7506" y="3040651"/>
                <a:ext cx="472822" cy="276999"/>
              </a:xfrm>
              <a:prstGeom prst="rect">
                <a:avLst/>
              </a:prstGeom>
              <a:blipFill>
                <a:blip r:embed="rId20"/>
                <a:stretch>
                  <a:fillRect l="-7895" r="-5263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8F549E75-2920-F14E-10E7-CDA5BE5D06D3}"/>
                  </a:ext>
                </a:extLst>
              </p:cNvPr>
              <p:cNvSpPr txBox="1"/>
              <p:nvPr/>
            </p:nvSpPr>
            <p:spPr>
              <a:xfrm>
                <a:off x="5223760" y="3159851"/>
                <a:ext cx="4728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8F549E75-2920-F14E-10E7-CDA5BE5D0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3760" y="3159851"/>
                <a:ext cx="472822" cy="276999"/>
              </a:xfrm>
              <a:prstGeom prst="rect">
                <a:avLst/>
              </a:prstGeom>
              <a:blipFill>
                <a:blip r:embed="rId21"/>
                <a:stretch>
                  <a:fillRect l="-7895" r="-5263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6C052674-E9AB-34CC-3E97-5507ABF55C59}"/>
                  </a:ext>
                </a:extLst>
              </p:cNvPr>
              <p:cNvSpPr txBox="1"/>
              <p:nvPr/>
            </p:nvSpPr>
            <p:spPr>
              <a:xfrm>
                <a:off x="4914379" y="2237902"/>
                <a:ext cx="4728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𝟒𝟏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6C052674-E9AB-34CC-3E97-5507ABF55C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4379" y="2237902"/>
                <a:ext cx="472822" cy="276999"/>
              </a:xfrm>
              <a:prstGeom prst="rect">
                <a:avLst/>
              </a:prstGeom>
              <a:blipFill>
                <a:blip r:embed="rId22"/>
                <a:stretch>
                  <a:fillRect l="-5128" r="-512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Oval 83">
            <a:extLst>
              <a:ext uri="{FF2B5EF4-FFF2-40B4-BE49-F238E27FC236}">
                <a16:creationId xmlns:a16="http://schemas.microsoft.com/office/drawing/2014/main" id="{D9E0564C-A137-B83F-AA8A-02B0631402AB}"/>
              </a:ext>
            </a:extLst>
          </p:cNvPr>
          <p:cNvSpPr/>
          <p:nvPr/>
        </p:nvSpPr>
        <p:spPr>
          <a:xfrm>
            <a:off x="7380873" y="2450708"/>
            <a:ext cx="457200" cy="457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CA9FCB8D-0D3D-8DD0-786A-08D14E1D37B9}"/>
              </a:ext>
            </a:extLst>
          </p:cNvPr>
          <p:cNvSpPr/>
          <p:nvPr/>
        </p:nvSpPr>
        <p:spPr>
          <a:xfrm>
            <a:off x="8491889" y="2450708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240D11D-469A-8721-14D5-F506379D08E2}"/>
              </a:ext>
            </a:extLst>
          </p:cNvPr>
          <p:cNvSpPr txBox="1"/>
          <p:nvPr/>
        </p:nvSpPr>
        <p:spPr>
          <a:xfrm>
            <a:off x="7447851" y="2499495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3AECEFD-BA31-20D0-DEF7-F3014E8D354E}"/>
              </a:ext>
            </a:extLst>
          </p:cNvPr>
          <p:cNvSpPr txBox="1"/>
          <p:nvPr/>
        </p:nvSpPr>
        <p:spPr>
          <a:xfrm>
            <a:off x="8554803" y="2499495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3CD121B2-E26B-489D-AB11-0AE010D3B066}"/>
              </a:ext>
            </a:extLst>
          </p:cNvPr>
          <p:cNvSpPr/>
          <p:nvPr/>
        </p:nvSpPr>
        <p:spPr>
          <a:xfrm>
            <a:off x="7052826" y="3638303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FD7F5AAD-FE30-C22B-6A33-837C42D5D63F}"/>
              </a:ext>
            </a:extLst>
          </p:cNvPr>
          <p:cNvSpPr/>
          <p:nvPr/>
        </p:nvSpPr>
        <p:spPr>
          <a:xfrm>
            <a:off x="8554803" y="4055860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581D7A1-3D35-7951-CFAE-4E2F277A23A3}"/>
              </a:ext>
            </a:extLst>
          </p:cNvPr>
          <p:cNvSpPr txBox="1"/>
          <p:nvPr/>
        </p:nvSpPr>
        <p:spPr>
          <a:xfrm>
            <a:off x="7109483" y="3697164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06391EF-F39C-C54E-77E7-14CC1C1B33C0}"/>
              </a:ext>
            </a:extLst>
          </p:cNvPr>
          <p:cNvSpPr txBox="1"/>
          <p:nvPr/>
        </p:nvSpPr>
        <p:spPr>
          <a:xfrm>
            <a:off x="8621758" y="4084867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60DA97CB-EE8F-A383-7DD8-9C91F88E2998}"/>
              </a:ext>
            </a:extLst>
          </p:cNvPr>
          <p:cNvCxnSpPr>
            <a:cxnSpLocks/>
          </p:cNvCxnSpPr>
          <p:nvPr/>
        </p:nvCxnSpPr>
        <p:spPr>
          <a:xfrm flipH="1">
            <a:off x="7291612" y="2923272"/>
            <a:ext cx="219695" cy="681608"/>
          </a:xfrm>
          <a:prstGeom prst="line">
            <a:avLst/>
          </a:prstGeom>
          <a:ln w="50800">
            <a:solidFill>
              <a:srgbClr val="0000FF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3EFA8710-073F-8059-4EDF-7AFC0FB95EC5}"/>
                  </a:ext>
                </a:extLst>
              </p:cNvPr>
              <p:cNvSpPr txBox="1"/>
              <p:nvPr/>
            </p:nvSpPr>
            <p:spPr>
              <a:xfrm>
                <a:off x="7057305" y="2282209"/>
                <a:ext cx="3029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3EFA8710-073F-8059-4EDF-7AFC0FB95E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7305" y="2282209"/>
                <a:ext cx="302903" cy="276999"/>
              </a:xfrm>
              <a:prstGeom prst="rect">
                <a:avLst/>
              </a:prstGeom>
              <a:blipFill>
                <a:blip r:embed="rId23"/>
                <a:stretch>
                  <a:fillRect l="-16000" r="-8000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61C2964F-112C-2C7F-3BE0-9E4028347DC6}"/>
                  </a:ext>
                </a:extLst>
              </p:cNvPr>
              <p:cNvSpPr txBox="1"/>
              <p:nvPr/>
            </p:nvSpPr>
            <p:spPr>
              <a:xfrm>
                <a:off x="7034829" y="4131033"/>
                <a:ext cx="2900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61C2964F-112C-2C7F-3BE0-9E4028347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4829" y="4131033"/>
                <a:ext cx="290079" cy="276999"/>
              </a:xfrm>
              <a:prstGeom prst="rect">
                <a:avLst/>
              </a:prstGeom>
              <a:blipFill>
                <a:blip r:embed="rId24"/>
                <a:stretch>
                  <a:fillRect l="-8333" r="-8333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EFDC901-422F-B1A2-11E2-AEEA29176661}"/>
                  </a:ext>
                </a:extLst>
              </p:cNvPr>
              <p:cNvSpPr txBox="1"/>
              <p:nvPr/>
            </p:nvSpPr>
            <p:spPr>
              <a:xfrm>
                <a:off x="8941123" y="4403991"/>
                <a:ext cx="2900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EFDC901-422F-B1A2-11E2-AEEA29176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1123" y="4403991"/>
                <a:ext cx="290079" cy="276999"/>
              </a:xfrm>
              <a:prstGeom prst="rect">
                <a:avLst/>
              </a:prstGeom>
              <a:blipFill>
                <a:blip r:embed="rId25"/>
                <a:stretch>
                  <a:fillRect l="-13043" r="-13043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8BE2D813-80DD-6322-08F2-35860F6AE78F}"/>
                  </a:ext>
                </a:extLst>
              </p:cNvPr>
              <p:cNvSpPr txBox="1"/>
              <p:nvPr/>
            </p:nvSpPr>
            <p:spPr>
              <a:xfrm>
                <a:off x="8956932" y="2312208"/>
                <a:ext cx="2900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8BE2D813-80DD-6322-08F2-35860F6AE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6932" y="2312208"/>
                <a:ext cx="290079" cy="276999"/>
              </a:xfrm>
              <a:prstGeom prst="rect">
                <a:avLst/>
              </a:prstGeom>
              <a:blipFill>
                <a:blip r:embed="rId26"/>
                <a:stretch>
                  <a:fillRect l="-12500" r="-4167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C790533A-ACF3-B3A9-F916-6EC478D3F2E4}"/>
              </a:ext>
            </a:extLst>
          </p:cNvPr>
          <p:cNvCxnSpPr>
            <a:cxnSpLocks/>
          </p:cNvCxnSpPr>
          <p:nvPr/>
        </p:nvCxnSpPr>
        <p:spPr>
          <a:xfrm>
            <a:off x="7776787" y="2945560"/>
            <a:ext cx="844971" cy="1071886"/>
          </a:xfrm>
          <a:prstGeom prst="line">
            <a:avLst/>
          </a:prstGeom>
          <a:ln w="50800">
            <a:solidFill>
              <a:srgbClr val="0000FF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57D9DBB4-39D3-61C4-6E4B-7C9879365633}"/>
              </a:ext>
            </a:extLst>
          </p:cNvPr>
          <p:cNvCxnSpPr>
            <a:cxnSpLocks/>
          </p:cNvCxnSpPr>
          <p:nvPr/>
        </p:nvCxnSpPr>
        <p:spPr>
          <a:xfrm>
            <a:off x="7825716" y="2690295"/>
            <a:ext cx="612952" cy="0"/>
          </a:xfrm>
          <a:prstGeom prst="line">
            <a:avLst/>
          </a:prstGeom>
          <a:ln w="50800">
            <a:solidFill>
              <a:srgbClr val="0000FF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EE478073-437C-5D08-844F-0797BB8FA804}"/>
                  </a:ext>
                </a:extLst>
              </p:cNvPr>
              <p:cNvSpPr txBox="1"/>
              <p:nvPr/>
            </p:nvSpPr>
            <p:spPr>
              <a:xfrm>
                <a:off x="5976602" y="5066005"/>
                <a:ext cx="1739130" cy="3032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𝑴𝒆𝒂𝒏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𝒋𝒊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EE478073-437C-5D08-844F-0797BB8FA8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6602" y="5066005"/>
                <a:ext cx="1739130" cy="303288"/>
              </a:xfrm>
              <a:prstGeom prst="rect">
                <a:avLst/>
              </a:prstGeom>
              <a:blipFill>
                <a:blip r:embed="rId27"/>
                <a:stretch>
                  <a:fillRect l="-2899" r="-4348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Right Arrow 102">
            <a:extLst>
              <a:ext uri="{FF2B5EF4-FFF2-40B4-BE49-F238E27FC236}">
                <a16:creationId xmlns:a16="http://schemas.microsoft.com/office/drawing/2014/main" id="{5E87891D-DAF8-558F-51C2-2F897EF30B21}"/>
              </a:ext>
            </a:extLst>
          </p:cNvPr>
          <p:cNvSpPr/>
          <p:nvPr/>
        </p:nvSpPr>
        <p:spPr>
          <a:xfrm>
            <a:off x="6389815" y="3202108"/>
            <a:ext cx="415732" cy="356605"/>
          </a:xfrm>
          <a:prstGeom prst="rightArrow">
            <a:avLst>
              <a:gd name="adj1" fmla="val 62160"/>
              <a:gd name="adj2" fmla="val 55164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FCA1F3B6-55A3-362A-2E3A-CD9C928A0C9D}"/>
                  </a:ext>
                </a:extLst>
              </p:cNvPr>
              <p:cNvSpPr txBox="1"/>
              <p:nvPr/>
            </p:nvSpPr>
            <p:spPr>
              <a:xfrm>
                <a:off x="3530059" y="5415588"/>
                <a:ext cx="8245591" cy="6045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Atom/Node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(i.e., 1) receives messages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) from its neighboring nodes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𝑗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(i.e., 2, 3, 4)</a:t>
                </a: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An aggregate vector,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calculated by taking the mean messages from its neighboring nodes</a:t>
                </a:r>
              </a:p>
            </p:txBody>
          </p:sp>
        </mc:Choice>
        <mc:Fallback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FCA1F3B6-55A3-362A-2E3A-CD9C928A0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0059" y="5415588"/>
                <a:ext cx="8245591" cy="604589"/>
              </a:xfrm>
              <a:prstGeom prst="rect">
                <a:avLst/>
              </a:prstGeom>
              <a:blipFill>
                <a:blip r:embed="rId28"/>
                <a:stretch>
                  <a:fillRect l="-154" t="-4082" b="-12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TextBox 104">
            <a:extLst>
              <a:ext uri="{FF2B5EF4-FFF2-40B4-BE49-F238E27FC236}">
                <a16:creationId xmlns:a16="http://schemas.microsoft.com/office/drawing/2014/main" id="{F7BF3231-A5B5-737B-04D1-E6AB809609A9}"/>
              </a:ext>
            </a:extLst>
          </p:cNvPr>
          <p:cNvSpPr txBox="1"/>
          <p:nvPr/>
        </p:nvSpPr>
        <p:spPr>
          <a:xfrm>
            <a:off x="6216763" y="1743322"/>
            <a:ext cx="32426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 of Node 1 message passing</a:t>
            </a:r>
          </a:p>
        </p:txBody>
      </p:sp>
      <p:graphicFrame>
        <p:nvGraphicFramePr>
          <p:cNvPr id="106" name="Table 105">
            <a:extLst>
              <a:ext uri="{FF2B5EF4-FFF2-40B4-BE49-F238E27FC236}">
                <a16:creationId xmlns:a16="http://schemas.microsoft.com/office/drawing/2014/main" id="{9D4FA1CB-5FD4-076B-0BE5-C0D92B6843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550507"/>
              </p:ext>
            </p:extLst>
          </p:nvPr>
        </p:nvGraphicFramePr>
        <p:xfrm>
          <a:off x="10871007" y="2945560"/>
          <a:ext cx="208280" cy="115993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452158219"/>
                    </a:ext>
                  </a:extLst>
                </a:gridCol>
              </a:tblGrid>
              <a:tr h="231987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1799702"/>
                  </a:ext>
                </a:extLst>
              </a:tr>
              <a:tr h="231987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305068"/>
                  </a:ext>
                </a:extLst>
              </a:tr>
              <a:tr h="231987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803084"/>
                  </a:ext>
                </a:extLst>
              </a:tr>
              <a:tr h="231987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5388424"/>
                  </a:ext>
                </a:extLst>
              </a:tr>
              <a:tr h="231987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6584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BB9C5CA6-55D1-F03F-D185-2D4021245FA5}"/>
                  </a:ext>
                </a:extLst>
              </p:cNvPr>
              <p:cNvSpPr txBox="1"/>
              <p:nvPr/>
            </p:nvSpPr>
            <p:spPr>
              <a:xfrm>
                <a:off x="10474786" y="2523623"/>
                <a:ext cx="10931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 [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𝟔𝟒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b="1" dirty="0"/>
                  <a:t> </a:t>
                </a: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BB9C5CA6-55D1-F03F-D185-2D4021245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4786" y="2523623"/>
                <a:ext cx="1093184" cy="276999"/>
              </a:xfrm>
              <a:prstGeom prst="rect">
                <a:avLst/>
              </a:prstGeom>
              <a:blipFill>
                <a:blip r:embed="rId29"/>
                <a:stretch>
                  <a:fillRect l="-7955" t="-8696" r="-4545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Right Arrow 107">
            <a:extLst>
              <a:ext uri="{FF2B5EF4-FFF2-40B4-BE49-F238E27FC236}">
                <a16:creationId xmlns:a16="http://schemas.microsoft.com/office/drawing/2014/main" id="{69FB8B93-FD8B-B1C2-196F-0A2EA594CA69}"/>
              </a:ext>
            </a:extLst>
          </p:cNvPr>
          <p:cNvSpPr/>
          <p:nvPr/>
        </p:nvSpPr>
        <p:spPr>
          <a:xfrm>
            <a:off x="9750796" y="3166899"/>
            <a:ext cx="415732" cy="356605"/>
          </a:xfrm>
          <a:prstGeom prst="rightArrow">
            <a:avLst>
              <a:gd name="adj1" fmla="val 62160"/>
              <a:gd name="adj2" fmla="val 55164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654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71348-B5C1-5B16-D737-2E1D7B8AD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7C8A8A6-F1FA-7183-52DB-3644FEB87387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2FDF4D-5CB8-65E6-7152-65288676FAA8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GNN architecture breakdown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9E137084-253C-C810-8B4C-6F9ABA2A7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CF7D-2046-C245-B30D-A7832F828C2B}" type="slidenum">
              <a:rPr lang="en-US" smtClean="0"/>
              <a:t>7</a:t>
            </a:fld>
            <a:endParaRPr 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ABE6B4E-D393-2235-1F3E-02B6CA8D4138}"/>
              </a:ext>
            </a:extLst>
          </p:cNvPr>
          <p:cNvSpPr txBox="1"/>
          <p:nvPr/>
        </p:nvSpPr>
        <p:spPr>
          <a:xfrm>
            <a:off x="371767" y="1067951"/>
            <a:ext cx="647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Garamond" panose="02020404030301010803" pitchFamily="18" charset="0"/>
              </a:rPr>
              <a:t>Step 2: MLP predictor for atom existence and bond orders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79136B8E-B080-CDD6-B861-30E00E09A32F}"/>
                  </a:ext>
                </a:extLst>
              </p:cNvPr>
              <p:cNvSpPr txBox="1"/>
              <p:nvPr/>
            </p:nvSpPr>
            <p:spPr>
              <a:xfrm>
                <a:off x="647880" y="3258123"/>
                <a:ext cx="10107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[64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79136B8E-B080-CDD6-B861-30E00E09A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880" y="3258123"/>
                <a:ext cx="1010790" cy="276999"/>
              </a:xfrm>
              <a:prstGeom prst="rect">
                <a:avLst/>
              </a:prstGeom>
              <a:blipFill>
                <a:blip r:embed="rId3"/>
                <a:stretch>
                  <a:fillRect l="-7407" t="-8696" r="-4938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581BFC57-B967-527C-ABE0-C1271A54F9EA}"/>
              </a:ext>
            </a:extLst>
          </p:cNvPr>
          <p:cNvSpPr/>
          <p:nvPr/>
        </p:nvSpPr>
        <p:spPr>
          <a:xfrm>
            <a:off x="6204445" y="4471923"/>
            <a:ext cx="274320" cy="2743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F577B35-A507-7AE3-C847-BDB28CB7E936}"/>
              </a:ext>
            </a:extLst>
          </p:cNvPr>
          <p:cNvSpPr/>
          <p:nvPr/>
        </p:nvSpPr>
        <p:spPr>
          <a:xfrm>
            <a:off x="6204445" y="4808740"/>
            <a:ext cx="274320" cy="2743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E55A989-FABE-C7AA-1A9A-18FB90E1FAFA}"/>
              </a:ext>
            </a:extLst>
          </p:cNvPr>
          <p:cNvSpPr/>
          <p:nvPr/>
        </p:nvSpPr>
        <p:spPr>
          <a:xfrm>
            <a:off x="6204445" y="5495735"/>
            <a:ext cx="274320" cy="2743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97D1216-AA88-C1D1-50CA-1CB08346D4D4}"/>
              </a:ext>
            </a:extLst>
          </p:cNvPr>
          <p:cNvSpPr/>
          <p:nvPr/>
        </p:nvSpPr>
        <p:spPr>
          <a:xfrm>
            <a:off x="6828395" y="4586182"/>
            <a:ext cx="274320" cy="2743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3C591B7-2B40-2066-9F24-15488855FDA8}"/>
              </a:ext>
            </a:extLst>
          </p:cNvPr>
          <p:cNvSpPr/>
          <p:nvPr/>
        </p:nvSpPr>
        <p:spPr>
          <a:xfrm>
            <a:off x="6828395" y="4940909"/>
            <a:ext cx="274320" cy="2743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78E5C5E-D157-6B2E-F446-8EA10424EB1A}"/>
              </a:ext>
            </a:extLst>
          </p:cNvPr>
          <p:cNvSpPr/>
          <p:nvPr/>
        </p:nvSpPr>
        <p:spPr>
          <a:xfrm>
            <a:off x="6204445" y="5836007"/>
            <a:ext cx="274320" cy="2743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F584A67-780D-179B-8736-1D8FB349D859}"/>
              </a:ext>
            </a:extLst>
          </p:cNvPr>
          <p:cNvSpPr/>
          <p:nvPr/>
        </p:nvSpPr>
        <p:spPr>
          <a:xfrm>
            <a:off x="6828395" y="5605190"/>
            <a:ext cx="274320" cy="2743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719423F-6EBF-3435-23A8-A5CCDA2B8689}"/>
              </a:ext>
            </a:extLst>
          </p:cNvPr>
          <p:cNvSpPr/>
          <p:nvPr/>
        </p:nvSpPr>
        <p:spPr>
          <a:xfrm>
            <a:off x="7441719" y="5143945"/>
            <a:ext cx="274320" cy="2743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DF44F0B-3691-7D2C-91EC-75B6CED3C3FD}"/>
              </a:ext>
            </a:extLst>
          </p:cNvPr>
          <p:cNvCxnSpPr>
            <a:stCxn id="2" idx="6"/>
            <a:endCxn id="40" idx="2"/>
          </p:cNvCxnSpPr>
          <p:nvPr/>
        </p:nvCxnSpPr>
        <p:spPr>
          <a:xfrm>
            <a:off x="6478765" y="4609083"/>
            <a:ext cx="349630" cy="114259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3957A9D-D12D-2B2A-8427-90F79DC7F151}"/>
              </a:ext>
            </a:extLst>
          </p:cNvPr>
          <p:cNvCxnSpPr>
            <a:cxnSpLocks/>
            <a:stCxn id="38" idx="6"/>
            <a:endCxn id="40" idx="2"/>
          </p:cNvCxnSpPr>
          <p:nvPr/>
        </p:nvCxnSpPr>
        <p:spPr>
          <a:xfrm flipV="1">
            <a:off x="6478765" y="4723342"/>
            <a:ext cx="349630" cy="222558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FCFC9EB-6F54-A71D-4EEC-6D350A3F2F7E}"/>
              </a:ext>
            </a:extLst>
          </p:cNvPr>
          <p:cNvCxnSpPr>
            <a:cxnSpLocks/>
            <a:stCxn id="2" idx="6"/>
            <a:endCxn id="42" idx="2"/>
          </p:cNvCxnSpPr>
          <p:nvPr/>
        </p:nvCxnSpPr>
        <p:spPr>
          <a:xfrm>
            <a:off x="6478765" y="4609083"/>
            <a:ext cx="349630" cy="468986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2995BC7-F54A-3251-5A07-8642381D328C}"/>
              </a:ext>
            </a:extLst>
          </p:cNvPr>
          <p:cNvCxnSpPr>
            <a:cxnSpLocks/>
            <a:stCxn id="2" idx="6"/>
            <a:endCxn id="47" idx="2"/>
          </p:cNvCxnSpPr>
          <p:nvPr/>
        </p:nvCxnSpPr>
        <p:spPr>
          <a:xfrm>
            <a:off x="6478765" y="4609083"/>
            <a:ext cx="349630" cy="1133267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43B16B4-EA63-524C-13B2-9A5D428FDE2F}"/>
              </a:ext>
            </a:extLst>
          </p:cNvPr>
          <p:cNvCxnSpPr>
            <a:cxnSpLocks/>
            <a:stCxn id="2" idx="6"/>
          </p:cNvCxnSpPr>
          <p:nvPr/>
        </p:nvCxnSpPr>
        <p:spPr>
          <a:xfrm>
            <a:off x="6478765" y="4609083"/>
            <a:ext cx="428696" cy="748153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643531C-1FC9-2D90-A912-5ED03FABE308}"/>
              </a:ext>
            </a:extLst>
          </p:cNvPr>
          <p:cNvCxnSpPr>
            <a:cxnSpLocks/>
            <a:stCxn id="38" idx="6"/>
            <a:endCxn id="42" idx="2"/>
          </p:cNvCxnSpPr>
          <p:nvPr/>
        </p:nvCxnSpPr>
        <p:spPr>
          <a:xfrm>
            <a:off x="6478765" y="4945900"/>
            <a:ext cx="349630" cy="132169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8BFFA0A-64C3-5DD7-96D8-F424E2E18696}"/>
              </a:ext>
            </a:extLst>
          </p:cNvPr>
          <p:cNvCxnSpPr>
            <a:cxnSpLocks/>
            <a:stCxn id="38" idx="6"/>
          </p:cNvCxnSpPr>
          <p:nvPr/>
        </p:nvCxnSpPr>
        <p:spPr>
          <a:xfrm>
            <a:off x="6478765" y="4945900"/>
            <a:ext cx="428696" cy="413831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E266C6A-67D0-FC5D-6D23-D30BADEAD78B}"/>
              </a:ext>
            </a:extLst>
          </p:cNvPr>
          <p:cNvCxnSpPr>
            <a:cxnSpLocks/>
            <a:stCxn id="38" idx="6"/>
            <a:endCxn id="47" idx="2"/>
          </p:cNvCxnSpPr>
          <p:nvPr/>
        </p:nvCxnSpPr>
        <p:spPr>
          <a:xfrm>
            <a:off x="6478765" y="4945900"/>
            <a:ext cx="349630" cy="79645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7EAFF2A-590B-2665-352F-5859E0F35203}"/>
              </a:ext>
            </a:extLst>
          </p:cNvPr>
          <p:cNvCxnSpPr>
            <a:cxnSpLocks/>
            <a:stCxn id="39" idx="6"/>
            <a:endCxn id="40" idx="2"/>
          </p:cNvCxnSpPr>
          <p:nvPr/>
        </p:nvCxnSpPr>
        <p:spPr>
          <a:xfrm flipV="1">
            <a:off x="6478765" y="4723342"/>
            <a:ext cx="349630" cy="909553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ED1F14B6-D771-8A5B-84ED-4EF035BBB2C9}"/>
              </a:ext>
            </a:extLst>
          </p:cNvPr>
          <p:cNvCxnSpPr>
            <a:cxnSpLocks/>
            <a:stCxn id="39" idx="6"/>
            <a:endCxn id="42" idx="2"/>
          </p:cNvCxnSpPr>
          <p:nvPr/>
        </p:nvCxnSpPr>
        <p:spPr>
          <a:xfrm flipV="1">
            <a:off x="6478765" y="5078069"/>
            <a:ext cx="349630" cy="554826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DE15B56A-E137-AE61-5020-F18DEC418A15}"/>
              </a:ext>
            </a:extLst>
          </p:cNvPr>
          <p:cNvCxnSpPr>
            <a:cxnSpLocks/>
            <a:stCxn id="39" idx="6"/>
          </p:cNvCxnSpPr>
          <p:nvPr/>
        </p:nvCxnSpPr>
        <p:spPr>
          <a:xfrm flipV="1">
            <a:off x="6478765" y="5344125"/>
            <a:ext cx="428696" cy="28877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7214C735-CDDB-B6C4-90F3-59B05F961C41}"/>
              </a:ext>
            </a:extLst>
          </p:cNvPr>
          <p:cNvCxnSpPr>
            <a:cxnSpLocks/>
            <a:stCxn id="39" idx="6"/>
            <a:endCxn id="47" idx="2"/>
          </p:cNvCxnSpPr>
          <p:nvPr/>
        </p:nvCxnSpPr>
        <p:spPr>
          <a:xfrm>
            <a:off x="6478765" y="5632895"/>
            <a:ext cx="349630" cy="109455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375A750E-67EF-CD47-80AF-E23C441C60EF}"/>
              </a:ext>
            </a:extLst>
          </p:cNvPr>
          <p:cNvCxnSpPr>
            <a:cxnSpLocks/>
            <a:stCxn id="46" idx="6"/>
            <a:endCxn id="40" idx="2"/>
          </p:cNvCxnSpPr>
          <p:nvPr/>
        </p:nvCxnSpPr>
        <p:spPr>
          <a:xfrm flipV="1">
            <a:off x="6478765" y="4723342"/>
            <a:ext cx="349630" cy="1249825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F7392A41-A856-150E-C201-29A2EB9236E7}"/>
              </a:ext>
            </a:extLst>
          </p:cNvPr>
          <p:cNvCxnSpPr>
            <a:cxnSpLocks/>
            <a:stCxn id="46" idx="6"/>
            <a:endCxn id="42" idx="2"/>
          </p:cNvCxnSpPr>
          <p:nvPr/>
        </p:nvCxnSpPr>
        <p:spPr>
          <a:xfrm flipV="1">
            <a:off x="6478765" y="5078069"/>
            <a:ext cx="349630" cy="895098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0649915D-F81B-CED9-AA07-A755E2D5ABF5}"/>
              </a:ext>
            </a:extLst>
          </p:cNvPr>
          <p:cNvCxnSpPr>
            <a:cxnSpLocks/>
            <a:stCxn id="46" idx="6"/>
          </p:cNvCxnSpPr>
          <p:nvPr/>
        </p:nvCxnSpPr>
        <p:spPr>
          <a:xfrm flipV="1">
            <a:off x="6478765" y="5348254"/>
            <a:ext cx="428696" cy="624913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853C88F0-D4C6-C6D5-1D84-D0C94F2B6C66}"/>
              </a:ext>
            </a:extLst>
          </p:cNvPr>
          <p:cNvCxnSpPr>
            <a:cxnSpLocks/>
            <a:stCxn id="46" idx="6"/>
            <a:endCxn id="47" idx="2"/>
          </p:cNvCxnSpPr>
          <p:nvPr/>
        </p:nvCxnSpPr>
        <p:spPr>
          <a:xfrm flipV="1">
            <a:off x="6478765" y="5742350"/>
            <a:ext cx="349630" cy="230817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5DC1CA09-A4E5-2EB4-7D2D-22C9B37533CC}"/>
              </a:ext>
            </a:extLst>
          </p:cNvPr>
          <p:cNvCxnSpPr>
            <a:cxnSpLocks/>
          </p:cNvCxnSpPr>
          <p:nvPr/>
        </p:nvCxnSpPr>
        <p:spPr>
          <a:xfrm>
            <a:off x="6477777" y="5347979"/>
            <a:ext cx="429684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EBB3FF4C-5D37-5539-DF55-BDBD9905BDF8}"/>
              </a:ext>
            </a:extLst>
          </p:cNvPr>
          <p:cNvCxnSpPr>
            <a:cxnSpLocks/>
            <a:endCxn id="40" idx="2"/>
          </p:cNvCxnSpPr>
          <p:nvPr/>
        </p:nvCxnSpPr>
        <p:spPr>
          <a:xfrm flipV="1">
            <a:off x="6476642" y="4723342"/>
            <a:ext cx="351753" cy="624056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5D71F452-5E8D-2C5A-BB24-D17A9140A13F}"/>
              </a:ext>
            </a:extLst>
          </p:cNvPr>
          <p:cNvCxnSpPr>
            <a:cxnSpLocks/>
            <a:endCxn id="42" idx="2"/>
          </p:cNvCxnSpPr>
          <p:nvPr/>
        </p:nvCxnSpPr>
        <p:spPr>
          <a:xfrm flipV="1">
            <a:off x="6476642" y="5078069"/>
            <a:ext cx="351753" cy="280506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CD1EC056-1E0F-F5A4-58E1-3EE889C04ED1}"/>
              </a:ext>
            </a:extLst>
          </p:cNvPr>
          <p:cNvCxnSpPr>
            <a:cxnSpLocks/>
            <a:endCxn id="47" idx="2"/>
          </p:cNvCxnSpPr>
          <p:nvPr/>
        </p:nvCxnSpPr>
        <p:spPr>
          <a:xfrm>
            <a:off x="6476642" y="5355482"/>
            <a:ext cx="351753" cy="386868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27C0D590-079E-0AA5-A1F5-AA268510199A}"/>
              </a:ext>
            </a:extLst>
          </p:cNvPr>
          <p:cNvCxnSpPr>
            <a:cxnSpLocks/>
            <a:stCxn id="40" idx="6"/>
            <a:endCxn id="48" idx="2"/>
          </p:cNvCxnSpPr>
          <p:nvPr/>
        </p:nvCxnSpPr>
        <p:spPr>
          <a:xfrm>
            <a:off x="7102715" y="4723342"/>
            <a:ext cx="339004" cy="557763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D121CC3D-01D3-4569-39EA-27750EEC4FF8}"/>
              </a:ext>
            </a:extLst>
          </p:cNvPr>
          <p:cNvCxnSpPr>
            <a:cxnSpLocks/>
            <a:stCxn id="42" idx="6"/>
            <a:endCxn id="48" idx="2"/>
          </p:cNvCxnSpPr>
          <p:nvPr/>
        </p:nvCxnSpPr>
        <p:spPr>
          <a:xfrm>
            <a:off x="7102715" y="5078069"/>
            <a:ext cx="339004" cy="203036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24050210-B624-32D3-056C-76EC162A5BF8}"/>
              </a:ext>
            </a:extLst>
          </p:cNvPr>
          <p:cNvCxnSpPr>
            <a:cxnSpLocks/>
            <a:endCxn id="48" idx="2"/>
          </p:cNvCxnSpPr>
          <p:nvPr/>
        </p:nvCxnSpPr>
        <p:spPr>
          <a:xfrm flipV="1">
            <a:off x="7100592" y="5281105"/>
            <a:ext cx="341127" cy="74377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698903D3-7ADC-7E1D-AA52-C41D2FFDC70B}"/>
              </a:ext>
            </a:extLst>
          </p:cNvPr>
          <p:cNvCxnSpPr>
            <a:cxnSpLocks/>
            <a:stCxn id="47" idx="6"/>
            <a:endCxn id="48" idx="2"/>
          </p:cNvCxnSpPr>
          <p:nvPr/>
        </p:nvCxnSpPr>
        <p:spPr>
          <a:xfrm flipV="1">
            <a:off x="7102715" y="5281105"/>
            <a:ext cx="339004" cy="461245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F4D59C46-6A3B-87F2-D50D-0D152A0C576F}"/>
              </a:ext>
            </a:extLst>
          </p:cNvPr>
          <p:cNvSpPr txBox="1"/>
          <p:nvPr/>
        </p:nvSpPr>
        <p:spPr>
          <a:xfrm rot="5400000">
            <a:off x="6234974" y="5086912"/>
            <a:ext cx="41229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A6777230-7340-1592-8269-26B61A3EE359}"/>
              </a:ext>
            </a:extLst>
          </p:cNvPr>
          <p:cNvSpPr txBox="1"/>
          <p:nvPr/>
        </p:nvSpPr>
        <p:spPr>
          <a:xfrm rot="5400000">
            <a:off x="6860776" y="5139890"/>
            <a:ext cx="41229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D0B7AC7C-1224-1921-F3E6-9119BF799610}"/>
              </a:ext>
            </a:extLst>
          </p:cNvPr>
          <p:cNvSpPr/>
          <p:nvPr/>
        </p:nvSpPr>
        <p:spPr>
          <a:xfrm>
            <a:off x="5636711" y="1637050"/>
            <a:ext cx="274320" cy="27432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54E83C72-B6FA-2BD3-057E-1C7A38307714}"/>
              </a:ext>
            </a:extLst>
          </p:cNvPr>
          <p:cNvSpPr/>
          <p:nvPr/>
        </p:nvSpPr>
        <p:spPr>
          <a:xfrm>
            <a:off x="5636711" y="1973867"/>
            <a:ext cx="274320" cy="27432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E8CDA851-0540-DF02-F60D-4EA970068CA4}"/>
              </a:ext>
            </a:extLst>
          </p:cNvPr>
          <p:cNvSpPr/>
          <p:nvPr/>
        </p:nvSpPr>
        <p:spPr>
          <a:xfrm>
            <a:off x="5636711" y="2660862"/>
            <a:ext cx="274320" cy="27432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B67A4652-39A6-9DFD-0FB0-851881AA0ACF}"/>
              </a:ext>
            </a:extLst>
          </p:cNvPr>
          <p:cNvSpPr/>
          <p:nvPr/>
        </p:nvSpPr>
        <p:spPr>
          <a:xfrm>
            <a:off x="6339727" y="1751309"/>
            <a:ext cx="274320" cy="27432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11C7AD0E-EE92-B532-41D1-A7005219E293}"/>
              </a:ext>
            </a:extLst>
          </p:cNvPr>
          <p:cNvSpPr/>
          <p:nvPr/>
        </p:nvSpPr>
        <p:spPr>
          <a:xfrm>
            <a:off x="6339727" y="2106036"/>
            <a:ext cx="274320" cy="27432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ADF359D3-4C0E-1113-58DF-7C8AF6F9FA00}"/>
              </a:ext>
            </a:extLst>
          </p:cNvPr>
          <p:cNvSpPr/>
          <p:nvPr/>
        </p:nvSpPr>
        <p:spPr>
          <a:xfrm>
            <a:off x="5636711" y="3001134"/>
            <a:ext cx="274320" cy="27432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6C4E4654-6E9D-D723-46B9-10E5C3703653}"/>
              </a:ext>
            </a:extLst>
          </p:cNvPr>
          <p:cNvSpPr/>
          <p:nvPr/>
        </p:nvSpPr>
        <p:spPr>
          <a:xfrm>
            <a:off x="6339727" y="2770317"/>
            <a:ext cx="274320" cy="27432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929D0C99-273F-547F-8B87-2E8446440C9E}"/>
              </a:ext>
            </a:extLst>
          </p:cNvPr>
          <p:cNvSpPr/>
          <p:nvPr/>
        </p:nvSpPr>
        <p:spPr>
          <a:xfrm>
            <a:off x="7042743" y="2309072"/>
            <a:ext cx="274320" cy="27432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EA525221-CBBA-D2A5-1F87-41E90E9C3046}"/>
              </a:ext>
            </a:extLst>
          </p:cNvPr>
          <p:cNvCxnSpPr>
            <a:cxnSpLocks/>
            <a:stCxn id="157" idx="6"/>
            <a:endCxn id="160" idx="2"/>
          </p:cNvCxnSpPr>
          <p:nvPr/>
        </p:nvCxnSpPr>
        <p:spPr>
          <a:xfrm>
            <a:off x="5911031" y="1774210"/>
            <a:ext cx="428696" cy="114259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CCDA0077-8D8A-BB94-C1AA-5F048C3BAF4E}"/>
              </a:ext>
            </a:extLst>
          </p:cNvPr>
          <p:cNvCxnSpPr>
            <a:cxnSpLocks/>
            <a:stCxn id="158" idx="6"/>
            <a:endCxn id="160" idx="2"/>
          </p:cNvCxnSpPr>
          <p:nvPr/>
        </p:nvCxnSpPr>
        <p:spPr>
          <a:xfrm flipV="1">
            <a:off x="5911031" y="1888469"/>
            <a:ext cx="428696" cy="222558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9E43E9E1-5519-45AF-8F2A-544F259D50BF}"/>
              </a:ext>
            </a:extLst>
          </p:cNvPr>
          <p:cNvCxnSpPr>
            <a:cxnSpLocks/>
            <a:stCxn id="157" idx="6"/>
            <a:endCxn id="161" idx="2"/>
          </p:cNvCxnSpPr>
          <p:nvPr/>
        </p:nvCxnSpPr>
        <p:spPr>
          <a:xfrm>
            <a:off x="5911031" y="1774210"/>
            <a:ext cx="428696" cy="468986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B80E561B-7D12-E564-5326-CACA9D60A86A}"/>
              </a:ext>
            </a:extLst>
          </p:cNvPr>
          <p:cNvCxnSpPr>
            <a:cxnSpLocks/>
            <a:stCxn id="157" idx="6"/>
            <a:endCxn id="163" idx="2"/>
          </p:cNvCxnSpPr>
          <p:nvPr/>
        </p:nvCxnSpPr>
        <p:spPr>
          <a:xfrm>
            <a:off x="5911031" y="1774210"/>
            <a:ext cx="428696" cy="1133267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A936C30-2AF8-39C7-D805-3538EBCA2030}"/>
              </a:ext>
            </a:extLst>
          </p:cNvPr>
          <p:cNvCxnSpPr>
            <a:cxnSpLocks/>
            <a:stCxn id="157" idx="6"/>
          </p:cNvCxnSpPr>
          <p:nvPr/>
        </p:nvCxnSpPr>
        <p:spPr>
          <a:xfrm>
            <a:off x="5911031" y="1774210"/>
            <a:ext cx="428696" cy="748153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BD0A77D4-1305-2A0D-4129-E91028D576B9}"/>
              </a:ext>
            </a:extLst>
          </p:cNvPr>
          <p:cNvCxnSpPr>
            <a:cxnSpLocks/>
            <a:stCxn id="158" idx="6"/>
            <a:endCxn id="161" idx="2"/>
          </p:cNvCxnSpPr>
          <p:nvPr/>
        </p:nvCxnSpPr>
        <p:spPr>
          <a:xfrm>
            <a:off x="5911031" y="2111027"/>
            <a:ext cx="428696" cy="132169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E0BF2C1A-8C25-0BC5-BC12-B695A4E171B9}"/>
              </a:ext>
            </a:extLst>
          </p:cNvPr>
          <p:cNvCxnSpPr>
            <a:cxnSpLocks/>
            <a:stCxn id="158" idx="6"/>
          </p:cNvCxnSpPr>
          <p:nvPr/>
        </p:nvCxnSpPr>
        <p:spPr>
          <a:xfrm>
            <a:off x="5911031" y="2111027"/>
            <a:ext cx="428696" cy="413831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22B46475-10CB-C4EE-AA9B-C078B1ACED77}"/>
              </a:ext>
            </a:extLst>
          </p:cNvPr>
          <p:cNvCxnSpPr>
            <a:cxnSpLocks/>
            <a:stCxn id="158" idx="6"/>
            <a:endCxn id="163" idx="2"/>
          </p:cNvCxnSpPr>
          <p:nvPr/>
        </p:nvCxnSpPr>
        <p:spPr>
          <a:xfrm>
            <a:off x="5911031" y="2111027"/>
            <a:ext cx="428696" cy="79645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EF4C2F31-1FF8-10C9-1EB9-0280430E5CFE}"/>
              </a:ext>
            </a:extLst>
          </p:cNvPr>
          <p:cNvCxnSpPr>
            <a:cxnSpLocks/>
            <a:stCxn id="159" idx="6"/>
            <a:endCxn id="160" idx="2"/>
          </p:cNvCxnSpPr>
          <p:nvPr/>
        </p:nvCxnSpPr>
        <p:spPr>
          <a:xfrm flipV="1">
            <a:off x="5911031" y="1888469"/>
            <a:ext cx="428696" cy="909553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FE051E6C-6738-11B3-7316-E926E2F96849}"/>
              </a:ext>
            </a:extLst>
          </p:cNvPr>
          <p:cNvCxnSpPr>
            <a:cxnSpLocks/>
            <a:stCxn id="159" idx="6"/>
            <a:endCxn id="161" idx="2"/>
          </p:cNvCxnSpPr>
          <p:nvPr/>
        </p:nvCxnSpPr>
        <p:spPr>
          <a:xfrm flipV="1">
            <a:off x="5911031" y="2243196"/>
            <a:ext cx="428696" cy="554826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38F033B6-5396-86E2-627D-ED5BBD78832F}"/>
              </a:ext>
            </a:extLst>
          </p:cNvPr>
          <p:cNvCxnSpPr>
            <a:cxnSpLocks/>
            <a:stCxn id="159" idx="6"/>
          </p:cNvCxnSpPr>
          <p:nvPr/>
        </p:nvCxnSpPr>
        <p:spPr>
          <a:xfrm flipV="1">
            <a:off x="5911031" y="2509252"/>
            <a:ext cx="428696" cy="28877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3B55EE19-9D97-1210-288C-FD645C533046}"/>
              </a:ext>
            </a:extLst>
          </p:cNvPr>
          <p:cNvCxnSpPr>
            <a:cxnSpLocks/>
            <a:stCxn id="159" idx="6"/>
            <a:endCxn id="163" idx="2"/>
          </p:cNvCxnSpPr>
          <p:nvPr/>
        </p:nvCxnSpPr>
        <p:spPr>
          <a:xfrm>
            <a:off x="5911031" y="2798022"/>
            <a:ext cx="428696" cy="109455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7CF6A13A-C739-1ED9-C1D5-7B0627FE209F}"/>
              </a:ext>
            </a:extLst>
          </p:cNvPr>
          <p:cNvCxnSpPr>
            <a:cxnSpLocks/>
            <a:stCxn id="162" idx="6"/>
            <a:endCxn id="160" idx="2"/>
          </p:cNvCxnSpPr>
          <p:nvPr/>
        </p:nvCxnSpPr>
        <p:spPr>
          <a:xfrm flipV="1">
            <a:off x="5911031" y="1888469"/>
            <a:ext cx="428696" cy="1249825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2576ACD1-49AE-F473-5EC2-1D64CE1F4F5E}"/>
              </a:ext>
            </a:extLst>
          </p:cNvPr>
          <p:cNvCxnSpPr>
            <a:cxnSpLocks/>
            <a:stCxn id="162" idx="6"/>
            <a:endCxn id="161" idx="2"/>
          </p:cNvCxnSpPr>
          <p:nvPr/>
        </p:nvCxnSpPr>
        <p:spPr>
          <a:xfrm flipV="1">
            <a:off x="5911031" y="2243196"/>
            <a:ext cx="428696" cy="895098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A8C184B0-3AB9-0E56-2AA4-CAF1BFBC5621}"/>
              </a:ext>
            </a:extLst>
          </p:cNvPr>
          <p:cNvCxnSpPr>
            <a:cxnSpLocks/>
            <a:stCxn id="162" idx="6"/>
          </p:cNvCxnSpPr>
          <p:nvPr/>
        </p:nvCxnSpPr>
        <p:spPr>
          <a:xfrm flipV="1">
            <a:off x="5911031" y="2513381"/>
            <a:ext cx="428696" cy="624913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F1ABE5C6-229B-B84F-EDB3-3180FCCC69BE}"/>
              </a:ext>
            </a:extLst>
          </p:cNvPr>
          <p:cNvCxnSpPr>
            <a:cxnSpLocks/>
            <a:stCxn id="162" idx="6"/>
            <a:endCxn id="163" idx="2"/>
          </p:cNvCxnSpPr>
          <p:nvPr/>
        </p:nvCxnSpPr>
        <p:spPr>
          <a:xfrm flipV="1">
            <a:off x="5911031" y="2907477"/>
            <a:ext cx="428696" cy="230817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6127353A-7297-150D-4D57-DDECFEDAC501}"/>
              </a:ext>
            </a:extLst>
          </p:cNvPr>
          <p:cNvCxnSpPr>
            <a:cxnSpLocks/>
          </p:cNvCxnSpPr>
          <p:nvPr/>
        </p:nvCxnSpPr>
        <p:spPr>
          <a:xfrm>
            <a:off x="5910043" y="2513106"/>
            <a:ext cx="429684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D26AD435-567D-6D6A-093A-494C43AD5C29}"/>
              </a:ext>
            </a:extLst>
          </p:cNvPr>
          <p:cNvCxnSpPr>
            <a:cxnSpLocks/>
            <a:endCxn id="160" idx="2"/>
          </p:cNvCxnSpPr>
          <p:nvPr/>
        </p:nvCxnSpPr>
        <p:spPr>
          <a:xfrm flipV="1">
            <a:off x="5909549" y="1888469"/>
            <a:ext cx="430178" cy="627891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9FEA5999-82C1-3CBC-18C3-98FFEECBE283}"/>
              </a:ext>
            </a:extLst>
          </p:cNvPr>
          <p:cNvCxnSpPr>
            <a:cxnSpLocks/>
            <a:endCxn id="161" idx="2"/>
          </p:cNvCxnSpPr>
          <p:nvPr/>
        </p:nvCxnSpPr>
        <p:spPr>
          <a:xfrm flipV="1">
            <a:off x="5909302" y="2243196"/>
            <a:ext cx="430425" cy="269329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1E9E0638-BA10-03F9-3042-EFA5FDACD13B}"/>
              </a:ext>
            </a:extLst>
          </p:cNvPr>
          <p:cNvCxnSpPr>
            <a:cxnSpLocks/>
            <a:endCxn id="163" idx="2"/>
          </p:cNvCxnSpPr>
          <p:nvPr/>
        </p:nvCxnSpPr>
        <p:spPr>
          <a:xfrm>
            <a:off x="5909179" y="2509252"/>
            <a:ext cx="430548" cy="398225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1C12E434-8B03-CA26-7004-3DADDE010C0A}"/>
              </a:ext>
            </a:extLst>
          </p:cNvPr>
          <p:cNvCxnSpPr>
            <a:cxnSpLocks/>
            <a:stCxn id="160" idx="6"/>
            <a:endCxn id="164" idx="2"/>
          </p:cNvCxnSpPr>
          <p:nvPr/>
        </p:nvCxnSpPr>
        <p:spPr>
          <a:xfrm>
            <a:off x="6614047" y="1888469"/>
            <a:ext cx="428696" cy="557763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F907EB8F-69C1-0FB0-6F0E-DADB3A72E455}"/>
              </a:ext>
            </a:extLst>
          </p:cNvPr>
          <p:cNvCxnSpPr>
            <a:cxnSpLocks/>
            <a:stCxn id="161" idx="6"/>
            <a:endCxn id="164" idx="2"/>
          </p:cNvCxnSpPr>
          <p:nvPr/>
        </p:nvCxnSpPr>
        <p:spPr>
          <a:xfrm>
            <a:off x="6614047" y="2243196"/>
            <a:ext cx="428696" cy="203036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056B263B-1634-420F-B8D6-990A3AD5EA9E}"/>
              </a:ext>
            </a:extLst>
          </p:cNvPr>
          <p:cNvCxnSpPr>
            <a:cxnSpLocks/>
            <a:endCxn id="164" idx="2"/>
          </p:cNvCxnSpPr>
          <p:nvPr/>
        </p:nvCxnSpPr>
        <p:spPr>
          <a:xfrm flipV="1">
            <a:off x="6640912" y="2446232"/>
            <a:ext cx="401831" cy="78626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EC2C7D0B-4D0E-AB77-3EB2-1F1E62781703}"/>
              </a:ext>
            </a:extLst>
          </p:cNvPr>
          <p:cNvCxnSpPr>
            <a:cxnSpLocks/>
            <a:stCxn id="163" idx="6"/>
            <a:endCxn id="164" idx="2"/>
          </p:cNvCxnSpPr>
          <p:nvPr/>
        </p:nvCxnSpPr>
        <p:spPr>
          <a:xfrm flipV="1">
            <a:off x="6614047" y="2446232"/>
            <a:ext cx="428696" cy="461245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TextBox 188">
            <a:extLst>
              <a:ext uri="{FF2B5EF4-FFF2-40B4-BE49-F238E27FC236}">
                <a16:creationId xmlns:a16="http://schemas.microsoft.com/office/drawing/2014/main" id="{7FC64794-D115-84E6-3344-E25DFD5927C4}"/>
              </a:ext>
            </a:extLst>
          </p:cNvPr>
          <p:cNvSpPr txBox="1"/>
          <p:nvPr/>
        </p:nvSpPr>
        <p:spPr>
          <a:xfrm rot="5400000">
            <a:off x="5667240" y="2252039"/>
            <a:ext cx="41229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5D887B2D-DD9B-2480-FCD9-CE9A30424A7B}"/>
              </a:ext>
            </a:extLst>
          </p:cNvPr>
          <p:cNvSpPr txBox="1"/>
          <p:nvPr/>
        </p:nvSpPr>
        <p:spPr>
          <a:xfrm rot="5400000">
            <a:off x="6372108" y="2305017"/>
            <a:ext cx="41229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C38A4B7A-9917-E6DE-929F-A44545685475}"/>
              </a:ext>
            </a:extLst>
          </p:cNvPr>
          <p:cNvSpPr txBox="1"/>
          <p:nvPr/>
        </p:nvSpPr>
        <p:spPr>
          <a:xfrm>
            <a:off x="371767" y="4889178"/>
            <a:ext cx="16541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Node aggregates </a:t>
            </a:r>
          </a:p>
          <a:p>
            <a:pPr algn="ctr"/>
            <a:r>
              <a:rPr lang="en-US" sz="16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from Step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8E65882F-4EB2-AD09-407A-89FC1D583FC7}"/>
                  </a:ext>
                </a:extLst>
              </p:cNvPr>
              <p:cNvSpPr txBox="1"/>
              <p:nvPr/>
            </p:nvSpPr>
            <p:spPr>
              <a:xfrm>
                <a:off x="3606010" y="2318027"/>
                <a:ext cx="10107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[64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8E65882F-4EB2-AD09-407A-89FC1D583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6010" y="2318027"/>
                <a:ext cx="1010790" cy="276999"/>
              </a:xfrm>
              <a:prstGeom prst="rect">
                <a:avLst/>
              </a:prstGeom>
              <a:blipFill>
                <a:blip r:embed="rId4"/>
                <a:stretch>
                  <a:fillRect l="-10000" t="-8696" r="-5000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6A8FF8DA-7DDD-ED32-0DF1-7E655E4238E0}"/>
                  </a:ext>
                </a:extLst>
              </p:cNvPr>
              <p:cNvSpPr txBox="1"/>
              <p:nvPr/>
            </p:nvSpPr>
            <p:spPr>
              <a:xfrm>
                <a:off x="3472321" y="4707075"/>
                <a:ext cx="1488100" cy="299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[64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6A8FF8DA-7DDD-ED32-0DF1-7E655E423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321" y="4707075"/>
                <a:ext cx="1488100" cy="299313"/>
              </a:xfrm>
              <a:prstGeom prst="rect">
                <a:avLst/>
              </a:prstGeom>
              <a:blipFill>
                <a:blip r:embed="rId5"/>
                <a:stretch>
                  <a:fillRect l="-5932" t="-4000" r="-3390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55FD9F32-FB2B-4C68-7253-924E80A43BA1}"/>
                  </a:ext>
                </a:extLst>
              </p:cNvPr>
              <p:cNvSpPr txBox="1"/>
              <p:nvPr/>
            </p:nvSpPr>
            <p:spPr>
              <a:xfrm>
                <a:off x="3469115" y="5571259"/>
                <a:ext cx="1380699" cy="299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[64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55FD9F32-FB2B-4C68-7253-924E80A43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9115" y="5571259"/>
                <a:ext cx="1380699" cy="299313"/>
              </a:xfrm>
              <a:prstGeom prst="rect">
                <a:avLst/>
              </a:prstGeom>
              <a:blipFill>
                <a:blip r:embed="rId6"/>
                <a:stretch>
                  <a:fillRect l="-6364" t="-8000" r="-2727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B3A2BC58-6CBB-7047-A898-44653501C3D7}"/>
                  </a:ext>
                </a:extLst>
              </p:cNvPr>
              <p:cNvSpPr txBox="1"/>
              <p:nvPr/>
            </p:nvSpPr>
            <p:spPr>
              <a:xfrm>
                <a:off x="3469115" y="5988024"/>
                <a:ext cx="985783" cy="3032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[1</m:t>
                    </m:r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B3A2BC58-6CBB-7047-A898-44653501C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9115" y="5988024"/>
                <a:ext cx="985783" cy="303288"/>
              </a:xfrm>
              <a:prstGeom prst="rect">
                <a:avLst/>
              </a:prstGeom>
              <a:blipFill>
                <a:blip r:embed="rId7"/>
                <a:stretch>
                  <a:fillRect l="-8974" t="-8000" r="-3846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96" name="Table 195">
            <a:extLst>
              <a:ext uri="{FF2B5EF4-FFF2-40B4-BE49-F238E27FC236}">
                <a16:creationId xmlns:a16="http://schemas.microsoft.com/office/drawing/2014/main" id="{9F39536D-852A-8080-570E-F21632E6AE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660390"/>
              </p:ext>
            </p:extLst>
          </p:nvPr>
        </p:nvGraphicFramePr>
        <p:xfrm>
          <a:off x="1071096" y="3691330"/>
          <a:ext cx="208280" cy="115993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452158219"/>
                    </a:ext>
                  </a:extLst>
                </a:gridCol>
              </a:tblGrid>
              <a:tr h="231987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1799702"/>
                  </a:ext>
                </a:extLst>
              </a:tr>
              <a:tr h="231987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305068"/>
                  </a:ext>
                </a:extLst>
              </a:tr>
              <a:tr h="231987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803084"/>
                  </a:ext>
                </a:extLst>
              </a:tr>
              <a:tr h="231987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5388424"/>
                  </a:ext>
                </a:extLst>
              </a:tr>
              <a:tr h="231987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65846"/>
                  </a:ext>
                </a:extLst>
              </a:tr>
            </a:tbl>
          </a:graphicData>
        </a:graphic>
      </p:graphicFrame>
      <p:sp>
        <p:nvSpPr>
          <p:cNvPr id="197" name="Right Brace 196">
            <a:extLst>
              <a:ext uri="{FF2B5EF4-FFF2-40B4-BE49-F238E27FC236}">
                <a16:creationId xmlns:a16="http://schemas.microsoft.com/office/drawing/2014/main" id="{E5624C48-5A46-EC15-88DD-8B10676A786D}"/>
              </a:ext>
            </a:extLst>
          </p:cNvPr>
          <p:cNvSpPr/>
          <p:nvPr/>
        </p:nvSpPr>
        <p:spPr>
          <a:xfrm flipH="1">
            <a:off x="1888714" y="2122433"/>
            <a:ext cx="274319" cy="2613134"/>
          </a:xfrm>
          <a:prstGeom prst="rightBrace">
            <a:avLst>
              <a:gd name="adj1" fmla="val 78030"/>
              <a:gd name="adj2" fmla="val 50000"/>
            </a:avLst>
          </a:prstGeom>
          <a:ln w="381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D812D981-46E1-5E58-D5E1-FCBD61F46A69}"/>
              </a:ext>
            </a:extLst>
          </p:cNvPr>
          <p:cNvSpPr txBox="1"/>
          <p:nvPr/>
        </p:nvSpPr>
        <p:spPr>
          <a:xfrm>
            <a:off x="5480110" y="3310148"/>
            <a:ext cx="6270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64</a:t>
            </a:r>
          </a:p>
          <a:p>
            <a:pPr algn="ctr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A2C38212-7DDD-2702-46AF-EA895481D8C0}"/>
              </a:ext>
            </a:extLst>
          </p:cNvPr>
          <p:cNvSpPr txBox="1"/>
          <p:nvPr/>
        </p:nvSpPr>
        <p:spPr>
          <a:xfrm>
            <a:off x="6084792" y="3070738"/>
            <a:ext cx="784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32</a:t>
            </a:r>
          </a:p>
          <a:p>
            <a:pPr algn="ctr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Hidden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69FDF789-BDB5-1B9A-064A-283E5CEA92D5}"/>
              </a:ext>
            </a:extLst>
          </p:cNvPr>
          <p:cNvSpPr txBox="1"/>
          <p:nvPr/>
        </p:nvSpPr>
        <p:spPr>
          <a:xfrm>
            <a:off x="6612195" y="2615089"/>
            <a:ext cx="11658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  <a:p>
            <a:pPr algn="ctr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AF8EAE5D-2BEF-10E2-F96C-E0994356FBFA}"/>
              </a:ext>
            </a:extLst>
          </p:cNvPr>
          <p:cNvSpPr txBox="1"/>
          <p:nvPr/>
        </p:nvSpPr>
        <p:spPr>
          <a:xfrm>
            <a:off x="3462594" y="1917604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Node input: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5D2D60E4-EE20-C1D9-77C6-C22C03A6214F}"/>
              </a:ext>
            </a:extLst>
          </p:cNvPr>
          <p:cNvSpPr txBox="1"/>
          <p:nvPr/>
        </p:nvSpPr>
        <p:spPr>
          <a:xfrm>
            <a:off x="3376251" y="4306971"/>
            <a:ext cx="1262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Edge input: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B929749A-0618-CEC2-351A-55B537F97930}"/>
              </a:ext>
            </a:extLst>
          </p:cNvPr>
          <p:cNvSpPr txBox="1"/>
          <p:nvPr/>
        </p:nvSpPr>
        <p:spPr>
          <a:xfrm>
            <a:off x="2114834" y="1788501"/>
            <a:ext cx="12249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Node Existence Predictor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32FB6AF4-1ACF-AB57-3408-1FE78360DD57}"/>
              </a:ext>
            </a:extLst>
          </p:cNvPr>
          <p:cNvSpPr txBox="1"/>
          <p:nvPr/>
        </p:nvSpPr>
        <p:spPr>
          <a:xfrm>
            <a:off x="2235997" y="4229485"/>
            <a:ext cx="10615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Bond </a:t>
            </a:r>
          </a:p>
          <a:p>
            <a:pPr algn="ctr"/>
            <a:r>
              <a:rPr lang="en-US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Order </a:t>
            </a:r>
          </a:p>
          <a:p>
            <a:pPr algn="ctr"/>
            <a:r>
              <a:rPr lang="en-US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Predictor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B201A052-1F95-56B8-C2D7-6AFFA35EC6C6}"/>
              </a:ext>
            </a:extLst>
          </p:cNvPr>
          <p:cNvSpPr txBox="1"/>
          <p:nvPr/>
        </p:nvSpPr>
        <p:spPr>
          <a:xfrm>
            <a:off x="5550618" y="6239223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193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83FC4BC9-342C-E081-706E-DA219F3CE69A}"/>
              </a:ext>
            </a:extLst>
          </p:cNvPr>
          <p:cNvSpPr txBox="1"/>
          <p:nvPr/>
        </p:nvSpPr>
        <p:spPr>
          <a:xfrm>
            <a:off x="6153587" y="6144888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64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7B0452A5-CDEB-6A83-F24D-4ED9B6F930D9}"/>
                  </a:ext>
                </a:extLst>
              </p:cNvPr>
              <p:cNvSpPr txBox="1"/>
              <p:nvPr/>
            </p:nvSpPr>
            <p:spPr>
              <a:xfrm>
                <a:off x="3469115" y="5087608"/>
                <a:ext cx="1697644" cy="3230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[64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7B0452A5-CDEB-6A83-F24D-4ED9B6F93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9115" y="5087608"/>
                <a:ext cx="1697644" cy="323037"/>
              </a:xfrm>
              <a:prstGeom prst="rect">
                <a:avLst/>
              </a:prstGeom>
              <a:blipFill>
                <a:blip r:embed="rId8"/>
                <a:stretch>
                  <a:fillRect l="-741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3" name="Oval 232">
            <a:extLst>
              <a:ext uri="{FF2B5EF4-FFF2-40B4-BE49-F238E27FC236}">
                <a16:creationId xmlns:a16="http://schemas.microsoft.com/office/drawing/2014/main" id="{335B0378-4B35-6B81-C87B-CD868990791E}"/>
              </a:ext>
            </a:extLst>
          </p:cNvPr>
          <p:cNvSpPr/>
          <p:nvPr/>
        </p:nvSpPr>
        <p:spPr>
          <a:xfrm>
            <a:off x="5663331" y="4334763"/>
            <a:ext cx="274320" cy="2743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ACE7891C-1859-6FE0-0F60-9A6DB23556E0}"/>
              </a:ext>
            </a:extLst>
          </p:cNvPr>
          <p:cNvSpPr/>
          <p:nvPr/>
        </p:nvSpPr>
        <p:spPr>
          <a:xfrm>
            <a:off x="5663331" y="4666212"/>
            <a:ext cx="274320" cy="2743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Oval 234">
            <a:extLst>
              <a:ext uri="{FF2B5EF4-FFF2-40B4-BE49-F238E27FC236}">
                <a16:creationId xmlns:a16="http://schemas.microsoft.com/office/drawing/2014/main" id="{8DECCB22-0547-A57C-7FB7-91CA13FBC9BB}"/>
              </a:ext>
            </a:extLst>
          </p:cNvPr>
          <p:cNvSpPr/>
          <p:nvPr/>
        </p:nvSpPr>
        <p:spPr>
          <a:xfrm>
            <a:off x="5663331" y="5632895"/>
            <a:ext cx="274320" cy="2743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FB7FA76F-F390-32DA-82C2-B9F76F25C933}"/>
              </a:ext>
            </a:extLst>
          </p:cNvPr>
          <p:cNvSpPr/>
          <p:nvPr/>
        </p:nvSpPr>
        <p:spPr>
          <a:xfrm>
            <a:off x="5663331" y="5961947"/>
            <a:ext cx="274320" cy="2743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79BD9DB8-57C1-A2F1-22DE-072695D5FF12}"/>
              </a:ext>
            </a:extLst>
          </p:cNvPr>
          <p:cNvSpPr txBox="1"/>
          <p:nvPr/>
        </p:nvSpPr>
        <p:spPr>
          <a:xfrm rot="5400000">
            <a:off x="5679806" y="5242949"/>
            <a:ext cx="41229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BF997B2E-6981-D135-A39B-19D355EC71ED}"/>
              </a:ext>
            </a:extLst>
          </p:cNvPr>
          <p:cNvCxnSpPr>
            <a:cxnSpLocks/>
            <a:stCxn id="233" idx="6"/>
            <a:endCxn id="2" idx="2"/>
          </p:cNvCxnSpPr>
          <p:nvPr/>
        </p:nvCxnSpPr>
        <p:spPr>
          <a:xfrm>
            <a:off x="5937651" y="4471923"/>
            <a:ext cx="266794" cy="13716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237FBAA1-D5A2-0DCD-F6B3-A546A03C11FE}"/>
              </a:ext>
            </a:extLst>
          </p:cNvPr>
          <p:cNvCxnSpPr>
            <a:cxnSpLocks/>
            <a:stCxn id="233" idx="6"/>
            <a:endCxn id="38" idx="2"/>
          </p:cNvCxnSpPr>
          <p:nvPr/>
        </p:nvCxnSpPr>
        <p:spPr>
          <a:xfrm>
            <a:off x="5937651" y="4471923"/>
            <a:ext cx="266794" cy="473977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Oval 246">
            <a:extLst>
              <a:ext uri="{FF2B5EF4-FFF2-40B4-BE49-F238E27FC236}">
                <a16:creationId xmlns:a16="http://schemas.microsoft.com/office/drawing/2014/main" id="{F8816EF3-7937-1FCD-8B39-6B979674B17C}"/>
              </a:ext>
            </a:extLst>
          </p:cNvPr>
          <p:cNvSpPr/>
          <p:nvPr/>
        </p:nvSpPr>
        <p:spPr>
          <a:xfrm>
            <a:off x="5663331" y="4997621"/>
            <a:ext cx="274320" cy="2743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7BDE00D3-FAC9-BA17-EE73-1EC177A40799}"/>
              </a:ext>
            </a:extLst>
          </p:cNvPr>
          <p:cNvCxnSpPr>
            <a:cxnSpLocks/>
            <a:stCxn id="233" idx="6"/>
            <a:endCxn id="39" idx="2"/>
          </p:cNvCxnSpPr>
          <p:nvPr/>
        </p:nvCxnSpPr>
        <p:spPr>
          <a:xfrm>
            <a:off x="5937651" y="4471923"/>
            <a:ext cx="266794" cy="1160972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C024D7F4-9E47-03F4-7A83-AA6B7DE03D05}"/>
              </a:ext>
            </a:extLst>
          </p:cNvPr>
          <p:cNvCxnSpPr>
            <a:cxnSpLocks/>
            <a:stCxn id="233" idx="6"/>
            <a:endCxn id="46" idx="2"/>
          </p:cNvCxnSpPr>
          <p:nvPr/>
        </p:nvCxnSpPr>
        <p:spPr>
          <a:xfrm>
            <a:off x="5937651" y="4471923"/>
            <a:ext cx="266794" cy="1501244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AFFBFEA1-20DD-22BB-8876-8C696EDC1B78}"/>
              </a:ext>
            </a:extLst>
          </p:cNvPr>
          <p:cNvCxnSpPr>
            <a:cxnSpLocks/>
            <a:stCxn id="233" idx="6"/>
            <a:endCxn id="155" idx="2"/>
          </p:cNvCxnSpPr>
          <p:nvPr/>
        </p:nvCxnSpPr>
        <p:spPr>
          <a:xfrm>
            <a:off x="5937651" y="4471923"/>
            <a:ext cx="264942" cy="853516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055F5652-C97B-1B67-87FD-5AF9C0A349C5}"/>
              </a:ext>
            </a:extLst>
          </p:cNvPr>
          <p:cNvCxnSpPr>
            <a:cxnSpLocks/>
            <a:stCxn id="234" idx="6"/>
            <a:endCxn id="2" idx="2"/>
          </p:cNvCxnSpPr>
          <p:nvPr/>
        </p:nvCxnSpPr>
        <p:spPr>
          <a:xfrm flipV="1">
            <a:off x="5937651" y="4609083"/>
            <a:ext cx="266794" cy="194289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94A7F21-4827-3906-89EF-E8C2DAAA6A81}"/>
              </a:ext>
            </a:extLst>
          </p:cNvPr>
          <p:cNvCxnSpPr>
            <a:cxnSpLocks/>
            <a:stCxn id="234" idx="6"/>
            <a:endCxn id="38" idx="2"/>
          </p:cNvCxnSpPr>
          <p:nvPr/>
        </p:nvCxnSpPr>
        <p:spPr>
          <a:xfrm>
            <a:off x="5937651" y="4803372"/>
            <a:ext cx="266794" cy="142528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FBEDD693-0AE4-CC41-AC27-3E8B8B9E89B9}"/>
              </a:ext>
            </a:extLst>
          </p:cNvPr>
          <p:cNvCxnSpPr>
            <a:cxnSpLocks/>
            <a:stCxn id="234" idx="6"/>
            <a:endCxn id="39" idx="2"/>
          </p:cNvCxnSpPr>
          <p:nvPr/>
        </p:nvCxnSpPr>
        <p:spPr>
          <a:xfrm>
            <a:off x="5937651" y="4803372"/>
            <a:ext cx="266794" cy="829523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734B95D3-13A7-B8A6-9240-C7D52CDD334B}"/>
              </a:ext>
            </a:extLst>
          </p:cNvPr>
          <p:cNvCxnSpPr>
            <a:cxnSpLocks/>
            <a:stCxn id="234" idx="6"/>
            <a:endCxn id="155" idx="2"/>
          </p:cNvCxnSpPr>
          <p:nvPr/>
        </p:nvCxnSpPr>
        <p:spPr>
          <a:xfrm>
            <a:off x="5937651" y="4803372"/>
            <a:ext cx="264942" cy="522067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441E3427-2448-2887-CA86-F32E0FA3E570}"/>
              </a:ext>
            </a:extLst>
          </p:cNvPr>
          <p:cNvCxnSpPr>
            <a:cxnSpLocks/>
            <a:stCxn id="234" idx="6"/>
            <a:endCxn id="46" idx="2"/>
          </p:cNvCxnSpPr>
          <p:nvPr/>
        </p:nvCxnSpPr>
        <p:spPr>
          <a:xfrm>
            <a:off x="5937651" y="4803372"/>
            <a:ext cx="266794" cy="1169795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984C7676-A8E6-BC67-635F-7275A7496B5D}"/>
              </a:ext>
            </a:extLst>
          </p:cNvPr>
          <p:cNvCxnSpPr>
            <a:cxnSpLocks/>
            <a:stCxn id="247" idx="6"/>
            <a:endCxn id="2" idx="2"/>
          </p:cNvCxnSpPr>
          <p:nvPr/>
        </p:nvCxnSpPr>
        <p:spPr>
          <a:xfrm flipV="1">
            <a:off x="5937651" y="4609083"/>
            <a:ext cx="266794" cy="525698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337808C8-8D29-077E-79A8-6F756CEC1A0A}"/>
              </a:ext>
            </a:extLst>
          </p:cNvPr>
          <p:cNvCxnSpPr>
            <a:cxnSpLocks/>
            <a:stCxn id="247" idx="6"/>
            <a:endCxn id="38" idx="2"/>
          </p:cNvCxnSpPr>
          <p:nvPr/>
        </p:nvCxnSpPr>
        <p:spPr>
          <a:xfrm flipV="1">
            <a:off x="5937651" y="4945900"/>
            <a:ext cx="266794" cy="188881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3BD9C1E0-950E-886B-5EC8-014D6F83F1DF}"/>
              </a:ext>
            </a:extLst>
          </p:cNvPr>
          <p:cNvCxnSpPr>
            <a:cxnSpLocks/>
            <a:stCxn id="247" idx="6"/>
            <a:endCxn id="155" idx="2"/>
          </p:cNvCxnSpPr>
          <p:nvPr/>
        </p:nvCxnSpPr>
        <p:spPr>
          <a:xfrm>
            <a:off x="5937651" y="5134781"/>
            <a:ext cx="264942" cy="190658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B782F42D-62A3-18E7-CB47-89C6FF42E59C}"/>
              </a:ext>
            </a:extLst>
          </p:cNvPr>
          <p:cNvCxnSpPr>
            <a:cxnSpLocks/>
            <a:stCxn id="247" idx="6"/>
            <a:endCxn id="39" idx="2"/>
          </p:cNvCxnSpPr>
          <p:nvPr/>
        </p:nvCxnSpPr>
        <p:spPr>
          <a:xfrm>
            <a:off x="5937651" y="5134781"/>
            <a:ext cx="266794" cy="498114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4D9F6680-2463-9B09-A50C-9770633D017B}"/>
              </a:ext>
            </a:extLst>
          </p:cNvPr>
          <p:cNvCxnSpPr>
            <a:cxnSpLocks/>
            <a:stCxn id="247" idx="6"/>
            <a:endCxn id="46" idx="2"/>
          </p:cNvCxnSpPr>
          <p:nvPr/>
        </p:nvCxnSpPr>
        <p:spPr>
          <a:xfrm>
            <a:off x="5937651" y="5134781"/>
            <a:ext cx="266794" cy="838386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668E255C-6862-4A22-6CC0-B93227BE3B1A}"/>
              </a:ext>
            </a:extLst>
          </p:cNvPr>
          <p:cNvCxnSpPr>
            <a:cxnSpLocks/>
            <a:endCxn id="155" idx="2"/>
          </p:cNvCxnSpPr>
          <p:nvPr/>
        </p:nvCxnSpPr>
        <p:spPr>
          <a:xfrm flipV="1">
            <a:off x="5928273" y="5325439"/>
            <a:ext cx="274320" cy="170296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35C7BFD8-2A2E-9699-1A5D-B002FA2D032B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5928273" y="4609083"/>
            <a:ext cx="276172" cy="886652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978ADE97-56D0-FE73-555B-641CD91EDD41}"/>
              </a:ext>
            </a:extLst>
          </p:cNvPr>
          <p:cNvCxnSpPr>
            <a:cxnSpLocks/>
            <a:endCxn id="38" idx="2"/>
          </p:cNvCxnSpPr>
          <p:nvPr/>
        </p:nvCxnSpPr>
        <p:spPr>
          <a:xfrm flipV="1">
            <a:off x="5937651" y="4945900"/>
            <a:ext cx="266794" cy="549835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6FA058EF-EA1E-226C-B2D9-AD5C5619FB27}"/>
              </a:ext>
            </a:extLst>
          </p:cNvPr>
          <p:cNvCxnSpPr>
            <a:cxnSpLocks/>
            <a:endCxn id="39" idx="2"/>
          </p:cNvCxnSpPr>
          <p:nvPr/>
        </p:nvCxnSpPr>
        <p:spPr>
          <a:xfrm>
            <a:off x="5937651" y="5495735"/>
            <a:ext cx="266794" cy="13716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EC898EDB-916F-3CFC-3E0C-C73B47AE1CD1}"/>
              </a:ext>
            </a:extLst>
          </p:cNvPr>
          <p:cNvCxnSpPr>
            <a:cxnSpLocks/>
            <a:endCxn id="46" idx="2"/>
          </p:cNvCxnSpPr>
          <p:nvPr/>
        </p:nvCxnSpPr>
        <p:spPr>
          <a:xfrm>
            <a:off x="5930125" y="5495735"/>
            <a:ext cx="274320" cy="477432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74C39CEE-A1EB-209E-9A63-9BED1C1D87E1}"/>
              </a:ext>
            </a:extLst>
          </p:cNvPr>
          <p:cNvCxnSpPr>
            <a:cxnSpLocks/>
            <a:stCxn id="236" idx="6"/>
            <a:endCxn id="46" idx="2"/>
          </p:cNvCxnSpPr>
          <p:nvPr/>
        </p:nvCxnSpPr>
        <p:spPr>
          <a:xfrm flipV="1">
            <a:off x="5937651" y="5973167"/>
            <a:ext cx="266794" cy="12594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F0F3DE18-547E-CF52-9FC9-FD4DE817EA40}"/>
              </a:ext>
            </a:extLst>
          </p:cNvPr>
          <p:cNvCxnSpPr>
            <a:cxnSpLocks/>
            <a:stCxn id="236" idx="6"/>
            <a:endCxn id="39" idx="2"/>
          </p:cNvCxnSpPr>
          <p:nvPr/>
        </p:nvCxnSpPr>
        <p:spPr>
          <a:xfrm flipV="1">
            <a:off x="5937651" y="5632895"/>
            <a:ext cx="266794" cy="466212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E1BF086A-B6F3-C867-FD7A-EC2CBB1841A0}"/>
              </a:ext>
            </a:extLst>
          </p:cNvPr>
          <p:cNvCxnSpPr>
            <a:cxnSpLocks/>
            <a:stCxn id="236" idx="6"/>
            <a:endCxn id="155" idx="2"/>
          </p:cNvCxnSpPr>
          <p:nvPr/>
        </p:nvCxnSpPr>
        <p:spPr>
          <a:xfrm flipV="1">
            <a:off x="5937651" y="5325439"/>
            <a:ext cx="264942" cy="773668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D0C41B49-6638-23B8-655D-43991C83BDEE}"/>
              </a:ext>
            </a:extLst>
          </p:cNvPr>
          <p:cNvCxnSpPr>
            <a:cxnSpLocks/>
            <a:stCxn id="236" idx="6"/>
            <a:endCxn id="38" idx="2"/>
          </p:cNvCxnSpPr>
          <p:nvPr/>
        </p:nvCxnSpPr>
        <p:spPr>
          <a:xfrm flipV="1">
            <a:off x="5937651" y="4945900"/>
            <a:ext cx="266794" cy="1153207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BA133C9C-4FC4-9814-586B-3A149806527D}"/>
              </a:ext>
            </a:extLst>
          </p:cNvPr>
          <p:cNvCxnSpPr>
            <a:cxnSpLocks/>
            <a:stCxn id="236" idx="6"/>
          </p:cNvCxnSpPr>
          <p:nvPr/>
        </p:nvCxnSpPr>
        <p:spPr>
          <a:xfrm flipV="1">
            <a:off x="5937651" y="4609083"/>
            <a:ext cx="264942" cy="1490024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7A6717DA-6814-46E4-D33B-D64DB18D3970}"/>
              </a:ext>
            </a:extLst>
          </p:cNvPr>
          <p:cNvCxnSpPr>
            <a:cxnSpLocks/>
            <a:stCxn id="235" idx="6"/>
            <a:endCxn id="46" idx="2"/>
          </p:cNvCxnSpPr>
          <p:nvPr/>
        </p:nvCxnSpPr>
        <p:spPr>
          <a:xfrm>
            <a:off x="5937651" y="5770055"/>
            <a:ext cx="266794" cy="203112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10B10655-C735-4DDD-996D-E0AB5810804E}"/>
              </a:ext>
            </a:extLst>
          </p:cNvPr>
          <p:cNvCxnSpPr>
            <a:cxnSpLocks/>
            <a:stCxn id="235" idx="6"/>
            <a:endCxn id="39" idx="2"/>
          </p:cNvCxnSpPr>
          <p:nvPr/>
        </p:nvCxnSpPr>
        <p:spPr>
          <a:xfrm flipV="1">
            <a:off x="5937651" y="5632895"/>
            <a:ext cx="266794" cy="13716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60951902-B787-8206-361C-1B804AC00993}"/>
              </a:ext>
            </a:extLst>
          </p:cNvPr>
          <p:cNvCxnSpPr>
            <a:cxnSpLocks/>
            <a:stCxn id="235" idx="6"/>
            <a:endCxn id="155" idx="2"/>
          </p:cNvCxnSpPr>
          <p:nvPr/>
        </p:nvCxnSpPr>
        <p:spPr>
          <a:xfrm flipV="1">
            <a:off x="5937651" y="5325439"/>
            <a:ext cx="264942" cy="444616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84AA6102-5342-E32E-386D-EB6B4DCC30F2}"/>
              </a:ext>
            </a:extLst>
          </p:cNvPr>
          <p:cNvCxnSpPr>
            <a:cxnSpLocks/>
            <a:stCxn id="235" idx="6"/>
            <a:endCxn id="38" idx="2"/>
          </p:cNvCxnSpPr>
          <p:nvPr/>
        </p:nvCxnSpPr>
        <p:spPr>
          <a:xfrm flipV="1">
            <a:off x="5937651" y="4945900"/>
            <a:ext cx="266794" cy="824155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5385DC37-03B0-B88E-7B4C-8D8650FA0DBD}"/>
              </a:ext>
            </a:extLst>
          </p:cNvPr>
          <p:cNvCxnSpPr>
            <a:cxnSpLocks/>
            <a:stCxn id="235" idx="6"/>
            <a:endCxn id="2" idx="2"/>
          </p:cNvCxnSpPr>
          <p:nvPr/>
        </p:nvCxnSpPr>
        <p:spPr>
          <a:xfrm flipV="1">
            <a:off x="5937651" y="4609083"/>
            <a:ext cx="266794" cy="1160972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1" name="TextBox 350">
            <a:extLst>
              <a:ext uri="{FF2B5EF4-FFF2-40B4-BE49-F238E27FC236}">
                <a16:creationId xmlns:a16="http://schemas.microsoft.com/office/drawing/2014/main" id="{1E63110D-6838-5B3C-846B-96504DDA8210}"/>
              </a:ext>
            </a:extLst>
          </p:cNvPr>
          <p:cNvSpPr txBox="1"/>
          <p:nvPr/>
        </p:nvSpPr>
        <p:spPr>
          <a:xfrm>
            <a:off x="6777138" y="5917385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32</a:t>
            </a:r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CA4F7FDB-C25D-B50D-4149-3C15EA2E440C}"/>
              </a:ext>
            </a:extLst>
          </p:cNvPr>
          <p:cNvSpPr txBox="1"/>
          <p:nvPr/>
        </p:nvSpPr>
        <p:spPr>
          <a:xfrm>
            <a:off x="7445602" y="5484141"/>
            <a:ext cx="288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43745D80-32EB-B803-7CBE-6BBFF3FB71FD}"/>
              </a:ext>
            </a:extLst>
          </p:cNvPr>
          <p:cNvSpPr/>
          <p:nvPr/>
        </p:nvSpPr>
        <p:spPr>
          <a:xfrm>
            <a:off x="8132389" y="1852829"/>
            <a:ext cx="3894249" cy="38035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4" name="TextBox 353">
                <a:extLst>
                  <a:ext uri="{FF2B5EF4-FFF2-40B4-BE49-F238E27FC236}">
                    <a16:creationId xmlns:a16="http://schemas.microsoft.com/office/drawing/2014/main" id="{7C9849A8-6A6A-992F-0B75-004A6AC86768}"/>
                  </a:ext>
                </a:extLst>
              </p:cNvPr>
              <p:cNvSpPr txBox="1"/>
              <p:nvPr/>
            </p:nvSpPr>
            <p:spPr>
              <a:xfrm>
                <a:off x="8132389" y="1867519"/>
                <a:ext cx="414915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Total loss function</a:t>
                </a:r>
              </a:p>
              <a:p>
                <a:endParaRPr lang="en-US" sz="1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sz="3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𝐿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𝑡𝑜𝑡𝑎𝑙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𝐿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𝑒𝑥𝑖𝑠𝑡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𝐿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𝑏𝑜𝑛𝑑𝑠</m:t>
                          </m:r>
                        </m:sub>
                      </m:sSub>
                    </m:oMath>
                  </m:oMathPara>
                </a14:m>
                <a:endParaRPr 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54" name="TextBox 353">
                <a:extLst>
                  <a:ext uri="{FF2B5EF4-FFF2-40B4-BE49-F238E27FC236}">
                    <a16:creationId xmlns:a16="http://schemas.microsoft.com/office/drawing/2014/main" id="{7C9849A8-6A6A-992F-0B75-004A6AC867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2389" y="1867519"/>
                <a:ext cx="4149153" cy="646331"/>
              </a:xfrm>
              <a:prstGeom prst="rect">
                <a:avLst/>
              </a:prstGeom>
              <a:blipFill>
                <a:blip r:embed="rId9"/>
                <a:stretch>
                  <a:fillRect l="-915" t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5" name="TextBox 354">
                <a:extLst>
                  <a:ext uri="{FF2B5EF4-FFF2-40B4-BE49-F238E27FC236}">
                    <a16:creationId xmlns:a16="http://schemas.microsoft.com/office/drawing/2014/main" id="{052F0F4B-CBA3-4158-8260-7BFF12C43A68}"/>
                  </a:ext>
                </a:extLst>
              </p:cNvPr>
              <p:cNvSpPr txBox="1"/>
              <p:nvPr/>
            </p:nvSpPr>
            <p:spPr>
              <a:xfrm>
                <a:off x="8231643" y="3842212"/>
                <a:ext cx="3751243" cy="2836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𝑏𝑜𝑛𝑑𝑠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𝑏𝑜𝑛𝑑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𝑀𝑆𝐸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𝐵𝑂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𝐺𝑁𝑁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𝐵𝑂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𝑡𝑟𝑢𝑒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55" name="TextBox 354">
                <a:extLst>
                  <a:ext uri="{FF2B5EF4-FFF2-40B4-BE49-F238E27FC236}">
                    <a16:creationId xmlns:a16="http://schemas.microsoft.com/office/drawing/2014/main" id="{052F0F4B-CBA3-4158-8260-7BFF12C43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1643" y="3842212"/>
                <a:ext cx="3751243" cy="283667"/>
              </a:xfrm>
              <a:prstGeom prst="rect">
                <a:avLst/>
              </a:prstGeom>
              <a:blipFill>
                <a:blip r:embed="rId10"/>
                <a:stretch>
                  <a:fillRect l="-2027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6" name="TextBox 355">
                <a:extLst>
                  <a:ext uri="{FF2B5EF4-FFF2-40B4-BE49-F238E27FC236}">
                    <a16:creationId xmlns:a16="http://schemas.microsoft.com/office/drawing/2014/main" id="{C0644887-C1CC-A85D-5CA1-3AFED6EF480E}"/>
                  </a:ext>
                </a:extLst>
              </p:cNvPr>
              <p:cNvSpPr txBox="1"/>
              <p:nvPr/>
            </p:nvSpPr>
            <p:spPr>
              <a:xfrm>
                <a:off x="8217855" y="2849575"/>
                <a:ext cx="3480309" cy="2779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𝑒𝑥𝑖𝑠𝑡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𝑒𝑥𝑖𝑠𝑡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𝐵𝐶𝐸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𝐺𝑁𝑁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𝑡𝑟𝑢𝑒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56" name="TextBox 355">
                <a:extLst>
                  <a:ext uri="{FF2B5EF4-FFF2-40B4-BE49-F238E27FC236}">
                    <a16:creationId xmlns:a16="http://schemas.microsoft.com/office/drawing/2014/main" id="{C0644887-C1CC-A85D-5CA1-3AFED6EF48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7855" y="2849575"/>
                <a:ext cx="3480309" cy="277961"/>
              </a:xfrm>
              <a:prstGeom prst="rect">
                <a:avLst/>
              </a:prstGeom>
              <a:blipFill>
                <a:blip r:embed="rId11"/>
                <a:stretch>
                  <a:fillRect l="-2182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7" name="TextBox 356">
            <a:extLst>
              <a:ext uri="{FF2B5EF4-FFF2-40B4-BE49-F238E27FC236}">
                <a16:creationId xmlns:a16="http://schemas.microsoft.com/office/drawing/2014/main" id="{B944B6FD-E235-A5AA-0EDD-59CE929B89D2}"/>
              </a:ext>
            </a:extLst>
          </p:cNvPr>
          <p:cNvSpPr txBox="1"/>
          <p:nvPr/>
        </p:nvSpPr>
        <p:spPr>
          <a:xfrm>
            <a:off x="8149875" y="2487009"/>
            <a:ext cx="7141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where</a:t>
            </a:r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4BB2C9E7-620D-63B8-3AC4-7BAD02C3AC82}"/>
              </a:ext>
            </a:extLst>
          </p:cNvPr>
          <p:cNvSpPr txBox="1"/>
          <p:nvPr/>
        </p:nvSpPr>
        <p:spPr>
          <a:xfrm>
            <a:off x="9647343" y="4392576"/>
            <a:ext cx="2327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BO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bond order of the </a:t>
            </a:r>
            <a:r>
              <a:rPr lang="en-US" sz="1400" i="1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j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pair</a:t>
            </a:r>
          </a:p>
        </p:txBody>
      </p:sp>
      <p:sp>
        <p:nvSpPr>
          <p:cNvPr id="359" name="Right Brace 358">
            <a:extLst>
              <a:ext uri="{FF2B5EF4-FFF2-40B4-BE49-F238E27FC236}">
                <a16:creationId xmlns:a16="http://schemas.microsoft.com/office/drawing/2014/main" id="{44E74A11-AED8-745D-2D14-6B7FDA49D1DA}"/>
              </a:ext>
            </a:extLst>
          </p:cNvPr>
          <p:cNvSpPr/>
          <p:nvPr/>
        </p:nvSpPr>
        <p:spPr>
          <a:xfrm rot="5400000">
            <a:off x="10736316" y="3716418"/>
            <a:ext cx="184804" cy="1119329"/>
          </a:xfrm>
          <a:prstGeom prst="rightBrace">
            <a:avLst>
              <a:gd name="adj1" fmla="val 0"/>
              <a:gd name="adj2" fmla="val 4922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0" name="Right Brace 359">
            <a:extLst>
              <a:ext uri="{FF2B5EF4-FFF2-40B4-BE49-F238E27FC236}">
                <a16:creationId xmlns:a16="http://schemas.microsoft.com/office/drawing/2014/main" id="{DE071674-C5D4-E906-7F86-97B506790308}"/>
              </a:ext>
            </a:extLst>
          </p:cNvPr>
          <p:cNvSpPr/>
          <p:nvPr/>
        </p:nvSpPr>
        <p:spPr>
          <a:xfrm rot="5400000">
            <a:off x="10543386" y="2852945"/>
            <a:ext cx="184804" cy="857647"/>
          </a:xfrm>
          <a:prstGeom prst="rightBrace">
            <a:avLst>
              <a:gd name="adj1" fmla="val 0"/>
              <a:gd name="adj2" fmla="val 4922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92A82783-7FE4-2EEA-31B5-50BA06C524B5}"/>
              </a:ext>
            </a:extLst>
          </p:cNvPr>
          <p:cNvSpPr txBox="1"/>
          <p:nvPr/>
        </p:nvSpPr>
        <p:spPr>
          <a:xfrm>
            <a:off x="9700213" y="3346582"/>
            <a:ext cx="2137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probability of a node </a:t>
            </a:r>
            <a:r>
              <a:rPr lang="en-US" sz="1400" i="1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within a species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3" name="TextBox 362">
                <a:extLst>
                  <a:ext uri="{FF2B5EF4-FFF2-40B4-BE49-F238E27FC236}">
                    <a16:creationId xmlns:a16="http://schemas.microsoft.com/office/drawing/2014/main" id="{21448EAA-4F16-A8B3-DB3A-45813654F0F3}"/>
                  </a:ext>
                </a:extLst>
              </p:cNvPr>
              <p:cNvSpPr txBox="1"/>
              <p:nvPr/>
            </p:nvSpPr>
            <p:spPr>
              <a:xfrm>
                <a:off x="6841827" y="3069241"/>
                <a:ext cx="795130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𝐺𝑁𝑁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63" name="TextBox 362">
                <a:extLst>
                  <a:ext uri="{FF2B5EF4-FFF2-40B4-BE49-F238E27FC236}">
                    <a16:creationId xmlns:a16="http://schemas.microsoft.com/office/drawing/2014/main" id="{21448EAA-4F16-A8B3-DB3A-45813654F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1827" y="3069241"/>
                <a:ext cx="795130" cy="381515"/>
              </a:xfrm>
              <a:prstGeom prst="rect">
                <a:avLst/>
              </a:prstGeom>
              <a:blipFill>
                <a:blip r:embed="rId12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6" name="TextBox 365">
                <a:extLst>
                  <a:ext uri="{FF2B5EF4-FFF2-40B4-BE49-F238E27FC236}">
                    <a16:creationId xmlns:a16="http://schemas.microsoft.com/office/drawing/2014/main" id="{314F7ABD-C96A-93B8-FECF-FA9966C7AD46}"/>
                  </a:ext>
                </a:extLst>
              </p:cNvPr>
              <p:cNvSpPr txBox="1"/>
              <p:nvPr/>
            </p:nvSpPr>
            <p:spPr>
              <a:xfrm>
                <a:off x="7257091" y="5742350"/>
                <a:ext cx="1054712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𝐵𝑂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𝐺𝑁𝑁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6" name="TextBox 365">
                <a:extLst>
                  <a:ext uri="{FF2B5EF4-FFF2-40B4-BE49-F238E27FC236}">
                    <a16:creationId xmlns:a16="http://schemas.microsoft.com/office/drawing/2014/main" id="{314F7ABD-C96A-93B8-FECF-FA9966C7AD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7091" y="5742350"/>
                <a:ext cx="1054712" cy="391646"/>
              </a:xfrm>
              <a:prstGeom prst="rect">
                <a:avLst/>
              </a:prstGeom>
              <a:blipFill>
                <a:blip r:embed="rId13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7" name="Right Arrow 366">
            <a:extLst>
              <a:ext uri="{FF2B5EF4-FFF2-40B4-BE49-F238E27FC236}">
                <a16:creationId xmlns:a16="http://schemas.microsoft.com/office/drawing/2014/main" id="{DEFD77FF-FE92-E107-F5BE-00B07B19C0DF}"/>
              </a:ext>
            </a:extLst>
          </p:cNvPr>
          <p:cNvSpPr/>
          <p:nvPr/>
        </p:nvSpPr>
        <p:spPr>
          <a:xfrm>
            <a:off x="4967187" y="2111027"/>
            <a:ext cx="446226" cy="463948"/>
          </a:xfrm>
          <a:prstGeom prst="rightArrow">
            <a:avLst>
              <a:gd name="adj1" fmla="val 62160"/>
              <a:gd name="adj2" fmla="val 55164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8" name="Right Arrow 367">
            <a:extLst>
              <a:ext uri="{FF2B5EF4-FFF2-40B4-BE49-F238E27FC236}">
                <a16:creationId xmlns:a16="http://schemas.microsoft.com/office/drawing/2014/main" id="{1C92957A-C7F9-CB19-16E3-73FE8D068113}"/>
              </a:ext>
            </a:extLst>
          </p:cNvPr>
          <p:cNvSpPr/>
          <p:nvPr/>
        </p:nvSpPr>
        <p:spPr>
          <a:xfrm>
            <a:off x="5188633" y="5061670"/>
            <a:ext cx="446226" cy="463948"/>
          </a:xfrm>
          <a:prstGeom prst="rightArrow">
            <a:avLst>
              <a:gd name="adj1" fmla="val 62160"/>
              <a:gd name="adj2" fmla="val 55164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941AFE5D-B125-CD74-5715-0737D304262B}"/>
              </a:ext>
            </a:extLst>
          </p:cNvPr>
          <p:cNvSpPr txBox="1"/>
          <p:nvPr/>
        </p:nvSpPr>
        <p:spPr>
          <a:xfrm>
            <a:off x="8154691" y="4752219"/>
            <a:ext cx="3794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for now, the weights of loss are 1 to 1 ratio: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2" name="TextBox 371">
                <a:extLst>
                  <a:ext uri="{FF2B5EF4-FFF2-40B4-BE49-F238E27FC236}">
                    <a16:creationId xmlns:a16="http://schemas.microsoft.com/office/drawing/2014/main" id="{CBDF1ECC-812D-8FED-BD72-4E0FEAE966A0}"/>
                  </a:ext>
                </a:extLst>
              </p:cNvPr>
              <p:cNvSpPr txBox="1"/>
              <p:nvPr/>
            </p:nvSpPr>
            <p:spPr>
              <a:xfrm>
                <a:off x="9247351" y="5129923"/>
                <a:ext cx="183762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𝑏𝑜𝑛𝑑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𝑏𝑜𝑛𝑑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=1:1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72" name="TextBox 371">
                <a:extLst>
                  <a:ext uri="{FF2B5EF4-FFF2-40B4-BE49-F238E27FC236}">
                    <a16:creationId xmlns:a16="http://schemas.microsoft.com/office/drawing/2014/main" id="{CBDF1ECC-812D-8FED-BD72-4E0FEAE96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7351" y="5129923"/>
                <a:ext cx="1837625" cy="3385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D09F96D-491E-D43B-8CBB-D5241049BB6F}"/>
                  </a:ext>
                </a:extLst>
              </p:cNvPr>
              <p:cNvSpPr txBox="1"/>
              <p:nvPr/>
            </p:nvSpPr>
            <p:spPr>
              <a:xfrm>
                <a:off x="2387909" y="2624446"/>
                <a:ext cx="795130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𝐺𝑁𝑁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D09F96D-491E-D43B-8CBB-D5241049BB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7909" y="2624446"/>
                <a:ext cx="795130" cy="381515"/>
              </a:xfrm>
              <a:prstGeom prst="rect">
                <a:avLst/>
              </a:prstGeom>
              <a:blipFill>
                <a:blip r:embed="rId15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A9DEF0-E9C5-A0BE-51C8-E25EBE21FC2D}"/>
                  </a:ext>
                </a:extLst>
              </p:cNvPr>
              <p:cNvSpPr txBox="1"/>
              <p:nvPr/>
            </p:nvSpPr>
            <p:spPr>
              <a:xfrm>
                <a:off x="2219005" y="5119293"/>
                <a:ext cx="1054712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𝐵𝑂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𝐺𝑁𝑁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A9DEF0-E9C5-A0BE-51C8-E25EBE21F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9005" y="5119293"/>
                <a:ext cx="1054712" cy="391646"/>
              </a:xfrm>
              <a:prstGeom prst="rect">
                <a:avLst/>
              </a:prstGeom>
              <a:blipFill>
                <a:blip r:embed="rId16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3991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7D2F7-BE1B-71E6-0186-C0F48C745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80CBCCE-F412-64A7-7467-5DA1284530B3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EEB7F10-5708-0010-C31B-00AD897E2C49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Training data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F49EBD9-A44B-7E27-C203-D95F5330D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CF7D-2046-C245-B30D-A7832F828C2B}" type="slidenum">
              <a:rPr lang="en-US" smtClean="0"/>
              <a:t>8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50BA44-98A0-6D34-C006-4163F0C87828}"/>
              </a:ext>
            </a:extLst>
          </p:cNvPr>
          <p:cNvSpPr txBox="1"/>
          <p:nvPr/>
        </p:nvSpPr>
        <p:spPr>
          <a:xfrm>
            <a:off x="271249" y="1041836"/>
            <a:ext cx="6625707" cy="1438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600" b="1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Types of the training data</a:t>
            </a:r>
          </a:p>
          <a:p>
            <a:pPr marL="285750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Graphs with variations in interatomic distances generated randomly. </a:t>
            </a:r>
          </a:p>
          <a:p>
            <a:pPr marL="285750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Existing species of H/O system are: H</a:t>
            </a:r>
            <a:r>
              <a:rPr lang="en-US" sz="1600" baseline="-250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6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O</a:t>
            </a:r>
            <a:r>
              <a:rPr lang="en-US" sz="1600" baseline="-250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6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H, O, OH, H</a:t>
            </a:r>
            <a:r>
              <a:rPr lang="en-US" sz="1600" baseline="-250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6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O, HO</a:t>
            </a:r>
            <a:r>
              <a:rPr lang="en-US" sz="1600" baseline="-250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6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&amp; H</a:t>
            </a:r>
            <a:r>
              <a:rPr lang="en-US" sz="1600" baseline="-250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6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sz="1600" baseline="-250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6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bond order information of the existing species will be estimated based on their inter-node distances (e.g., using </a:t>
            </a:r>
            <a:r>
              <a:rPr lang="en-US" sz="1600" u="sng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Pauling bond order estimation</a:t>
            </a:r>
            <a:r>
              <a:rPr lang="en-US" sz="16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).  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37ADC5D-7DDB-D0D1-518F-E26BB6144940}"/>
              </a:ext>
            </a:extLst>
          </p:cNvPr>
          <p:cNvSpPr/>
          <p:nvPr/>
        </p:nvSpPr>
        <p:spPr>
          <a:xfrm>
            <a:off x="492586" y="4031041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D7EA3C7-4E2D-D142-1EF1-35C963664985}"/>
              </a:ext>
            </a:extLst>
          </p:cNvPr>
          <p:cNvSpPr/>
          <p:nvPr/>
        </p:nvSpPr>
        <p:spPr>
          <a:xfrm>
            <a:off x="1918443" y="4051459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985B49-8B15-1498-5370-3896C7929C2F}"/>
              </a:ext>
            </a:extLst>
          </p:cNvPr>
          <p:cNvSpPr txBox="1"/>
          <p:nvPr/>
        </p:nvSpPr>
        <p:spPr>
          <a:xfrm>
            <a:off x="559564" y="4079828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F9D462-3E14-68B7-29F8-E00F0A411C74}"/>
              </a:ext>
            </a:extLst>
          </p:cNvPr>
          <p:cNvSpPr txBox="1"/>
          <p:nvPr/>
        </p:nvSpPr>
        <p:spPr>
          <a:xfrm>
            <a:off x="1981357" y="4100246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948E567-C275-1A27-B76A-81FE9CEC176D}"/>
              </a:ext>
            </a:extLst>
          </p:cNvPr>
          <p:cNvSpPr/>
          <p:nvPr/>
        </p:nvSpPr>
        <p:spPr>
          <a:xfrm>
            <a:off x="390608" y="4953251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805C37F-6A0C-8292-1F16-2292BF1AE3E2}"/>
              </a:ext>
            </a:extLst>
          </p:cNvPr>
          <p:cNvSpPr/>
          <p:nvPr/>
        </p:nvSpPr>
        <p:spPr>
          <a:xfrm>
            <a:off x="1946142" y="5044355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A132A1-B58E-22B5-8E50-A5F88438B594}"/>
              </a:ext>
            </a:extLst>
          </p:cNvPr>
          <p:cNvSpPr txBox="1"/>
          <p:nvPr/>
        </p:nvSpPr>
        <p:spPr>
          <a:xfrm>
            <a:off x="447265" y="5012112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9D255D-8BCA-A3DD-DFE5-D57246A1790C}"/>
              </a:ext>
            </a:extLst>
          </p:cNvPr>
          <p:cNvSpPr txBox="1"/>
          <p:nvPr/>
        </p:nvSpPr>
        <p:spPr>
          <a:xfrm>
            <a:off x="2013097" y="5073362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A917BEB-16B9-AA7E-3874-3E43318C1433}"/>
              </a:ext>
            </a:extLst>
          </p:cNvPr>
          <p:cNvCxnSpPr>
            <a:cxnSpLocks/>
            <a:stCxn id="3" idx="4"/>
            <a:endCxn id="9" idx="0"/>
          </p:cNvCxnSpPr>
          <p:nvPr/>
        </p:nvCxnSpPr>
        <p:spPr>
          <a:xfrm flipH="1">
            <a:off x="619208" y="4488241"/>
            <a:ext cx="101978" cy="46501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6D3A412-3BDD-500C-6E1E-DA3237EF15ED}"/>
              </a:ext>
            </a:extLst>
          </p:cNvPr>
          <p:cNvCxnSpPr>
            <a:cxnSpLocks/>
            <a:stCxn id="4" idx="2"/>
            <a:endCxn id="3" idx="6"/>
          </p:cNvCxnSpPr>
          <p:nvPr/>
        </p:nvCxnSpPr>
        <p:spPr>
          <a:xfrm flipH="1" flipV="1">
            <a:off x="949786" y="4259641"/>
            <a:ext cx="968657" cy="20418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601D56F-4298-4E3C-E286-E4024566AD3F}"/>
              </a:ext>
            </a:extLst>
          </p:cNvPr>
          <p:cNvCxnSpPr>
            <a:cxnSpLocks/>
            <a:stCxn id="10" idx="0"/>
            <a:endCxn id="4" idx="4"/>
          </p:cNvCxnSpPr>
          <p:nvPr/>
        </p:nvCxnSpPr>
        <p:spPr>
          <a:xfrm flipH="1" flipV="1">
            <a:off x="2147043" y="4508659"/>
            <a:ext cx="27699" cy="53569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6133846-EBB2-22F4-31F2-504A214BE957}"/>
              </a:ext>
            </a:extLst>
          </p:cNvPr>
          <p:cNvCxnSpPr>
            <a:cxnSpLocks/>
            <a:stCxn id="10" idx="2"/>
            <a:endCxn id="9" idx="6"/>
          </p:cNvCxnSpPr>
          <p:nvPr/>
        </p:nvCxnSpPr>
        <p:spPr>
          <a:xfrm flipH="1" flipV="1">
            <a:off x="847808" y="5181851"/>
            <a:ext cx="1098334" cy="91104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5A15F5-F9B6-7B2F-F2D2-803CCCAC0B52}"/>
              </a:ext>
            </a:extLst>
          </p:cNvPr>
          <p:cNvCxnSpPr>
            <a:cxnSpLocks/>
            <a:stCxn id="4" idx="3"/>
            <a:endCxn id="9" idx="7"/>
          </p:cNvCxnSpPr>
          <p:nvPr/>
        </p:nvCxnSpPr>
        <p:spPr>
          <a:xfrm flipH="1">
            <a:off x="780853" y="4441704"/>
            <a:ext cx="1204545" cy="578502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B9BBAD7-628D-CEF5-C854-A0EA48FAB4A9}"/>
              </a:ext>
            </a:extLst>
          </p:cNvPr>
          <p:cNvCxnSpPr>
            <a:cxnSpLocks/>
            <a:stCxn id="10" idx="1"/>
            <a:endCxn id="3" idx="5"/>
          </p:cNvCxnSpPr>
          <p:nvPr/>
        </p:nvCxnSpPr>
        <p:spPr>
          <a:xfrm flipH="1" flipV="1">
            <a:off x="882831" y="4421286"/>
            <a:ext cx="1130266" cy="690024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39D4912A-A088-2BB7-2248-CC54021437C5}"/>
              </a:ext>
            </a:extLst>
          </p:cNvPr>
          <p:cNvSpPr/>
          <p:nvPr/>
        </p:nvSpPr>
        <p:spPr>
          <a:xfrm>
            <a:off x="3207889" y="3876284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15F872F-726F-9761-E4F0-C51818796408}"/>
              </a:ext>
            </a:extLst>
          </p:cNvPr>
          <p:cNvSpPr/>
          <p:nvPr/>
        </p:nvSpPr>
        <p:spPr>
          <a:xfrm>
            <a:off x="4111323" y="3876284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D4ED82D-E1E4-36ED-ACA9-F9A0D87AF696}"/>
              </a:ext>
            </a:extLst>
          </p:cNvPr>
          <p:cNvSpPr txBox="1"/>
          <p:nvPr/>
        </p:nvSpPr>
        <p:spPr>
          <a:xfrm>
            <a:off x="3274867" y="3925071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2416042-A1D6-C2B4-C6B7-4C229C645259}"/>
              </a:ext>
            </a:extLst>
          </p:cNvPr>
          <p:cNvSpPr txBox="1"/>
          <p:nvPr/>
        </p:nvSpPr>
        <p:spPr>
          <a:xfrm>
            <a:off x="4174237" y="392507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0FD686E-BE88-7F5F-BDEB-61A98C0227C4}"/>
              </a:ext>
            </a:extLst>
          </p:cNvPr>
          <p:cNvSpPr/>
          <p:nvPr/>
        </p:nvSpPr>
        <p:spPr>
          <a:xfrm>
            <a:off x="2800857" y="5253525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E5EE81E-8806-6C83-E210-882F2EB0EF65}"/>
              </a:ext>
            </a:extLst>
          </p:cNvPr>
          <p:cNvSpPr/>
          <p:nvPr/>
        </p:nvSpPr>
        <p:spPr>
          <a:xfrm>
            <a:off x="4444234" y="5312386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4B7ED70-B9FB-E4A9-C5EA-03C462E712D0}"/>
              </a:ext>
            </a:extLst>
          </p:cNvPr>
          <p:cNvSpPr txBox="1"/>
          <p:nvPr/>
        </p:nvSpPr>
        <p:spPr>
          <a:xfrm>
            <a:off x="2857514" y="5312386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F4DA350-AF0B-15A8-0A4E-0C05330B3D56}"/>
              </a:ext>
            </a:extLst>
          </p:cNvPr>
          <p:cNvSpPr txBox="1"/>
          <p:nvPr/>
        </p:nvSpPr>
        <p:spPr>
          <a:xfrm>
            <a:off x="4511189" y="5341393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0F5E71B4-FCC7-2CA9-D4C5-5B8BC5DEDF55}"/>
              </a:ext>
            </a:extLst>
          </p:cNvPr>
          <p:cNvCxnSpPr>
            <a:cxnSpLocks/>
            <a:stCxn id="44" idx="4"/>
            <a:endCxn id="57" idx="0"/>
          </p:cNvCxnSpPr>
          <p:nvPr/>
        </p:nvCxnSpPr>
        <p:spPr>
          <a:xfrm flipH="1">
            <a:off x="3029457" y="4333484"/>
            <a:ext cx="407032" cy="920041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338A3AA-EA0B-1852-5D09-E3FAD8CBD78D}"/>
              </a:ext>
            </a:extLst>
          </p:cNvPr>
          <p:cNvCxnSpPr>
            <a:cxnSpLocks/>
            <a:stCxn id="45" idx="2"/>
            <a:endCxn id="44" idx="6"/>
          </p:cNvCxnSpPr>
          <p:nvPr/>
        </p:nvCxnSpPr>
        <p:spPr>
          <a:xfrm flipH="1">
            <a:off x="3665089" y="4104884"/>
            <a:ext cx="446234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4A041E5-1351-CB55-2DFB-DEE7C0F3DA04}"/>
              </a:ext>
            </a:extLst>
          </p:cNvPr>
          <p:cNvCxnSpPr>
            <a:cxnSpLocks/>
            <a:stCxn id="58" idx="0"/>
            <a:endCxn id="45" idx="4"/>
          </p:cNvCxnSpPr>
          <p:nvPr/>
        </p:nvCxnSpPr>
        <p:spPr>
          <a:xfrm flipH="1" flipV="1">
            <a:off x="4339923" y="4333484"/>
            <a:ext cx="332911" cy="978902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68DBF4C-F504-28B2-17FD-2526DDDB58D0}"/>
              </a:ext>
            </a:extLst>
          </p:cNvPr>
          <p:cNvCxnSpPr>
            <a:cxnSpLocks/>
            <a:stCxn id="58" idx="2"/>
            <a:endCxn id="57" idx="6"/>
          </p:cNvCxnSpPr>
          <p:nvPr/>
        </p:nvCxnSpPr>
        <p:spPr>
          <a:xfrm flipH="1" flipV="1">
            <a:off x="3258057" y="5482125"/>
            <a:ext cx="1186177" cy="58861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AB89414-3F0E-233F-048D-D3AA39BBA4B9}"/>
              </a:ext>
            </a:extLst>
          </p:cNvPr>
          <p:cNvCxnSpPr>
            <a:cxnSpLocks/>
            <a:stCxn id="45" idx="3"/>
            <a:endCxn id="57" idx="7"/>
          </p:cNvCxnSpPr>
          <p:nvPr/>
        </p:nvCxnSpPr>
        <p:spPr>
          <a:xfrm flipH="1">
            <a:off x="3191102" y="4266529"/>
            <a:ext cx="987176" cy="1053951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6939928-AEEC-40B7-F695-1D682406E6CF}"/>
              </a:ext>
            </a:extLst>
          </p:cNvPr>
          <p:cNvCxnSpPr>
            <a:cxnSpLocks/>
            <a:stCxn id="58" idx="1"/>
            <a:endCxn id="44" idx="5"/>
          </p:cNvCxnSpPr>
          <p:nvPr/>
        </p:nvCxnSpPr>
        <p:spPr>
          <a:xfrm flipH="1" flipV="1">
            <a:off x="3598134" y="4266529"/>
            <a:ext cx="913055" cy="1112812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5C02AF2B-0ECD-F8EE-5ABC-23C008203DA6}"/>
              </a:ext>
            </a:extLst>
          </p:cNvPr>
          <p:cNvSpPr/>
          <p:nvPr/>
        </p:nvSpPr>
        <p:spPr>
          <a:xfrm>
            <a:off x="5487595" y="3768053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6A7B9DC0-D8CA-9D2A-9416-566CE1CE47C1}"/>
              </a:ext>
            </a:extLst>
          </p:cNvPr>
          <p:cNvSpPr/>
          <p:nvPr/>
        </p:nvSpPr>
        <p:spPr>
          <a:xfrm>
            <a:off x="6237803" y="3855612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C2D9010-13F1-32D9-F1A5-BA38AE55E58C}"/>
              </a:ext>
            </a:extLst>
          </p:cNvPr>
          <p:cNvSpPr txBox="1"/>
          <p:nvPr/>
        </p:nvSpPr>
        <p:spPr>
          <a:xfrm>
            <a:off x="5554573" y="3816840"/>
            <a:ext cx="328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D6B6CBD-7B3F-642C-8D99-E38DA4AEE753}"/>
              </a:ext>
            </a:extLst>
          </p:cNvPr>
          <p:cNvSpPr txBox="1"/>
          <p:nvPr/>
        </p:nvSpPr>
        <p:spPr>
          <a:xfrm>
            <a:off x="6300717" y="3904399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FE3D88C1-8E57-7AC5-D89E-47D5845EA2EF}"/>
              </a:ext>
            </a:extLst>
          </p:cNvPr>
          <p:cNvSpPr/>
          <p:nvPr/>
        </p:nvSpPr>
        <p:spPr>
          <a:xfrm>
            <a:off x="6668356" y="4433864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CB40575-3A8E-FBA3-1B93-B61B1E84E81F}"/>
              </a:ext>
            </a:extLst>
          </p:cNvPr>
          <p:cNvSpPr/>
          <p:nvPr/>
        </p:nvSpPr>
        <p:spPr>
          <a:xfrm>
            <a:off x="5591464" y="5381444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6B1FD79-9EC5-FB84-2C42-5AF61A60C453}"/>
              </a:ext>
            </a:extLst>
          </p:cNvPr>
          <p:cNvSpPr txBox="1"/>
          <p:nvPr/>
        </p:nvSpPr>
        <p:spPr>
          <a:xfrm>
            <a:off x="6725013" y="4492725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153B759-CA37-E684-5EB1-01A47CE71424}"/>
              </a:ext>
            </a:extLst>
          </p:cNvPr>
          <p:cNvSpPr txBox="1"/>
          <p:nvPr/>
        </p:nvSpPr>
        <p:spPr>
          <a:xfrm>
            <a:off x="5658419" y="541045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576066FB-69E3-BA71-1D63-2DE26C77CA59}"/>
              </a:ext>
            </a:extLst>
          </p:cNvPr>
          <p:cNvCxnSpPr>
            <a:cxnSpLocks/>
            <a:stCxn id="70" idx="4"/>
            <a:endCxn id="74" idx="2"/>
          </p:cNvCxnSpPr>
          <p:nvPr/>
        </p:nvCxnSpPr>
        <p:spPr>
          <a:xfrm>
            <a:off x="5716195" y="4225253"/>
            <a:ext cx="952161" cy="437211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916D462B-332A-7BEE-CD0F-12F20218F6E8}"/>
              </a:ext>
            </a:extLst>
          </p:cNvPr>
          <p:cNvCxnSpPr>
            <a:cxnSpLocks/>
            <a:stCxn id="71" idx="1"/>
            <a:endCxn id="70" idx="6"/>
          </p:cNvCxnSpPr>
          <p:nvPr/>
        </p:nvCxnSpPr>
        <p:spPr>
          <a:xfrm flipH="1">
            <a:off x="5944795" y="3922567"/>
            <a:ext cx="359963" cy="7408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6800595-5AE3-7199-4BA8-A58053EF08E4}"/>
              </a:ext>
            </a:extLst>
          </p:cNvPr>
          <p:cNvCxnSpPr>
            <a:cxnSpLocks/>
            <a:stCxn id="75" idx="0"/>
            <a:endCxn id="71" idx="4"/>
          </p:cNvCxnSpPr>
          <p:nvPr/>
        </p:nvCxnSpPr>
        <p:spPr>
          <a:xfrm flipV="1">
            <a:off x="5820064" y="4312812"/>
            <a:ext cx="646339" cy="1068632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0B2EE15B-C646-A7E5-C595-EF0ABEC3D9D7}"/>
              </a:ext>
            </a:extLst>
          </p:cNvPr>
          <p:cNvCxnSpPr>
            <a:cxnSpLocks/>
            <a:stCxn id="75" idx="7"/>
            <a:endCxn id="74" idx="4"/>
          </p:cNvCxnSpPr>
          <p:nvPr/>
        </p:nvCxnSpPr>
        <p:spPr>
          <a:xfrm flipV="1">
            <a:off x="5981709" y="4891064"/>
            <a:ext cx="915247" cy="557335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9817AA50-EA3B-270F-2C87-1E2672B466E3}"/>
              </a:ext>
            </a:extLst>
          </p:cNvPr>
          <p:cNvCxnSpPr>
            <a:cxnSpLocks/>
            <a:stCxn id="71" idx="6"/>
            <a:endCxn id="74" idx="0"/>
          </p:cNvCxnSpPr>
          <p:nvPr/>
        </p:nvCxnSpPr>
        <p:spPr>
          <a:xfrm>
            <a:off x="6695003" y="4084212"/>
            <a:ext cx="201953" cy="349652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A62A3EBB-8030-A80E-5DDF-85CB59C0F3A3}"/>
              </a:ext>
            </a:extLst>
          </p:cNvPr>
          <p:cNvCxnSpPr>
            <a:cxnSpLocks/>
            <a:stCxn id="75" idx="1"/>
            <a:endCxn id="70" idx="4"/>
          </p:cNvCxnSpPr>
          <p:nvPr/>
        </p:nvCxnSpPr>
        <p:spPr>
          <a:xfrm flipV="1">
            <a:off x="5658419" y="4225253"/>
            <a:ext cx="57776" cy="122314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5D9D7646-FD01-A86F-945D-33109FBCE83A}"/>
              </a:ext>
            </a:extLst>
          </p:cNvPr>
          <p:cNvSpPr txBox="1"/>
          <p:nvPr/>
        </p:nvSpPr>
        <p:spPr>
          <a:xfrm>
            <a:off x="373316" y="5958007"/>
            <a:ext cx="199702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Possible species: H</a:t>
            </a:r>
            <a:r>
              <a:rPr lang="en-US" sz="15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, O</a:t>
            </a:r>
            <a:r>
              <a:rPr lang="en-US" sz="15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695A5AD-16B2-BCBE-FDA0-7597FE24E247}"/>
              </a:ext>
            </a:extLst>
          </p:cNvPr>
          <p:cNvSpPr txBox="1"/>
          <p:nvPr/>
        </p:nvSpPr>
        <p:spPr>
          <a:xfrm>
            <a:off x="2801940" y="5958007"/>
            <a:ext cx="220380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Possible species: OH, H, O</a:t>
            </a:r>
            <a:endParaRPr lang="en-US" sz="15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1DA426B-0164-70CC-26E3-B4C43D6EFC86}"/>
              </a:ext>
            </a:extLst>
          </p:cNvPr>
          <p:cNvSpPr txBox="1"/>
          <p:nvPr/>
        </p:nvSpPr>
        <p:spPr>
          <a:xfrm>
            <a:off x="5334477" y="5958007"/>
            <a:ext cx="205344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Possible species: H</a:t>
            </a:r>
            <a:r>
              <a:rPr lang="en-US" sz="15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O, O</a:t>
            </a:r>
            <a:endParaRPr lang="en-US" sz="15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C376BB44-AB27-3364-4378-1D9BD1BC2BA1}"/>
              </a:ext>
            </a:extLst>
          </p:cNvPr>
          <p:cNvSpPr/>
          <p:nvPr/>
        </p:nvSpPr>
        <p:spPr>
          <a:xfrm>
            <a:off x="7970505" y="3595466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D3AEE9CC-67DF-A6C3-371C-B64685325902}"/>
              </a:ext>
            </a:extLst>
          </p:cNvPr>
          <p:cNvSpPr/>
          <p:nvPr/>
        </p:nvSpPr>
        <p:spPr>
          <a:xfrm>
            <a:off x="8427705" y="4116046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847BEC6-AEA2-9D16-A476-2978773856EE}"/>
              </a:ext>
            </a:extLst>
          </p:cNvPr>
          <p:cNvSpPr txBox="1"/>
          <p:nvPr/>
        </p:nvSpPr>
        <p:spPr>
          <a:xfrm>
            <a:off x="8040958" y="3634547"/>
            <a:ext cx="328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C17A18F-769B-4738-37E5-C51C1D91BE3B}"/>
              </a:ext>
            </a:extLst>
          </p:cNvPr>
          <p:cNvSpPr txBox="1"/>
          <p:nvPr/>
        </p:nvSpPr>
        <p:spPr>
          <a:xfrm>
            <a:off x="8490619" y="4164833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586D173B-AAED-2A29-13D4-0313797E9704}"/>
              </a:ext>
            </a:extLst>
          </p:cNvPr>
          <p:cNvSpPr/>
          <p:nvPr/>
        </p:nvSpPr>
        <p:spPr>
          <a:xfrm>
            <a:off x="8411032" y="5445685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6522B6D1-1AF5-734B-1D01-4923DB5D00F6}"/>
              </a:ext>
            </a:extLst>
          </p:cNvPr>
          <p:cNvSpPr/>
          <p:nvPr/>
        </p:nvSpPr>
        <p:spPr>
          <a:xfrm>
            <a:off x="8106558" y="4739284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F70CB09-D584-1FF2-3705-0A35F907695A}"/>
              </a:ext>
            </a:extLst>
          </p:cNvPr>
          <p:cNvSpPr txBox="1"/>
          <p:nvPr/>
        </p:nvSpPr>
        <p:spPr>
          <a:xfrm>
            <a:off x="8472324" y="5505851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EE4AEF3-604D-377F-94DF-126CA342A5F4}"/>
              </a:ext>
            </a:extLst>
          </p:cNvPr>
          <p:cNvSpPr txBox="1"/>
          <p:nvPr/>
        </p:nvSpPr>
        <p:spPr>
          <a:xfrm>
            <a:off x="8169096" y="4777958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1CCFAEAD-49D9-D7DD-417D-1CA27CA033ED}"/>
              </a:ext>
            </a:extLst>
          </p:cNvPr>
          <p:cNvCxnSpPr>
            <a:cxnSpLocks/>
            <a:stCxn id="90" idx="1"/>
            <a:endCxn id="89" idx="5"/>
          </p:cNvCxnSpPr>
          <p:nvPr/>
        </p:nvCxnSpPr>
        <p:spPr>
          <a:xfrm flipH="1" flipV="1">
            <a:off x="8360750" y="3985711"/>
            <a:ext cx="133910" cy="19729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27EC011B-934C-276B-F0AE-55B2F2CD5A21}"/>
              </a:ext>
            </a:extLst>
          </p:cNvPr>
          <p:cNvCxnSpPr>
            <a:cxnSpLocks/>
            <a:stCxn id="90" idx="4"/>
            <a:endCxn id="94" idx="7"/>
          </p:cNvCxnSpPr>
          <p:nvPr/>
        </p:nvCxnSpPr>
        <p:spPr>
          <a:xfrm flipH="1">
            <a:off x="8496803" y="4573246"/>
            <a:ext cx="159502" cy="232993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4AD510E9-7F78-B383-02CF-FEDD249F8511}"/>
              </a:ext>
            </a:extLst>
          </p:cNvPr>
          <p:cNvCxnSpPr>
            <a:cxnSpLocks/>
            <a:stCxn id="94" idx="4"/>
            <a:endCxn id="93" idx="1"/>
          </p:cNvCxnSpPr>
          <p:nvPr/>
        </p:nvCxnSpPr>
        <p:spPr>
          <a:xfrm>
            <a:off x="8335158" y="5196484"/>
            <a:ext cx="142829" cy="31615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53407F12-ED45-AE95-36BC-5080D3995F14}"/>
              </a:ext>
            </a:extLst>
          </p:cNvPr>
          <p:cNvCxnSpPr>
            <a:cxnSpLocks/>
            <a:stCxn id="94" idx="1"/>
          </p:cNvCxnSpPr>
          <p:nvPr/>
        </p:nvCxnSpPr>
        <p:spPr>
          <a:xfrm flipV="1">
            <a:off x="8173513" y="4062242"/>
            <a:ext cx="11133" cy="74399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61A0BDA0-A59E-89AB-1F30-726DE995543E}"/>
              </a:ext>
            </a:extLst>
          </p:cNvPr>
          <p:cNvCxnSpPr>
            <a:cxnSpLocks/>
            <a:stCxn id="93" idx="0"/>
          </p:cNvCxnSpPr>
          <p:nvPr/>
        </p:nvCxnSpPr>
        <p:spPr>
          <a:xfrm flipV="1">
            <a:off x="8639632" y="4551979"/>
            <a:ext cx="51222" cy="89370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62DAE2B9-5A8D-FFDD-B295-70A47C022944}"/>
              </a:ext>
            </a:extLst>
          </p:cNvPr>
          <p:cNvCxnSpPr>
            <a:cxnSpLocks/>
            <a:stCxn id="93" idx="0"/>
          </p:cNvCxnSpPr>
          <p:nvPr/>
        </p:nvCxnSpPr>
        <p:spPr>
          <a:xfrm flipH="1" flipV="1">
            <a:off x="8198140" y="4052666"/>
            <a:ext cx="441492" cy="1393019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Oval 128">
            <a:extLst>
              <a:ext uri="{FF2B5EF4-FFF2-40B4-BE49-F238E27FC236}">
                <a16:creationId xmlns:a16="http://schemas.microsoft.com/office/drawing/2014/main" id="{B4E45ED1-2E3C-312E-AD81-E0534F1AB6F8}"/>
              </a:ext>
            </a:extLst>
          </p:cNvPr>
          <p:cNvSpPr/>
          <p:nvPr/>
        </p:nvSpPr>
        <p:spPr>
          <a:xfrm>
            <a:off x="9840960" y="3926401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1614E21A-9FCD-A3C7-C9B2-C68EA27E746B}"/>
              </a:ext>
            </a:extLst>
          </p:cNvPr>
          <p:cNvSpPr/>
          <p:nvPr/>
        </p:nvSpPr>
        <p:spPr>
          <a:xfrm>
            <a:off x="10608174" y="3905983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35CC8E4-DB75-F07A-7E2A-696786991565}"/>
              </a:ext>
            </a:extLst>
          </p:cNvPr>
          <p:cNvSpPr txBox="1"/>
          <p:nvPr/>
        </p:nvSpPr>
        <p:spPr>
          <a:xfrm>
            <a:off x="9907938" y="3975188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0558E92-D126-4378-8AA9-32B7B384FDBE}"/>
              </a:ext>
            </a:extLst>
          </p:cNvPr>
          <p:cNvSpPr txBox="1"/>
          <p:nvPr/>
        </p:nvSpPr>
        <p:spPr>
          <a:xfrm>
            <a:off x="10671088" y="3954770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14D9ED7D-D30B-955D-542A-9D643CD133C9}"/>
              </a:ext>
            </a:extLst>
          </p:cNvPr>
          <p:cNvSpPr/>
          <p:nvPr/>
        </p:nvSpPr>
        <p:spPr>
          <a:xfrm>
            <a:off x="9998528" y="5352572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BF840FEC-63EB-A4EF-F6AD-EB5BABF421E9}"/>
              </a:ext>
            </a:extLst>
          </p:cNvPr>
          <p:cNvSpPr/>
          <p:nvPr/>
        </p:nvSpPr>
        <p:spPr>
          <a:xfrm>
            <a:off x="11207732" y="4366196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0F1121A-1A1C-71B6-25E6-82BE3D367D90}"/>
              </a:ext>
            </a:extLst>
          </p:cNvPr>
          <p:cNvSpPr txBox="1"/>
          <p:nvPr/>
        </p:nvSpPr>
        <p:spPr>
          <a:xfrm>
            <a:off x="10055185" y="5411433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61F1B09E-6B53-C078-F797-95371861A6B0}"/>
              </a:ext>
            </a:extLst>
          </p:cNvPr>
          <p:cNvSpPr txBox="1"/>
          <p:nvPr/>
        </p:nvSpPr>
        <p:spPr>
          <a:xfrm>
            <a:off x="11274687" y="4396674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6F724D35-8C09-BDB8-2D95-A469D56BEF49}"/>
              </a:ext>
            </a:extLst>
          </p:cNvPr>
          <p:cNvCxnSpPr>
            <a:cxnSpLocks/>
            <a:stCxn id="129" idx="4"/>
            <a:endCxn id="133" idx="0"/>
          </p:cNvCxnSpPr>
          <p:nvPr/>
        </p:nvCxnSpPr>
        <p:spPr>
          <a:xfrm>
            <a:off x="10069560" y="4383601"/>
            <a:ext cx="157568" cy="968971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6625F3FD-183E-A5A4-7B39-A30BE5930CD2}"/>
              </a:ext>
            </a:extLst>
          </p:cNvPr>
          <p:cNvCxnSpPr>
            <a:cxnSpLocks/>
            <a:stCxn id="130" idx="2"/>
            <a:endCxn id="129" idx="6"/>
          </p:cNvCxnSpPr>
          <p:nvPr/>
        </p:nvCxnSpPr>
        <p:spPr>
          <a:xfrm flipH="1">
            <a:off x="10298160" y="4134583"/>
            <a:ext cx="310014" cy="20418"/>
          </a:xfrm>
          <a:prstGeom prst="line">
            <a:avLst/>
          </a:prstGeom>
          <a:ln w="28575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55C9B08B-6667-1CB6-F2B1-6AA1AD3767C0}"/>
              </a:ext>
            </a:extLst>
          </p:cNvPr>
          <p:cNvCxnSpPr>
            <a:cxnSpLocks/>
            <a:stCxn id="134" idx="1"/>
            <a:endCxn id="130" idx="6"/>
          </p:cNvCxnSpPr>
          <p:nvPr/>
        </p:nvCxnSpPr>
        <p:spPr>
          <a:xfrm flipH="1" flipV="1">
            <a:off x="11065374" y="4134583"/>
            <a:ext cx="209313" cy="298568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6E2E22D9-4C68-151A-3B91-1A7679C60AE4}"/>
              </a:ext>
            </a:extLst>
          </p:cNvPr>
          <p:cNvCxnSpPr>
            <a:cxnSpLocks/>
            <a:stCxn id="134" idx="3"/>
            <a:endCxn id="133" idx="6"/>
          </p:cNvCxnSpPr>
          <p:nvPr/>
        </p:nvCxnSpPr>
        <p:spPr>
          <a:xfrm flipH="1">
            <a:off x="10455728" y="4756441"/>
            <a:ext cx="818959" cy="824731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48D7C186-8C61-AA67-C75E-BB25EC6532CB}"/>
              </a:ext>
            </a:extLst>
          </p:cNvPr>
          <p:cNvCxnSpPr>
            <a:cxnSpLocks/>
            <a:stCxn id="130" idx="3"/>
            <a:endCxn id="133" idx="7"/>
          </p:cNvCxnSpPr>
          <p:nvPr/>
        </p:nvCxnSpPr>
        <p:spPr>
          <a:xfrm flipH="1">
            <a:off x="10388773" y="4296228"/>
            <a:ext cx="286356" cy="1123299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36DF93B7-CFE8-EBA5-CBBA-37024E1F3769}"/>
              </a:ext>
            </a:extLst>
          </p:cNvPr>
          <p:cNvCxnSpPr>
            <a:cxnSpLocks/>
            <a:stCxn id="134" idx="2"/>
            <a:endCxn id="129" idx="5"/>
          </p:cNvCxnSpPr>
          <p:nvPr/>
        </p:nvCxnSpPr>
        <p:spPr>
          <a:xfrm flipH="1" flipV="1">
            <a:off x="10231205" y="4316646"/>
            <a:ext cx="976527" cy="27815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496C84FB-E733-C939-588C-D570898C6A4C}"/>
              </a:ext>
            </a:extLst>
          </p:cNvPr>
          <p:cNvSpPr txBox="1"/>
          <p:nvPr/>
        </p:nvSpPr>
        <p:spPr>
          <a:xfrm>
            <a:off x="4830227" y="2967386"/>
            <a:ext cx="2229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 training graphs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9ECF57B2-1AD2-2CB8-E7DD-F3DB9C174506}"/>
              </a:ext>
            </a:extLst>
          </p:cNvPr>
          <p:cNvSpPr txBox="1"/>
          <p:nvPr/>
        </p:nvSpPr>
        <p:spPr>
          <a:xfrm>
            <a:off x="7691418" y="5958007"/>
            <a:ext cx="193771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Possible species: H</a:t>
            </a:r>
            <a:r>
              <a:rPr lang="en-US" sz="15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sz="15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3619FDAF-A4E7-41F9-0606-018C1FAD78E3}"/>
              </a:ext>
            </a:extLst>
          </p:cNvPr>
          <p:cNvSpPr txBox="1"/>
          <p:nvPr/>
        </p:nvSpPr>
        <p:spPr>
          <a:xfrm>
            <a:off x="9793825" y="5958007"/>
            <a:ext cx="208358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Possible species: HO</a:t>
            </a:r>
            <a:r>
              <a:rPr lang="en-US" sz="15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, H</a:t>
            </a:r>
            <a:endParaRPr lang="en-US" sz="15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2BC3EF21-57E9-C94F-3192-F32DB5C83C8A}"/>
              </a:ext>
            </a:extLst>
          </p:cNvPr>
          <p:cNvSpPr>
            <a:spLocks noChangeAspect="1"/>
          </p:cNvSpPr>
          <p:nvPr/>
        </p:nvSpPr>
        <p:spPr>
          <a:xfrm>
            <a:off x="723850" y="3048163"/>
            <a:ext cx="228600" cy="2286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08C7F192-7DC4-BDEB-321B-74961DB60C72}"/>
              </a:ext>
            </a:extLst>
          </p:cNvPr>
          <p:cNvSpPr txBox="1"/>
          <p:nvPr/>
        </p:nvSpPr>
        <p:spPr>
          <a:xfrm>
            <a:off x="1126316" y="3032714"/>
            <a:ext cx="8797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Atom node</a:t>
            </a: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5550118E-9D5A-7681-2EEC-534F2C6A6CB6}"/>
              </a:ext>
            </a:extLst>
          </p:cNvPr>
          <p:cNvCxnSpPr>
            <a:cxnSpLocks/>
          </p:cNvCxnSpPr>
          <p:nvPr/>
        </p:nvCxnSpPr>
        <p:spPr>
          <a:xfrm flipH="1">
            <a:off x="625535" y="3443960"/>
            <a:ext cx="418749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8D688BA5-412E-214D-92F8-0AABB1B3C689}"/>
              </a:ext>
            </a:extLst>
          </p:cNvPr>
          <p:cNvSpPr txBox="1"/>
          <p:nvPr/>
        </p:nvSpPr>
        <p:spPr>
          <a:xfrm>
            <a:off x="1126316" y="3301152"/>
            <a:ext cx="22643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Possible bond edge (positive link)</a:t>
            </a:r>
          </a:p>
        </p:txBody>
      </p: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AC365143-1B43-92F0-6929-48C295C01035}"/>
              </a:ext>
            </a:extLst>
          </p:cNvPr>
          <p:cNvCxnSpPr>
            <a:cxnSpLocks/>
          </p:cNvCxnSpPr>
          <p:nvPr/>
        </p:nvCxnSpPr>
        <p:spPr>
          <a:xfrm flipH="1">
            <a:off x="622459" y="3699902"/>
            <a:ext cx="41874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68B4DB34-E313-C2F6-2FDB-30BDDD9B7ED7}"/>
              </a:ext>
            </a:extLst>
          </p:cNvPr>
          <p:cNvSpPr txBox="1"/>
          <p:nvPr/>
        </p:nvSpPr>
        <p:spPr>
          <a:xfrm>
            <a:off x="1126316" y="3557094"/>
            <a:ext cx="2138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Not a bond edge (negative link)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E4F9E0C-061C-D695-5991-3EB03AC05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0566" y="991400"/>
            <a:ext cx="3924196" cy="2323924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2248545-AA63-9F64-64E2-F80B064DBA46}"/>
              </a:ext>
            </a:extLst>
          </p:cNvPr>
          <p:cNvCxnSpPr>
            <a:cxnSpLocks/>
          </p:cNvCxnSpPr>
          <p:nvPr/>
        </p:nvCxnSpPr>
        <p:spPr>
          <a:xfrm>
            <a:off x="6695003" y="2305878"/>
            <a:ext cx="789162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8739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43131-207D-92FD-FD23-3A5C210D2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E6C453C-3C7D-5EDA-0B3B-C08B4F0EDBAE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38805E6-7C96-D6FF-EFA3-61B605470891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Training loss example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106CA3B4-3A2F-CEC0-020A-3A5AEADE3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CF7D-2046-C245-B30D-A7832F828C2B}" type="slidenum">
              <a:rPr lang="en-US" smtClean="0"/>
              <a:t>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E1DBC5-8733-6A4D-F8CE-F307B5201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582" y="1086802"/>
            <a:ext cx="8229600" cy="5452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26AD557-899E-DC4C-23BA-F1973FEC89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377" y="2526467"/>
            <a:ext cx="4572000" cy="30289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FA22900-0E3D-33AB-CA45-A0C0ABFD871B}"/>
              </a:ext>
            </a:extLst>
          </p:cNvPr>
          <p:cNvSpPr txBox="1"/>
          <p:nvPr/>
        </p:nvSpPr>
        <p:spPr>
          <a:xfrm>
            <a:off x="6307971" y="2637979"/>
            <a:ext cx="1311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y-log scale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18E4A8-878E-B94D-90A8-85A1DD881037}"/>
              </a:ext>
            </a:extLst>
          </p:cNvPr>
          <p:cNvSpPr txBox="1"/>
          <p:nvPr/>
        </p:nvSpPr>
        <p:spPr>
          <a:xfrm>
            <a:off x="2402590" y="1621969"/>
            <a:ext cx="3871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Trained on 1000 H/O four-node data</a:t>
            </a:r>
          </a:p>
        </p:txBody>
      </p:sp>
    </p:spTree>
    <p:extLst>
      <p:ext uri="{BB962C8B-B14F-4D97-AF65-F5344CB8AC3E}">
        <p14:creationId xmlns:p14="http://schemas.microsoft.com/office/powerpoint/2010/main" val="3707799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47585-4650-DD3D-724C-6704C9E81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F9CC3B4-4C66-813A-F418-B5676F74C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582" y="1086802"/>
            <a:ext cx="8229600" cy="545211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DD68D40-B4DE-144D-B43E-A2A13CEA26D8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20C275F-68E5-ABC4-2170-F1FE48D3D1B6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Training loss – Ten runs (robustness test)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921944AE-D1A3-C667-78E9-FF0DE4DA3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CF7D-2046-C245-B30D-A7832F828C2B}" type="slidenum">
              <a:rPr lang="en-US" smtClean="0"/>
              <a:t>10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A8CDBA-0CA1-83B9-46CD-3EEF147D74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377" y="2526467"/>
            <a:ext cx="4572000" cy="30289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C8C822-8671-28AF-7097-E0A4DB98D720}"/>
              </a:ext>
            </a:extLst>
          </p:cNvPr>
          <p:cNvSpPr txBox="1"/>
          <p:nvPr/>
        </p:nvSpPr>
        <p:spPr>
          <a:xfrm>
            <a:off x="6306886" y="2642885"/>
            <a:ext cx="1311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y-log scale</a:t>
            </a:r>
          </a:p>
        </p:txBody>
      </p:sp>
    </p:spTree>
    <p:extLst>
      <p:ext uri="{BB962C8B-B14F-4D97-AF65-F5344CB8AC3E}">
        <p14:creationId xmlns:p14="http://schemas.microsoft.com/office/powerpoint/2010/main" val="1880437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4D7AF-F421-840A-4AC2-6647EDE4D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898D389-5AD2-D623-0D15-39274B688048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4A14210-68EF-BE5D-9B6E-476A45747A4C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Test results – H</a:t>
            </a:r>
            <a:r>
              <a:rPr lang="en-US" sz="2600" b="1" baseline="-25000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2</a:t>
            </a:r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 + O</a:t>
            </a:r>
            <a:r>
              <a:rPr lang="en-US" sz="2600" b="1" baseline="-25000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CA8E1FF-18C2-D6E0-EB05-4D5F420A5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CF7D-2046-C245-B30D-A7832F828C2B}" type="slidenum">
              <a:rPr lang="en-US" smtClean="0"/>
              <a:t>11</a:t>
            </a:fld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34DDD28-24BF-8992-BEA7-97C6478710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2668" y="963574"/>
            <a:ext cx="5413332" cy="547092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8689968-7510-D2C8-D5EB-5414F1481E7B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1920706" y="3890228"/>
            <a:ext cx="224328" cy="103619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F0F7CC4-F1A1-FC27-977A-6A04AC9F728C}"/>
              </a:ext>
            </a:extLst>
          </p:cNvPr>
          <p:cNvSpPr txBox="1"/>
          <p:nvPr/>
        </p:nvSpPr>
        <p:spPr>
          <a:xfrm>
            <a:off x="1341543" y="4926419"/>
            <a:ext cx="16069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Bond order value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105CEAA-ECAD-FE55-92BA-A6C890E84067}"/>
              </a:ext>
            </a:extLst>
          </p:cNvPr>
          <p:cNvCxnSpPr>
            <a:cxnSpLocks/>
          </p:cNvCxnSpPr>
          <p:nvPr/>
        </p:nvCxnSpPr>
        <p:spPr>
          <a:xfrm flipV="1">
            <a:off x="3939077" y="4412432"/>
            <a:ext cx="80206" cy="74843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D19FD9C-6040-3592-3B41-8BFEA12775CC}"/>
              </a:ext>
            </a:extLst>
          </p:cNvPr>
          <p:cNvSpPr txBox="1"/>
          <p:nvPr/>
        </p:nvSpPr>
        <p:spPr>
          <a:xfrm>
            <a:off x="3095191" y="5232654"/>
            <a:ext cx="18481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Probability of a node/atom existing in a species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8198A46-34F4-0A67-D4C4-F96DA241F421}"/>
              </a:ext>
            </a:extLst>
          </p:cNvPr>
          <p:cNvCxnSpPr>
            <a:cxnSpLocks/>
          </p:cNvCxnSpPr>
          <p:nvPr/>
        </p:nvCxnSpPr>
        <p:spPr>
          <a:xfrm flipV="1">
            <a:off x="3686706" y="3783583"/>
            <a:ext cx="224460" cy="24055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5F4D31C-7F1A-68E3-C71F-53B7F1AF9190}"/>
              </a:ext>
            </a:extLst>
          </p:cNvPr>
          <p:cNvSpPr txBox="1"/>
          <p:nvPr/>
        </p:nvSpPr>
        <p:spPr>
          <a:xfrm>
            <a:off x="2289956" y="3724578"/>
            <a:ext cx="14557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Edge thickness scales with the bond order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DAE1D8-C006-2704-454D-CA42216D470B}"/>
              </a:ext>
            </a:extLst>
          </p:cNvPr>
          <p:cNvSpPr txBox="1"/>
          <p:nvPr/>
        </p:nvSpPr>
        <p:spPr>
          <a:xfrm>
            <a:off x="6675163" y="2348167"/>
            <a:ext cx="472687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All the ten trained 4-node GNN models were tested on all the H/O species with variations on the interatomic distances.</a:t>
            </a:r>
          </a:p>
          <a:p>
            <a:pPr marL="285750" indent="-285750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test species are:  </a:t>
            </a:r>
            <a:r>
              <a:rPr lang="en-US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baseline="-250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O</a:t>
            </a:r>
            <a:r>
              <a:rPr lang="en-US" baseline="-250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H, O, OH, H</a:t>
            </a:r>
            <a:r>
              <a:rPr lang="en-US" baseline="-250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O, HO</a:t>
            </a:r>
            <a:r>
              <a:rPr lang="en-US" baseline="-250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&amp; H</a:t>
            </a:r>
            <a:r>
              <a:rPr lang="en-US" baseline="-250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baseline="-250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Model predictions on bond order and atom existence probability were tested against a variety of 4-node graph structures.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A903AD-D289-20D2-3899-679A50966B42}"/>
              </a:ext>
            </a:extLst>
          </p:cNvPr>
          <p:cNvSpPr txBox="1"/>
          <p:nvPr/>
        </p:nvSpPr>
        <p:spPr>
          <a:xfrm>
            <a:off x="875816" y="1374741"/>
            <a:ext cx="3830937" cy="1200329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 satisfactory test on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one H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molecule and one O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molecule at their minimum-energy bond lengths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(i.e., H–H: 0.74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Å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O–O: 1.21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Å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798848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74190-D8E4-DFBB-AC89-FC50E67B7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CBE00A9-65A2-7856-CC3D-5A80E0041D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621" y="1049593"/>
            <a:ext cx="5029200" cy="508270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8667399-74F1-3CDD-4071-5279AA8694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4600" y="1049593"/>
            <a:ext cx="5029200" cy="5082702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7AAF582-DC84-F6EC-8F31-B7BA51A02EB5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84459DE-3A36-F789-8D0C-00280FBBED5E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Test results – H</a:t>
            </a:r>
            <a:r>
              <a:rPr lang="en-US" sz="2600" b="1" baseline="-25000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2</a:t>
            </a:r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 + O + O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0DFE5A9-17A7-3EA1-824D-51D156809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CF7D-2046-C245-B30D-A7832F828C2B}" type="slidenum">
              <a:rPr lang="en-US" smtClean="0"/>
              <a:t>12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6372A6-2CD6-B4C7-6B29-D86AFCF6B417}"/>
              </a:ext>
            </a:extLst>
          </p:cNvPr>
          <p:cNvSpPr txBox="1"/>
          <p:nvPr/>
        </p:nvSpPr>
        <p:spPr>
          <a:xfrm>
            <a:off x="6513178" y="1933884"/>
            <a:ext cx="189532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sz="16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molecule with a stretched H–H bond, i.e., at 1.64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Å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766EDEC-3398-D784-6D4D-624BDFF491B2}"/>
              </a:ext>
            </a:extLst>
          </p:cNvPr>
          <p:cNvCxnSpPr>
            <a:cxnSpLocks/>
          </p:cNvCxnSpPr>
          <p:nvPr/>
        </p:nvCxnSpPr>
        <p:spPr>
          <a:xfrm flipH="1">
            <a:off x="7581738" y="3590944"/>
            <a:ext cx="270175" cy="82487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6627386-7BE1-65AD-8BF5-21EEBA8D8FDB}"/>
              </a:ext>
            </a:extLst>
          </p:cNvPr>
          <p:cNvSpPr txBox="1"/>
          <p:nvPr/>
        </p:nvSpPr>
        <p:spPr>
          <a:xfrm>
            <a:off x="7800744" y="3416012"/>
            <a:ext cx="16498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Weak bond order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BAF9A24-5E61-4423-5DC6-254191B3C2FE}"/>
              </a:ext>
            </a:extLst>
          </p:cNvPr>
          <p:cNvCxnSpPr>
            <a:cxnSpLocks/>
          </p:cNvCxnSpPr>
          <p:nvPr/>
        </p:nvCxnSpPr>
        <p:spPr>
          <a:xfrm>
            <a:off x="7363549" y="4493229"/>
            <a:ext cx="194583" cy="32786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B234244-5A74-3724-3119-2B4D79C249A0}"/>
              </a:ext>
            </a:extLst>
          </p:cNvPr>
          <p:cNvSpPr txBox="1"/>
          <p:nvPr/>
        </p:nvSpPr>
        <p:spPr>
          <a:xfrm>
            <a:off x="6635892" y="4774153"/>
            <a:ext cx="19747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Existence probability much lower than 1.0, meaning a possibility of radical formation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BCC5D6-580E-C018-A8BA-50267502572F}"/>
              </a:ext>
            </a:extLst>
          </p:cNvPr>
          <p:cNvSpPr txBox="1"/>
          <p:nvPr/>
        </p:nvSpPr>
        <p:spPr>
          <a:xfrm>
            <a:off x="755904" y="2503270"/>
            <a:ext cx="21244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sz="16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molecule at its equilibrium structure</a:t>
            </a:r>
          </a:p>
        </p:txBody>
      </p:sp>
    </p:spTree>
    <p:extLst>
      <p:ext uri="{BB962C8B-B14F-4D97-AF65-F5344CB8AC3E}">
        <p14:creationId xmlns:p14="http://schemas.microsoft.com/office/powerpoint/2010/main" val="3645299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7132A-59B2-8D1D-8B7B-1EFF70463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81D3959D-3876-0F02-BC45-A42B31104C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621" y="1049593"/>
            <a:ext cx="5029200" cy="508270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760E632-6548-CBA3-5D97-99EE91DA02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4600" y="1049593"/>
            <a:ext cx="5029200" cy="5082702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82B71C-EEBD-6276-1422-822CB2EC3363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2C3FDAD-9A6A-5CF5-5256-DA654435692B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Test results – O</a:t>
            </a:r>
            <a:r>
              <a:rPr lang="en-US" sz="2600" b="1" baseline="-25000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2</a:t>
            </a:r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 + H + H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3016F6A-DD24-F4E4-8BD6-9C84903D4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CF7D-2046-C245-B30D-A7832F828C2B}" type="slidenum">
              <a:rPr lang="en-US" smtClean="0"/>
              <a:t>13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2D692E-AD71-5433-9EAD-DC4ED283433D}"/>
              </a:ext>
            </a:extLst>
          </p:cNvPr>
          <p:cNvSpPr txBox="1"/>
          <p:nvPr/>
        </p:nvSpPr>
        <p:spPr>
          <a:xfrm>
            <a:off x="6513178" y="1933884"/>
            <a:ext cx="196331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sz="16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molecule with a stretched O–O bond, i.e., at 1.66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Å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4F00BD-53EF-62DD-6153-0D28C106BE6C}"/>
              </a:ext>
            </a:extLst>
          </p:cNvPr>
          <p:cNvSpPr txBox="1"/>
          <p:nvPr/>
        </p:nvSpPr>
        <p:spPr>
          <a:xfrm>
            <a:off x="755904" y="2364771"/>
            <a:ext cx="21244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sz="16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molecule at its equilibrium structure</a:t>
            </a:r>
          </a:p>
        </p:txBody>
      </p:sp>
    </p:spTree>
    <p:extLst>
      <p:ext uri="{BB962C8B-B14F-4D97-AF65-F5344CB8AC3E}">
        <p14:creationId xmlns:p14="http://schemas.microsoft.com/office/powerpoint/2010/main" val="3011701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4E3F4-596E-D0B0-BB9C-997A85847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BA3A5CA6-6143-D912-8166-CA66A74945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621" y="1049593"/>
            <a:ext cx="5029200" cy="508270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A2161EB-EA3C-08D5-96AD-5E9DCC3848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4600" y="1049593"/>
            <a:ext cx="5029200" cy="508270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042F271-298E-8FDD-25EE-3894987CC7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1621" y="1049593"/>
            <a:ext cx="5029200" cy="5082702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6B6873-0D87-0985-BCA3-A4188D0B2319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016020B-FA97-F8F8-CD7E-E78483A18991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Test results – H</a:t>
            </a:r>
            <a:r>
              <a:rPr lang="en-US" sz="2600" b="1" baseline="-25000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2</a:t>
            </a:r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O + O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ABD056B-1D81-E8DA-1930-3E24C5A6D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CF7D-2046-C245-B30D-A7832F828C2B}" type="slidenum">
              <a:rPr lang="en-US" smtClean="0"/>
              <a:t>14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DBA04E-5EF4-64DF-C985-AAD2ED563D4F}"/>
              </a:ext>
            </a:extLst>
          </p:cNvPr>
          <p:cNvCxnSpPr>
            <a:cxnSpLocks/>
          </p:cNvCxnSpPr>
          <p:nvPr/>
        </p:nvCxnSpPr>
        <p:spPr>
          <a:xfrm>
            <a:off x="2522658" y="4449087"/>
            <a:ext cx="0" cy="35327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D11CCB5-85AE-34A0-7636-2F01A0CE3D5A}"/>
              </a:ext>
            </a:extLst>
          </p:cNvPr>
          <p:cNvSpPr txBox="1"/>
          <p:nvPr/>
        </p:nvSpPr>
        <p:spPr>
          <a:xfrm>
            <a:off x="1600337" y="4855674"/>
            <a:ext cx="23105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Interesting observation: H atoms in water are barely interacting…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0502B2-BAC8-2AC3-4857-1FEEAE944DC5}"/>
              </a:ext>
            </a:extLst>
          </p:cNvPr>
          <p:cNvSpPr txBox="1"/>
          <p:nvPr/>
        </p:nvSpPr>
        <p:spPr>
          <a:xfrm>
            <a:off x="8390747" y="4693508"/>
            <a:ext cx="14390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Stretched O–H bond: 1.76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Å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86E9D98-F430-B422-834F-00CEC60F72B5}"/>
              </a:ext>
            </a:extLst>
          </p:cNvPr>
          <p:cNvCxnSpPr>
            <a:cxnSpLocks/>
          </p:cNvCxnSpPr>
          <p:nvPr/>
        </p:nvCxnSpPr>
        <p:spPr>
          <a:xfrm flipH="1">
            <a:off x="9110273" y="4334256"/>
            <a:ext cx="44197" cy="35925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2D556F0-BEC1-72E3-64B9-AECFB543F412}"/>
              </a:ext>
            </a:extLst>
          </p:cNvPr>
          <p:cNvSpPr txBox="1"/>
          <p:nvPr/>
        </p:nvSpPr>
        <p:spPr>
          <a:xfrm>
            <a:off x="7437120" y="3113737"/>
            <a:ext cx="21244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sz="16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O molecule with a stretched O–H bond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8F9337-51E6-4247-3765-26708901B500}"/>
              </a:ext>
            </a:extLst>
          </p:cNvPr>
          <p:cNvSpPr txBox="1"/>
          <p:nvPr/>
        </p:nvSpPr>
        <p:spPr>
          <a:xfrm>
            <a:off x="1600337" y="3113736"/>
            <a:ext cx="21244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sz="16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O molecule at its equilibrium structure</a:t>
            </a:r>
          </a:p>
        </p:txBody>
      </p:sp>
    </p:spTree>
    <p:extLst>
      <p:ext uri="{BB962C8B-B14F-4D97-AF65-F5344CB8AC3E}">
        <p14:creationId xmlns:p14="http://schemas.microsoft.com/office/powerpoint/2010/main" val="2912310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5454C-CABB-7FBC-52C2-0DAC57052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6B99C57F-8757-74A8-4AC4-001F5E31F1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621" y="1049593"/>
            <a:ext cx="5029200" cy="508270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AB2C0F5-8B3F-4798-2146-87A5120030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4600" y="1049593"/>
            <a:ext cx="5029200" cy="5082702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0609402-8C1D-F6BF-3615-D97017A7CB20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D446985-D21A-6988-B045-B408E91221FE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Test results – HO</a:t>
            </a:r>
            <a:r>
              <a:rPr lang="en-US" sz="2600" b="1" baseline="-25000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2</a:t>
            </a:r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 + H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18C2FFE-BE48-8DB2-B742-E5C85CA1D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CF7D-2046-C245-B30D-A7832F828C2B}" type="slidenum">
              <a:rPr lang="en-US" smtClean="0"/>
              <a:t>15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7BE788-F7FB-5F55-30B9-BBDDE7FC669A}"/>
              </a:ext>
            </a:extLst>
          </p:cNvPr>
          <p:cNvSpPr txBox="1"/>
          <p:nvPr/>
        </p:nvSpPr>
        <p:spPr>
          <a:xfrm>
            <a:off x="7916021" y="4158496"/>
            <a:ext cx="14390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Stretched O–O bond: 1.66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Å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54446B-559A-7F18-B2E6-A1CDF84A57DC}"/>
              </a:ext>
            </a:extLst>
          </p:cNvPr>
          <p:cNvCxnSpPr>
            <a:cxnSpLocks/>
          </p:cNvCxnSpPr>
          <p:nvPr/>
        </p:nvCxnSpPr>
        <p:spPr>
          <a:xfrm flipH="1">
            <a:off x="8613449" y="3799244"/>
            <a:ext cx="44197" cy="35925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2AD064D-9278-523A-CCA9-41DD8DB7C3EF}"/>
              </a:ext>
            </a:extLst>
          </p:cNvPr>
          <p:cNvSpPr txBox="1"/>
          <p:nvPr/>
        </p:nvSpPr>
        <p:spPr>
          <a:xfrm>
            <a:off x="1545473" y="2377660"/>
            <a:ext cx="21244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HO</a:t>
            </a:r>
            <a:r>
              <a:rPr lang="en-US" sz="16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radical at its equilibrium structure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B4BACF-C8D1-A526-0CBF-DEF9EE5D3DFA}"/>
              </a:ext>
            </a:extLst>
          </p:cNvPr>
          <p:cNvSpPr txBox="1"/>
          <p:nvPr/>
        </p:nvSpPr>
        <p:spPr>
          <a:xfrm>
            <a:off x="7595418" y="2377659"/>
            <a:ext cx="21244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HO</a:t>
            </a:r>
            <a:r>
              <a:rPr lang="en-US" sz="16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radical with a stretched O–O bond</a:t>
            </a:r>
          </a:p>
        </p:txBody>
      </p:sp>
    </p:spTree>
    <p:extLst>
      <p:ext uri="{BB962C8B-B14F-4D97-AF65-F5344CB8AC3E}">
        <p14:creationId xmlns:p14="http://schemas.microsoft.com/office/powerpoint/2010/main" val="334591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F2D76-883F-F84D-D40C-116EAA11D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2B4213B4-0029-485D-6180-9AD6DBF220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621" y="1049593"/>
            <a:ext cx="5029200" cy="508270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2F3484D-54A5-2E53-545B-CB0F58702D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4600" y="1049593"/>
            <a:ext cx="5029200" cy="5082702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32FF6A8-7F17-97BA-2FFA-D103EC30CE08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1C7E1B3-6ADD-3836-369C-F1D7BE7B315F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Test results – H</a:t>
            </a:r>
            <a:r>
              <a:rPr lang="en-US" sz="2600" b="1" baseline="-25000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2</a:t>
            </a:r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O</a:t>
            </a:r>
            <a:r>
              <a:rPr lang="en-US" sz="2600" b="1" baseline="-25000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0238454-0F6C-991E-CDC4-F0780D73A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CF7D-2046-C245-B30D-A7832F828C2B}" type="slidenum">
              <a:rPr lang="en-US" smtClean="0"/>
              <a:t>16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C059EA-9BDD-05EC-6D09-075577EB640E}"/>
              </a:ext>
            </a:extLst>
          </p:cNvPr>
          <p:cNvSpPr txBox="1"/>
          <p:nvPr/>
        </p:nvSpPr>
        <p:spPr>
          <a:xfrm>
            <a:off x="1588373" y="2034621"/>
            <a:ext cx="20326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sz="16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sz="16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at its equilibrium structure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7E93EE-A25A-96A1-013C-6E5187D39274}"/>
              </a:ext>
            </a:extLst>
          </p:cNvPr>
          <p:cNvSpPr txBox="1"/>
          <p:nvPr/>
        </p:nvSpPr>
        <p:spPr>
          <a:xfrm>
            <a:off x="7355189" y="2009655"/>
            <a:ext cx="20631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sz="16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sz="16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with a stretched O–O bond</a:t>
            </a:r>
          </a:p>
        </p:txBody>
      </p:sp>
    </p:spTree>
    <p:extLst>
      <p:ext uri="{BB962C8B-B14F-4D97-AF65-F5344CB8AC3E}">
        <p14:creationId xmlns:p14="http://schemas.microsoft.com/office/powerpoint/2010/main" val="1921672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A12BD-63D3-A74F-59E5-06FA5A030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BEEFFD6-B965-3639-5ACF-91DED1E047F8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FC2BB3C-4F08-5049-AA31-D316D9432738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Test results – OH + OH and OH + O + H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949A000-088F-A21F-5A75-EC15E8D67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CF7D-2046-C245-B30D-A7832F828C2B}" type="slidenum">
              <a:rPr lang="en-US" smtClean="0"/>
              <a:t>17</a:t>
            </a:fld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7514C53-791D-920B-B1B9-5CD15F9C3B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4188" y="1118681"/>
            <a:ext cx="4572000" cy="462063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B391AD8-9559-0FF5-9A65-C0A1C26BA2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80659" y="1118681"/>
            <a:ext cx="4572000" cy="462063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D8ED38A-DE84-D9D9-ADEB-410F423D80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77130" y="1118681"/>
            <a:ext cx="4572000" cy="46206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854175-EF11-1E3E-DD9F-4E5D19734278}"/>
              </a:ext>
            </a:extLst>
          </p:cNvPr>
          <p:cNvSpPr txBox="1"/>
          <p:nvPr/>
        </p:nvSpPr>
        <p:spPr>
          <a:xfrm>
            <a:off x="8091899" y="1525801"/>
            <a:ext cx="25895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Interesting observation: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Different existence probabilities in H and O may signal different reactivity.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596119-53C9-611B-FCBD-577486ED407E}"/>
              </a:ext>
            </a:extLst>
          </p:cNvPr>
          <p:cNvSpPr txBox="1"/>
          <p:nvPr/>
        </p:nvSpPr>
        <p:spPr>
          <a:xfrm>
            <a:off x="1038666" y="2018244"/>
            <a:ext cx="23080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Two OH radicals at their equilibrium structures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B13BA9-614A-D514-FFDD-8B4DE2D22C18}"/>
              </a:ext>
            </a:extLst>
          </p:cNvPr>
          <p:cNvSpPr txBox="1"/>
          <p:nvPr/>
        </p:nvSpPr>
        <p:spPr>
          <a:xfrm>
            <a:off x="4635137" y="2018243"/>
            <a:ext cx="23080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One OH radical at its equilibrium structures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482A80-9BBC-C9F5-6831-30FA4CC57047}"/>
              </a:ext>
            </a:extLst>
          </p:cNvPr>
          <p:cNvSpPr txBox="1"/>
          <p:nvPr/>
        </p:nvSpPr>
        <p:spPr>
          <a:xfrm>
            <a:off x="8610600" y="3294006"/>
            <a:ext cx="12009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 stretched O–H bond</a:t>
            </a:r>
          </a:p>
        </p:txBody>
      </p:sp>
    </p:spTree>
    <p:extLst>
      <p:ext uri="{BB962C8B-B14F-4D97-AF65-F5344CB8AC3E}">
        <p14:creationId xmlns:p14="http://schemas.microsoft.com/office/powerpoint/2010/main" val="1408502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5D871-D544-D5C5-577E-2423FE08B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A27BECEC-F614-23F3-07B9-B3BD33388A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4188" y="1118681"/>
            <a:ext cx="4572000" cy="462063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1EE0C28-9E3D-253A-BEFD-6BB5CBBA74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80659" y="1118681"/>
            <a:ext cx="4572000" cy="4620638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E761026-DB17-EA80-F80E-7B7BC203A9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77130" y="1118681"/>
            <a:ext cx="4572000" cy="4620638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4A5AA41-EA6D-E3E5-30CE-65A23317508A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375595-7BCD-C5F7-96CA-582A47589EF8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Test results – OH + OH and OH + O + H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6DF1542-2D02-CD9F-B9B5-CA679C669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CF7D-2046-C245-B30D-A7832F828C2B}" type="slidenum">
              <a:rPr lang="en-US" smtClean="0"/>
              <a:t>18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48A1DF-4553-9728-AA78-34E290AC2C54}"/>
              </a:ext>
            </a:extLst>
          </p:cNvPr>
          <p:cNvSpPr txBox="1"/>
          <p:nvPr/>
        </p:nvSpPr>
        <p:spPr>
          <a:xfrm>
            <a:off x="1104474" y="5856492"/>
            <a:ext cx="23080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Four radicals far apart from each other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E66786-9D66-3D82-321C-7C008F10B96A}"/>
              </a:ext>
            </a:extLst>
          </p:cNvPr>
          <p:cNvSpPr txBox="1"/>
          <p:nvPr/>
        </p:nvSpPr>
        <p:spPr>
          <a:xfrm>
            <a:off x="4594195" y="5856493"/>
            <a:ext cx="23080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Four radicals approaching to each other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F3EAB5-16E4-18E4-46C3-A67C9C1999DD}"/>
              </a:ext>
            </a:extLst>
          </p:cNvPr>
          <p:cNvSpPr txBox="1"/>
          <p:nvPr/>
        </p:nvSpPr>
        <p:spPr>
          <a:xfrm>
            <a:off x="8370741" y="5856492"/>
            <a:ext cx="21225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Four radicals getting even closer</a:t>
            </a: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E4EA5CA2-9880-0E9B-4BFC-DB16089A8B0C}"/>
              </a:ext>
            </a:extLst>
          </p:cNvPr>
          <p:cNvSpPr/>
          <p:nvPr/>
        </p:nvSpPr>
        <p:spPr>
          <a:xfrm>
            <a:off x="3181015" y="5970576"/>
            <a:ext cx="1357852" cy="356605"/>
          </a:xfrm>
          <a:prstGeom prst="rightArrow">
            <a:avLst>
              <a:gd name="adj1" fmla="val 62160"/>
              <a:gd name="adj2" fmla="val 55164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90D8DEF4-5DCB-D4FD-C828-DA6821198294}"/>
              </a:ext>
            </a:extLst>
          </p:cNvPr>
          <p:cNvSpPr/>
          <p:nvPr/>
        </p:nvSpPr>
        <p:spPr>
          <a:xfrm>
            <a:off x="6957561" y="6011051"/>
            <a:ext cx="1357852" cy="356605"/>
          </a:xfrm>
          <a:prstGeom prst="rightArrow">
            <a:avLst>
              <a:gd name="adj1" fmla="val 62160"/>
              <a:gd name="adj2" fmla="val 55164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866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C5C1A-8905-B402-BF1C-90B02F1F7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F9E38FFA-3375-3C71-B6BB-9ACDBD9F2D41}"/>
              </a:ext>
            </a:extLst>
          </p:cNvPr>
          <p:cNvCxnSpPr>
            <a:cxnSpLocks/>
            <a:stCxn id="163" idx="2"/>
            <a:endCxn id="149" idx="6"/>
          </p:cNvCxnSpPr>
          <p:nvPr/>
        </p:nvCxnSpPr>
        <p:spPr>
          <a:xfrm flipH="1">
            <a:off x="6392335" y="4238483"/>
            <a:ext cx="2185304" cy="18466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CBF7957-439A-503B-6AA8-3FB4AF2AE571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478031E-9DA7-344F-88C3-3EE645B6D07E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Next steps – Direction 1: Minimum-unit evolution GNN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5B389B5-8327-C33C-742E-3B59CCCCF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CF7D-2046-C245-B30D-A7832F828C2B}" type="slidenum">
              <a:rPr lang="en-US" smtClean="0"/>
              <a:t>19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C03033-8254-84E2-9178-A792ED1FC794}"/>
              </a:ext>
            </a:extLst>
          </p:cNvPr>
          <p:cNvSpPr txBox="1"/>
          <p:nvPr/>
        </p:nvSpPr>
        <p:spPr>
          <a:xfrm>
            <a:off x="271249" y="1041836"/>
            <a:ext cx="10366574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600" b="1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Evolution of the GNN</a:t>
            </a:r>
          </a:p>
          <a:p>
            <a:pPr marL="285750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With the trained 4-node model, the GNN should process “knowledge” to infer a possible set of species from a given a four-node (2H+2O) configuration.</a:t>
            </a:r>
          </a:p>
          <a:p>
            <a:pPr marL="285750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the next iteration, a new set of minimum growing unit (2H + 2O nodes) will be added to the graph.</a:t>
            </a:r>
          </a:p>
          <a:p>
            <a:pPr marL="285750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Ideally, the new GNN (i.e., with 4H + 4O nodes) does not need additional trainings, since the Iteration-1, 4-node GNN already has information about “all” species involved in the H/O system. </a:t>
            </a:r>
          </a:p>
          <a:p>
            <a:pPr marL="285750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GNN will evolve through iterations and converge when all the species are discovered. 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F0C6674-B3F6-7708-F9A1-514FF1091EA4}"/>
              </a:ext>
            </a:extLst>
          </p:cNvPr>
          <p:cNvSpPr/>
          <p:nvPr/>
        </p:nvSpPr>
        <p:spPr>
          <a:xfrm>
            <a:off x="546708" y="3986367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1429201-DED3-69C6-4AFE-AAA339DE3733}"/>
              </a:ext>
            </a:extLst>
          </p:cNvPr>
          <p:cNvSpPr/>
          <p:nvPr/>
        </p:nvSpPr>
        <p:spPr>
          <a:xfrm>
            <a:off x="1972565" y="4006785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7CCFD5-E629-6234-F964-7B4C4F54E169}"/>
              </a:ext>
            </a:extLst>
          </p:cNvPr>
          <p:cNvSpPr txBox="1"/>
          <p:nvPr/>
        </p:nvSpPr>
        <p:spPr>
          <a:xfrm>
            <a:off x="613686" y="4035154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F7F5EF-C537-21A4-28E1-F187C7DAA681}"/>
              </a:ext>
            </a:extLst>
          </p:cNvPr>
          <p:cNvSpPr txBox="1"/>
          <p:nvPr/>
        </p:nvSpPr>
        <p:spPr>
          <a:xfrm>
            <a:off x="2035479" y="4055572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7409994-8CF8-A7CB-A16E-1F318560AE99}"/>
              </a:ext>
            </a:extLst>
          </p:cNvPr>
          <p:cNvSpPr/>
          <p:nvPr/>
        </p:nvSpPr>
        <p:spPr>
          <a:xfrm>
            <a:off x="360487" y="4708984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6B0B453-939F-66B7-1577-AC10CD5ABCDE}"/>
              </a:ext>
            </a:extLst>
          </p:cNvPr>
          <p:cNvSpPr/>
          <p:nvPr/>
        </p:nvSpPr>
        <p:spPr>
          <a:xfrm>
            <a:off x="1973048" y="4780245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A82732-EA69-A41E-3A2D-658020ECE85D}"/>
              </a:ext>
            </a:extLst>
          </p:cNvPr>
          <p:cNvSpPr txBox="1"/>
          <p:nvPr/>
        </p:nvSpPr>
        <p:spPr>
          <a:xfrm>
            <a:off x="417144" y="4767845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781617-6390-063B-7570-49B2BC0C50B2}"/>
              </a:ext>
            </a:extLst>
          </p:cNvPr>
          <p:cNvSpPr txBox="1"/>
          <p:nvPr/>
        </p:nvSpPr>
        <p:spPr>
          <a:xfrm>
            <a:off x="2040003" y="4809252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A5982C-D584-C6EF-6970-9749125E49EB}"/>
              </a:ext>
            </a:extLst>
          </p:cNvPr>
          <p:cNvCxnSpPr>
            <a:cxnSpLocks/>
            <a:stCxn id="3" idx="4"/>
            <a:endCxn id="9" idx="0"/>
          </p:cNvCxnSpPr>
          <p:nvPr/>
        </p:nvCxnSpPr>
        <p:spPr>
          <a:xfrm flipH="1">
            <a:off x="589087" y="4443567"/>
            <a:ext cx="186221" cy="265417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312A919-B514-C045-2F9B-56A715D57462}"/>
              </a:ext>
            </a:extLst>
          </p:cNvPr>
          <p:cNvCxnSpPr>
            <a:cxnSpLocks/>
            <a:stCxn id="4" idx="2"/>
            <a:endCxn id="3" idx="6"/>
          </p:cNvCxnSpPr>
          <p:nvPr/>
        </p:nvCxnSpPr>
        <p:spPr>
          <a:xfrm flipH="1" flipV="1">
            <a:off x="1003908" y="4214967"/>
            <a:ext cx="968657" cy="20418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391B48D-8863-F3C4-EAA4-7D2F84E49960}"/>
              </a:ext>
            </a:extLst>
          </p:cNvPr>
          <p:cNvCxnSpPr>
            <a:cxnSpLocks/>
            <a:stCxn id="10" idx="0"/>
            <a:endCxn id="4" idx="4"/>
          </p:cNvCxnSpPr>
          <p:nvPr/>
        </p:nvCxnSpPr>
        <p:spPr>
          <a:xfrm flipH="1" flipV="1">
            <a:off x="2201165" y="4463985"/>
            <a:ext cx="483" cy="31626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D524BC9-B53E-337B-5E2B-D83CC69BDB91}"/>
              </a:ext>
            </a:extLst>
          </p:cNvPr>
          <p:cNvCxnSpPr>
            <a:cxnSpLocks/>
            <a:stCxn id="10" idx="2"/>
            <a:endCxn id="9" idx="6"/>
          </p:cNvCxnSpPr>
          <p:nvPr/>
        </p:nvCxnSpPr>
        <p:spPr>
          <a:xfrm flipH="1" flipV="1">
            <a:off x="817687" y="4937584"/>
            <a:ext cx="1155361" cy="71261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F8B6721-9684-FC82-BBCB-2E34DE1C6D8F}"/>
              </a:ext>
            </a:extLst>
          </p:cNvPr>
          <p:cNvCxnSpPr>
            <a:cxnSpLocks/>
            <a:stCxn id="4" idx="3"/>
            <a:endCxn id="9" idx="7"/>
          </p:cNvCxnSpPr>
          <p:nvPr/>
        </p:nvCxnSpPr>
        <p:spPr>
          <a:xfrm flipH="1">
            <a:off x="750732" y="4397030"/>
            <a:ext cx="1288788" cy="378909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4F5EEDE-696B-A662-197C-B1E29E674F2E}"/>
              </a:ext>
            </a:extLst>
          </p:cNvPr>
          <p:cNvCxnSpPr>
            <a:cxnSpLocks/>
            <a:stCxn id="10" idx="1"/>
            <a:endCxn id="3" idx="5"/>
          </p:cNvCxnSpPr>
          <p:nvPr/>
        </p:nvCxnSpPr>
        <p:spPr>
          <a:xfrm flipH="1" flipV="1">
            <a:off x="936953" y="4376612"/>
            <a:ext cx="1103050" cy="470588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4990A99B-325E-4D0B-A749-22EE9BE78288}"/>
              </a:ext>
            </a:extLst>
          </p:cNvPr>
          <p:cNvSpPr/>
          <p:nvPr/>
        </p:nvSpPr>
        <p:spPr>
          <a:xfrm>
            <a:off x="3552815" y="3889610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3C20673-CFAD-7464-4D6B-501DEA033057}"/>
              </a:ext>
            </a:extLst>
          </p:cNvPr>
          <p:cNvSpPr/>
          <p:nvPr/>
        </p:nvSpPr>
        <p:spPr>
          <a:xfrm>
            <a:off x="4427076" y="3919791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BD6E22A-CBEC-1C44-332C-82BE32E925A9}"/>
              </a:ext>
            </a:extLst>
          </p:cNvPr>
          <p:cNvSpPr txBox="1"/>
          <p:nvPr/>
        </p:nvSpPr>
        <p:spPr>
          <a:xfrm>
            <a:off x="3619793" y="3938397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223FFC2-5195-32A3-C718-4E7A79B4AF30}"/>
              </a:ext>
            </a:extLst>
          </p:cNvPr>
          <p:cNvSpPr txBox="1"/>
          <p:nvPr/>
        </p:nvSpPr>
        <p:spPr>
          <a:xfrm>
            <a:off x="4489990" y="3968578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8ACC324-6A91-A6AC-7171-B1736FF2C73C}"/>
              </a:ext>
            </a:extLst>
          </p:cNvPr>
          <p:cNvSpPr/>
          <p:nvPr/>
        </p:nvSpPr>
        <p:spPr>
          <a:xfrm>
            <a:off x="3048837" y="4863848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89ED8C6-1066-62EF-DD81-A87071EA2A7E}"/>
              </a:ext>
            </a:extLst>
          </p:cNvPr>
          <p:cNvSpPr/>
          <p:nvPr/>
        </p:nvSpPr>
        <p:spPr>
          <a:xfrm>
            <a:off x="4550814" y="5281405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FD51007-C821-3EE2-3FB9-A9C40B824070}"/>
              </a:ext>
            </a:extLst>
          </p:cNvPr>
          <p:cNvSpPr txBox="1"/>
          <p:nvPr/>
        </p:nvSpPr>
        <p:spPr>
          <a:xfrm>
            <a:off x="3105494" y="4922709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6151475-F53D-007F-4B7D-6117B2BEE221}"/>
              </a:ext>
            </a:extLst>
          </p:cNvPr>
          <p:cNvSpPr txBox="1"/>
          <p:nvPr/>
        </p:nvSpPr>
        <p:spPr>
          <a:xfrm>
            <a:off x="4617769" y="5310412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B9A0FFE-D425-10F8-A0D5-290A2206776E}"/>
              </a:ext>
            </a:extLst>
          </p:cNvPr>
          <p:cNvCxnSpPr>
            <a:cxnSpLocks/>
            <a:stCxn id="33" idx="4"/>
            <a:endCxn id="37" idx="0"/>
          </p:cNvCxnSpPr>
          <p:nvPr/>
        </p:nvCxnSpPr>
        <p:spPr>
          <a:xfrm flipH="1">
            <a:off x="3277437" y="4346810"/>
            <a:ext cx="503978" cy="517038"/>
          </a:xfrm>
          <a:prstGeom prst="line">
            <a:avLst/>
          </a:prstGeom>
          <a:ln w="28575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089F12B-BBF5-217D-A2A6-253ACA1ACAB9}"/>
              </a:ext>
            </a:extLst>
          </p:cNvPr>
          <p:cNvCxnSpPr>
            <a:cxnSpLocks/>
            <a:stCxn id="34" idx="2"/>
            <a:endCxn id="33" idx="6"/>
          </p:cNvCxnSpPr>
          <p:nvPr/>
        </p:nvCxnSpPr>
        <p:spPr>
          <a:xfrm flipH="1" flipV="1">
            <a:off x="4010015" y="4118210"/>
            <a:ext cx="417061" cy="30181"/>
          </a:xfrm>
          <a:prstGeom prst="line">
            <a:avLst/>
          </a:prstGeom>
          <a:ln w="28575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098D747-D559-133B-3A97-4C34C43FDDBC}"/>
              </a:ext>
            </a:extLst>
          </p:cNvPr>
          <p:cNvCxnSpPr>
            <a:cxnSpLocks/>
            <a:stCxn id="38" idx="0"/>
            <a:endCxn id="34" idx="4"/>
          </p:cNvCxnSpPr>
          <p:nvPr/>
        </p:nvCxnSpPr>
        <p:spPr>
          <a:xfrm flipH="1" flipV="1">
            <a:off x="4655676" y="4376991"/>
            <a:ext cx="123738" cy="904414"/>
          </a:xfrm>
          <a:prstGeom prst="line">
            <a:avLst/>
          </a:prstGeom>
          <a:ln w="28575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D822B8E-3BAF-E149-FD88-3821F203ABF4}"/>
              </a:ext>
            </a:extLst>
          </p:cNvPr>
          <p:cNvCxnSpPr>
            <a:cxnSpLocks/>
            <a:stCxn id="38" idx="2"/>
            <a:endCxn id="37" idx="6"/>
          </p:cNvCxnSpPr>
          <p:nvPr/>
        </p:nvCxnSpPr>
        <p:spPr>
          <a:xfrm flipH="1" flipV="1">
            <a:off x="3506037" y="5092448"/>
            <a:ext cx="1044777" cy="417557"/>
          </a:xfrm>
          <a:prstGeom prst="line">
            <a:avLst/>
          </a:prstGeom>
          <a:ln w="28575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130A4F0-B3A2-D0B1-9E9D-E58BF740AE4F}"/>
              </a:ext>
            </a:extLst>
          </p:cNvPr>
          <p:cNvCxnSpPr>
            <a:cxnSpLocks/>
            <a:stCxn id="34" idx="3"/>
            <a:endCxn id="37" idx="7"/>
          </p:cNvCxnSpPr>
          <p:nvPr/>
        </p:nvCxnSpPr>
        <p:spPr>
          <a:xfrm flipH="1">
            <a:off x="3439082" y="4310036"/>
            <a:ext cx="1054949" cy="620767"/>
          </a:xfrm>
          <a:prstGeom prst="line">
            <a:avLst/>
          </a:prstGeom>
          <a:ln w="28575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EAF0E16-AC80-6C8D-7AF4-A329B243343C}"/>
              </a:ext>
            </a:extLst>
          </p:cNvPr>
          <p:cNvCxnSpPr>
            <a:cxnSpLocks/>
            <a:stCxn id="38" idx="1"/>
            <a:endCxn id="33" idx="5"/>
          </p:cNvCxnSpPr>
          <p:nvPr/>
        </p:nvCxnSpPr>
        <p:spPr>
          <a:xfrm flipH="1" flipV="1">
            <a:off x="3943060" y="4279855"/>
            <a:ext cx="674709" cy="1068505"/>
          </a:xfrm>
          <a:prstGeom prst="line">
            <a:avLst/>
          </a:prstGeom>
          <a:ln w="28575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65A984C1-57D8-5DB1-BE78-D4E05E3B9065}"/>
              </a:ext>
            </a:extLst>
          </p:cNvPr>
          <p:cNvSpPr txBox="1"/>
          <p:nvPr/>
        </p:nvSpPr>
        <p:spPr>
          <a:xfrm>
            <a:off x="951326" y="3352080"/>
            <a:ext cx="10702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Iteration 1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A6B0ABFE-E224-AC7A-3F0A-5CDE129BAEE4}"/>
              </a:ext>
            </a:extLst>
          </p:cNvPr>
          <p:cNvSpPr/>
          <p:nvPr/>
        </p:nvSpPr>
        <p:spPr>
          <a:xfrm>
            <a:off x="271248" y="3783820"/>
            <a:ext cx="2296109" cy="1925713"/>
          </a:xfrm>
          <a:prstGeom prst="roundRect">
            <a:avLst>
              <a:gd name="adj" fmla="val 12495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AD26AFEC-5AEE-58D4-E1AB-26E1BB75882D}"/>
              </a:ext>
            </a:extLst>
          </p:cNvPr>
          <p:cNvSpPr/>
          <p:nvPr/>
        </p:nvSpPr>
        <p:spPr>
          <a:xfrm>
            <a:off x="5935135" y="4194549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F5549763-8B6C-C0E4-83B8-44F261CCD3A2}"/>
              </a:ext>
            </a:extLst>
          </p:cNvPr>
          <p:cNvSpPr/>
          <p:nvPr/>
        </p:nvSpPr>
        <p:spPr>
          <a:xfrm>
            <a:off x="7360992" y="4214967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B344F8D0-BEDB-9863-7601-BC16510F319A}"/>
              </a:ext>
            </a:extLst>
          </p:cNvPr>
          <p:cNvSpPr txBox="1"/>
          <p:nvPr/>
        </p:nvSpPr>
        <p:spPr>
          <a:xfrm>
            <a:off x="6002113" y="4243336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EBCC3F01-6AF9-1CA0-BBE7-227A57DC6F47}"/>
              </a:ext>
            </a:extLst>
          </p:cNvPr>
          <p:cNvSpPr txBox="1"/>
          <p:nvPr/>
        </p:nvSpPr>
        <p:spPr>
          <a:xfrm>
            <a:off x="7423906" y="4263754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6ECFE5FA-661D-D9C2-4E13-EB9E66E33180}"/>
              </a:ext>
            </a:extLst>
          </p:cNvPr>
          <p:cNvSpPr/>
          <p:nvPr/>
        </p:nvSpPr>
        <p:spPr>
          <a:xfrm>
            <a:off x="5748914" y="4917166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20FEA91F-B79D-82EC-D3D8-1CAFF45B2B02}"/>
              </a:ext>
            </a:extLst>
          </p:cNvPr>
          <p:cNvSpPr/>
          <p:nvPr/>
        </p:nvSpPr>
        <p:spPr>
          <a:xfrm>
            <a:off x="7361475" y="4988427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8B5F8003-A1AD-4FD2-2201-95F22ACACBBA}"/>
              </a:ext>
            </a:extLst>
          </p:cNvPr>
          <p:cNvSpPr txBox="1"/>
          <p:nvPr/>
        </p:nvSpPr>
        <p:spPr>
          <a:xfrm>
            <a:off x="5805571" y="4976027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1C518F59-021D-C122-0231-F5094BABCCAF}"/>
              </a:ext>
            </a:extLst>
          </p:cNvPr>
          <p:cNvSpPr txBox="1"/>
          <p:nvPr/>
        </p:nvSpPr>
        <p:spPr>
          <a:xfrm>
            <a:off x="7428430" y="5017434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4D1C8FA9-219D-B717-DD87-C0D36BB1DBC2}"/>
              </a:ext>
            </a:extLst>
          </p:cNvPr>
          <p:cNvCxnSpPr>
            <a:cxnSpLocks/>
            <a:stCxn id="149" idx="4"/>
            <a:endCxn id="153" idx="0"/>
          </p:cNvCxnSpPr>
          <p:nvPr/>
        </p:nvCxnSpPr>
        <p:spPr>
          <a:xfrm flipH="1">
            <a:off x="5977514" y="4651749"/>
            <a:ext cx="186221" cy="265417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DFB1DF4D-42F0-EE40-D110-6FCBB80C88B9}"/>
              </a:ext>
            </a:extLst>
          </p:cNvPr>
          <p:cNvCxnSpPr>
            <a:cxnSpLocks/>
            <a:stCxn id="150" idx="2"/>
            <a:endCxn id="149" idx="6"/>
          </p:cNvCxnSpPr>
          <p:nvPr/>
        </p:nvCxnSpPr>
        <p:spPr>
          <a:xfrm flipH="1" flipV="1">
            <a:off x="6392335" y="4423149"/>
            <a:ext cx="968657" cy="20418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DA73FB49-C8FA-9D8A-8BF8-0425742EC7E3}"/>
              </a:ext>
            </a:extLst>
          </p:cNvPr>
          <p:cNvCxnSpPr>
            <a:cxnSpLocks/>
            <a:stCxn id="154" idx="0"/>
            <a:endCxn id="150" idx="4"/>
          </p:cNvCxnSpPr>
          <p:nvPr/>
        </p:nvCxnSpPr>
        <p:spPr>
          <a:xfrm flipH="1" flipV="1">
            <a:off x="7589592" y="4672167"/>
            <a:ext cx="483" cy="31626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61EF0CC5-7C41-C958-ABA4-2C8045B3E9FF}"/>
              </a:ext>
            </a:extLst>
          </p:cNvPr>
          <p:cNvCxnSpPr>
            <a:cxnSpLocks/>
            <a:stCxn id="154" idx="2"/>
            <a:endCxn id="153" idx="6"/>
          </p:cNvCxnSpPr>
          <p:nvPr/>
        </p:nvCxnSpPr>
        <p:spPr>
          <a:xfrm flipH="1" flipV="1">
            <a:off x="6206114" y="5145766"/>
            <a:ext cx="1155361" cy="71261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CA8D430A-5614-202C-FBE3-4B63DFEE7D48}"/>
              </a:ext>
            </a:extLst>
          </p:cNvPr>
          <p:cNvCxnSpPr>
            <a:cxnSpLocks/>
            <a:stCxn id="150" idx="3"/>
            <a:endCxn id="153" idx="7"/>
          </p:cNvCxnSpPr>
          <p:nvPr/>
        </p:nvCxnSpPr>
        <p:spPr>
          <a:xfrm flipH="1">
            <a:off x="6139159" y="4605212"/>
            <a:ext cx="1288788" cy="378909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463FC440-B9A7-ED5F-23E8-707487577821}"/>
              </a:ext>
            </a:extLst>
          </p:cNvPr>
          <p:cNvCxnSpPr>
            <a:cxnSpLocks/>
            <a:stCxn id="154" idx="1"/>
            <a:endCxn id="149" idx="5"/>
          </p:cNvCxnSpPr>
          <p:nvPr/>
        </p:nvCxnSpPr>
        <p:spPr>
          <a:xfrm flipH="1" flipV="1">
            <a:off x="6325380" y="4584794"/>
            <a:ext cx="1103050" cy="470588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97E03147-6111-9CAB-7290-34064F61C7C3}"/>
              </a:ext>
            </a:extLst>
          </p:cNvPr>
          <p:cNvSpPr/>
          <p:nvPr/>
        </p:nvSpPr>
        <p:spPr>
          <a:xfrm>
            <a:off x="8577639" y="4009883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E21647EF-C3F1-4B40-9C75-727A46896C2C}"/>
              </a:ext>
            </a:extLst>
          </p:cNvPr>
          <p:cNvSpPr/>
          <p:nvPr/>
        </p:nvSpPr>
        <p:spPr>
          <a:xfrm>
            <a:off x="9451900" y="4040064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A2F1BBB7-38B5-A26F-262C-7B89F1B076E1}"/>
              </a:ext>
            </a:extLst>
          </p:cNvPr>
          <p:cNvSpPr txBox="1"/>
          <p:nvPr/>
        </p:nvSpPr>
        <p:spPr>
          <a:xfrm>
            <a:off x="8644617" y="4058670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83D6D52A-B70A-3D17-D5DC-46C312B1872A}"/>
              </a:ext>
            </a:extLst>
          </p:cNvPr>
          <p:cNvSpPr txBox="1"/>
          <p:nvPr/>
        </p:nvSpPr>
        <p:spPr>
          <a:xfrm>
            <a:off x="9514814" y="408885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1930AA19-2BAB-19C8-BD58-F9C804588D23}"/>
              </a:ext>
            </a:extLst>
          </p:cNvPr>
          <p:cNvSpPr/>
          <p:nvPr/>
        </p:nvSpPr>
        <p:spPr>
          <a:xfrm>
            <a:off x="8073661" y="4984121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C188987F-DD3E-2E1A-FA30-AD1C518EECF2}"/>
              </a:ext>
            </a:extLst>
          </p:cNvPr>
          <p:cNvSpPr/>
          <p:nvPr/>
        </p:nvSpPr>
        <p:spPr>
          <a:xfrm>
            <a:off x="9581115" y="5263034"/>
            <a:ext cx="457200" cy="4572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4D499AFC-3FD5-9EEF-6C44-8EA441102B36}"/>
              </a:ext>
            </a:extLst>
          </p:cNvPr>
          <p:cNvSpPr txBox="1"/>
          <p:nvPr/>
        </p:nvSpPr>
        <p:spPr>
          <a:xfrm>
            <a:off x="8130318" y="5042982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482FE9DD-FC07-92F3-8F97-D587CBB28F01}"/>
              </a:ext>
            </a:extLst>
          </p:cNvPr>
          <p:cNvSpPr txBox="1"/>
          <p:nvPr/>
        </p:nvSpPr>
        <p:spPr>
          <a:xfrm>
            <a:off x="9648070" y="529204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2FD5DD8D-E972-0F89-AE27-D0458FAF6C4B}"/>
              </a:ext>
            </a:extLst>
          </p:cNvPr>
          <p:cNvCxnSpPr>
            <a:cxnSpLocks/>
            <a:stCxn id="163" idx="4"/>
            <a:endCxn id="167" idx="0"/>
          </p:cNvCxnSpPr>
          <p:nvPr/>
        </p:nvCxnSpPr>
        <p:spPr>
          <a:xfrm flipH="1">
            <a:off x="8302261" y="4467083"/>
            <a:ext cx="503978" cy="517038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D9E13A61-21A3-27A4-E93F-1B0FA7B508AB}"/>
              </a:ext>
            </a:extLst>
          </p:cNvPr>
          <p:cNvCxnSpPr>
            <a:cxnSpLocks/>
            <a:stCxn id="164" idx="2"/>
            <a:endCxn id="163" idx="6"/>
          </p:cNvCxnSpPr>
          <p:nvPr/>
        </p:nvCxnSpPr>
        <p:spPr>
          <a:xfrm flipH="1" flipV="1">
            <a:off x="9034839" y="4238483"/>
            <a:ext cx="417061" cy="30181"/>
          </a:xfrm>
          <a:prstGeom prst="line">
            <a:avLst/>
          </a:prstGeom>
          <a:ln w="28575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624AB06A-FF87-24ED-DD1E-29F6FE0E7BDA}"/>
              </a:ext>
            </a:extLst>
          </p:cNvPr>
          <p:cNvCxnSpPr>
            <a:cxnSpLocks/>
            <a:stCxn id="168" idx="0"/>
            <a:endCxn id="164" idx="4"/>
          </p:cNvCxnSpPr>
          <p:nvPr/>
        </p:nvCxnSpPr>
        <p:spPr>
          <a:xfrm flipH="1" flipV="1">
            <a:off x="9680500" y="4497264"/>
            <a:ext cx="129215" cy="76577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48DDADBE-1EA8-4603-907C-5BC662C5574A}"/>
              </a:ext>
            </a:extLst>
          </p:cNvPr>
          <p:cNvCxnSpPr>
            <a:cxnSpLocks/>
            <a:stCxn id="168" idx="2"/>
            <a:endCxn id="167" idx="6"/>
          </p:cNvCxnSpPr>
          <p:nvPr/>
        </p:nvCxnSpPr>
        <p:spPr>
          <a:xfrm flipH="1" flipV="1">
            <a:off x="8530861" y="5212721"/>
            <a:ext cx="1050254" cy="278913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3FA39F2C-0CE0-D81F-FABE-A2A15658D60C}"/>
              </a:ext>
            </a:extLst>
          </p:cNvPr>
          <p:cNvCxnSpPr>
            <a:cxnSpLocks/>
            <a:stCxn id="164" idx="3"/>
            <a:endCxn id="167" idx="7"/>
          </p:cNvCxnSpPr>
          <p:nvPr/>
        </p:nvCxnSpPr>
        <p:spPr>
          <a:xfrm flipH="1">
            <a:off x="8463906" y="4430309"/>
            <a:ext cx="1054949" cy="62076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1301D9D7-D3CE-9021-9CEA-2A32DD7FDFB7}"/>
              </a:ext>
            </a:extLst>
          </p:cNvPr>
          <p:cNvCxnSpPr>
            <a:cxnSpLocks/>
            <a:stCxn id="168" idx="1"/>
            <a:endCxn id="163" idx="5"/>
          </p:cNvCxnSpPr>
          <p:nvPr/>
        </p:nvCxnSpPr>
        <p:spPr>
          <a:xfrm flipH="1" flipV="1">
            <a:off x="8967884" y="4400128"/>
            <a:ext cx="680186" cy="929861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Right Arrow 176">
            <a:extLst>
              <a:ext uri="{FF2B5EF4-FFF2-40B4-BE49-F238E27FC236}">
                <a16:creationId xmlns:a16="http://schemas.microsoft.com/office/drawing/2014/main" id="{E0CD1843-D765-98E0-11A4-691B279DE352}"/>
              </a:ext>
            </a:extLst>
          </p:cNvPr>
          <p:cNvSpPr/>
          <p:nvPr/>
        </p:nvSpPr>
        <p:spPr>
          <a:xfrm>
            <a:off x="5022350" y="4547206"/>
            <a:ext cx="568997" cy="457199"/>
          </a:xfrm>
          <a:prstGeom prst="rightArrow">
            <a:avLst>
              <a:gd name="adj1" fmla="val 62176"/>
              <a:gd name="adj2" fmla="val 46251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F68EFFFF-EACD-69F8-766B-2EFFC63CD63D}"/>
              </a:ext>
            </a:extLst>
          </p:cNvPr>
          <p:cNvSpPr txBox="1"/>
          <p:nvPr/>
        </p:nvSpPr>
        <p:spPr>
          <a:xfrm>
            <a:off x="7360992" y="3350502"/>
            <a:ext cx="10702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Iteration 2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046CECC6-3AAE-35DF-70AE-AF34AFDFEDF6}"/>
              </a:ext>
            </a:extLst>
          </p:cNvPr>
          <p:cNvCxnSpPr>
            <a:cxnSpLocks/>
            <a:stCxn id="154" idx="6"/>
            <a:endCxn id="167" idx="2"/>
          </p:cNvCxnSpPr>
          <p:nvPr/>
        </p:nvCxnSpPr>
        <p:spPr>
          <a:xfrm flipV="1">
            <a:off x="7818675" y="5212721"/>
            <a:ext cx="254986" cy="430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27A2D121-270F-17CD-A47D-9E39165B1668}"/>
              </a:ext>
            </a:extLst>
          </p:cNvPr>
          <p:cNvCxnSpPr>
            <a:cxnSpLocks/>
            <a:stCxn id="163" idx="2"/>
            <a:endCxn id="150" idx="6"/>
          </p:cNvCxnSpPr>
          <p:nvPr/>
        </p:nvCxnSpPr>
        <p:spPr>
          <a:xfrm flipH="1">
            <a:off x="7818192" y="4238483"/>
            <a:ext cx="759447" cy="205084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FA4C2F8C-3A46-6D98-6D82-F43B68C6731C}"/>
              </a:ext>
            </a:extLst>
          </p:cNvPr>
          <p:cNvCxnSpPr>
            <a:cxnSpLocks/>
            <a:stCxn id="163" idx="3"/>
            <a:endCxn id="154" idx="7"/>
          </p:cNvCxnSpPr>
          <p:nvPr/>
        </p:nvCxnSpPr>
        <p:spPr>
          <a:xfrm flipH="1">
            <a:off x="7751720" y="4400128"/>
            <a:ext cx="892874" cy="655254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1176BFE0-6140-E022-84F1-8642AB284004}"/>
              </a:ext>
            </a:extLst>
          </p:cNvPr>
          <p:cNvCxnSpPr>
            <a:cxnSpLocks/>
            <a:stCxn id="167" idx="1"/>
            <a:endCxn id="150" idx="5"/>
          </p:cNvCxnSpPr>
          <p:nvPr/>
        </p:nvCxnSpPr>
        <p:spPr>
          <a:xfrm flipH="1" flipV="1">
            <a:off x="7751237" y="4605212"/>
            <a:ext cx="389379" cy="445864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870822FF-1AE7-AC7D-716C-45310E31B08B}"/>
              </a:ext>
            </a:extLst>
          </p:cNvPr>
          <p:cNvCxnSpPr>
            <a:cxnSpLocks/>
            <a:stCxn id="168" idx="2"/>
            <a:endCxn id="154" idx="5"/>
          </p:cNvCxnSpPr>
          <p:nvPr/>
        </p:nvCxnSpPr>
        <p:spPr>
          <a:xfrm flipH="1" flipV="1">
            <a:off x="7751720" y="5378672"/>
            <a:ext cx="1829395" cy="112962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ABF23001-CCAD-3D50-2AC7-515F159552EA}"/>
              </a:ext>
            </a:extLst>
          </p:cNvPr>
          <p:cNvSpPr txBox="1"/>
          <p:nvPr/>
        </p:nvSpPr>
        <p:spPr>
          <a:xfrm>
            <a:off x="491220" y="5335371"/>
            <a:ext cx="199702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Possible species: H</a:t>
            </a:r>
            <a:r>
              <a:rPr lang="en-US" sz="15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, O</a:t>
            </a:r>
            <a:r>
              <a:rPr lang="en-US" sz="15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FE1B1423-529D-AF93-3B95-97C6D839E991}"/>
              </a:ext>
            </a:extLst>
          </p:cNvPr>
          <p:cNvSpPr txBox="1"/>
          <p:nvPr/>
        </p:nvSpPr>
        <p:spPr>
          <a:xfrm>
            <a:off x="6573440" y="5620735"/>
            <a:ext cx="270106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Possible species: H</a:t>
            </a:r>
            <a:r>
              <a:rPr lang="en-US" sz="15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, HO</a:t>
            </a:r>
            <a:r>
              <a:rPr lang="en-US" sz="15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, OH, O</a:t>
            </a:r>
            <a:endParaRPr lang="en-US" sz="15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5" name="Plus 204">
            <a:extLst>
              <a:ext uri="{FF2B5EF4-FFF2-40B4-BE49-F238E27FC236}">
                <a16:creationId xmlns:a16="http://schemas.microsoft.com/office/drawing/2014/main" id="{AFA1E0F8-FE91-8862-C205-1F4B401B9F7B}"/>
              </a:ext>
            </a:extLst>
          </p:cNvPr>
          <p:cNvSpPr/>
          <p:nvPr/>
        </p:nvSpPr>
        <p:spPr>
          <a:xfrm>
            <a:off x="2625187" y="4400128"/>
            <a:ext cx="488887" cy="488888"/>
          </a:xfrm>
          <a:prstGeom prst="mathPlus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7A113B60-0E69-A64D-C00A-D6901E9320D3}"/>
              </a:ext>
            </a:extLst>
          </p:cNvPr>
          <p:cNvSpPr txBox="1"/>
          <p:nvPr/>
        </p:nvSpPr>
        <p:spPr>
          <a:xfrm>
            <a:off x="3228127" y="3149920"/>
            <a:ext cx="21045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Adding the minimum growing unit</a:t>
            </a:r>
          </a:p>
        </p:txBody>
      </p:sp>
      <p:sp>
        <p:nvSpPr>
          <p:cNvPr id="207" name="Rounded Rectangle 206">
            <a:extLst>
              <a:ext uri="{FF2B5EF4-FFF2-40B4-BE49-F238E27FC236}">
                <a16:creationId xmlns:a16="http://schemas.microsoft.com/office/drawing/2014/main" id="{091FECDF-1247-4180-B42B-F3E1B08D06C4}"/>
              </a:ext>
            </a:extLst>
          </p:cNvPr>
          <p:cNvSpPr/>
          <p:nvPr/>
        </p:nvSpPr>
        <p:spPr>
          <a:xfrm>
            <a:off x="5670038" y="3846395"/>
            <a:ext cx="4551776" cy="2226603"/>
          </a:xfrm>
          <a:prstGeom prst="roundRect">
            <a:avLst>
              <a:gd name="adj" fmla="val 12495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Right Arrow 211">
            <a:extLst>
              <a:ext uri="{FF2B5EF4-FFF2-40B4-BE49-F238E27FC236}">
                <a16:creationId xmlns:a16="http://schemas.microsoft.com/office/drawing/2014/main" id="{AE644233-7700-3668-64A2-B0AB0C86BE6D}"/>
              </a:ext>
            </a:extLst>
          </p:cNvPr>
          <p:cNvSpPr/>
          <p:nvPr/>
        </p:nvSpPr>
        <p:spPr>
          <a:xfrm>
            <a:off x="10476800" y="4580652"/>
            <a:ext cx="568997" cy="457199"/>
          </a:xfrm>
          <a:prstGeom prst="rightArrow">
            <a:avLst>
              <a:gd name="adj1" fmla="val 62176"/>
              <a:gd name="adj2" fmla="val 46251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7713D6C0-41AD-ACD7-DB73-341C09C63402}"/>
              </a:ext>
            </a:extLst>
          </p:cNvPr>
          <p:cNvSpPr txBox="1"/>
          <p:nvPr/>
        </p:nvSpPr>
        <p:spPr>
          <a:xfrm>
            <a:off x="11182163" y="4329965"/>
            <a:ext cx="5501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CA7AE4E6-BCC5-3E6A-8C38-D808542D2FD5}"/>
              </a:ext>
            </a:extLst>
          </p:cNvPr>
          <p:cNvSpPr>
            <a:spLocks noChangeAspect="1"/>
          </p:cNvSpPr>
          <p:nvPr/>
        </p:nvSpPr>
        <p:spPr>
          <a:xfrm>
            <a:off x="613686" y="5964861"/>
            <a:ext cx="228600" cy="2286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87C5C613-9375-B45E-A566-DBDD017D32A7}"/>
              </a:ext>
            </a:extLst>
          </p:cNvPr>
          <p:cNvSpPr txBox="1"/>
          <p:nvPr/>
        </p:nvSpPr>
        <p:spPr>
          <a:xfrm>
            <a:off x="1016152" y="5949412"/>
            <a:ext cx="8797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Atom node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4E9EC2E2-60BB-AA5E-38CB-7FCD3F1C3406}"/>
              </a:ext>
            </a:extLst>
          </p:cNvPr>
          <p:cNvCxnSpPr>
            <a:cxnSpLocks/>
          </p:cNvCxnSpPr>
          <p:nvPr/>
        </p:nvCxnSpPr>
        <p:spPr>
          <a:xfrm flipH="1">
            <a:off x="515371" y="6360658"/>
            <a:ext cx="418749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899E1661-D1DF-7B4D-5C5F-D7F12DEDE0F7}"/>
              </a:ext>
            </a:extLst>
          </p:cNvPr>
          <p:cNvSpPr txBox="1"/>
          <p:nvPr/>
        </p:nvSpPr>
        <p:spPr>
          <a:xfrm>
            <a:off x="1016152" y="6217850"/>
            <a:ext cx="22643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Possible bond edge (positive link)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CA42FAAB-25DC-AE08-DA85-0CD0D84E3156}"/>
              </a:ext>
            </a:extLst>
          </p:cNvPr>
          <p:cNvCxnSpPr>
            <a:cxnSpLocks/>
          </p:cNvCxnSpPr>
          <p:nvPr/>
        </p:nvCxnSpPr>
        <p:spPr>
          <a:xfrm flipH="1">
            <a:off x="512295" y="6616600"/>
            <a:ext cx="41874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D47161E9-0FD9-D12E-FFD6-00879BF499AA}"/>
              </a:ext>
            </a:extLst>
          </p:cNvPr>
          <p:cNvSpPr txBox="1"/>
          <p:nvPr/>
        </p:nvSpPr>
        <p:spPr>
          <a:xfrm>
            <a:off x="1016152" y="6473792"/>
            <a:ext cx="2138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Not a bond edge (negative link)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CA80333-2CAC-C0DB-C2B6-B6D27A423A47}"/>
              </a:ext>
            </a:extLst>
          </p:cNvPr>
          <p:cNvCxnSpPr>
            <a:cxnSpLocks/>
          </p:cNvCxnSpPr>
          <p:nvPr/>
        </p:nvCxnSpPr>
        <p:spPr>
          <a:xfrm flipH="1">
            <a:off x="3435114" y="6351941"/>
            <a:ext cx="418749" cy="0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TextBox 220">
            <a:extLst>
              <a:ext uri="{FF2B5EF4-FFF2-40B4-BE49-F238E27FC236}">
                <a16:creationId xmlns:a16="http://schemas.microsoft.com/office/drawing/2014/main" id="{3878CF3F-8EB5-F346-B38F-C91770397A25}"/>
              </a:ext>
            </a:extLst>
          </p:cNvPr>
          <p:cNvSpPr txBox="1"/>
          <p:nvPr/>
        </p:nvSpPr>
        <p:spPr>
          <a:xfrm>
            <a:off x="3938971" y="6209133"/>
            <a:ext cx="14713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Undetermined edge</a:t>
            </a:r>
          </a:p>
        </p:txBody>
      </p:sp>
    </p:spTree>
    <p:extLst>
      <p:ext uri="{BB962C8B-B14F-4D97-AF65-F5344CB8AC3E}">
        <p14:creationId xmlns:p14="http://schemas.microsoft.com/office/powerpoint/2010/main" val="427330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A2562-4717-FE8F-DDCF-C8051C6CC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52377F4-C012-711E-62F3-1F2C55F5326A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F512900-120D-94B2-8AEC-ED4B2F3C849B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Direction 2 – Multi-node classification GNN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C96A315-AF57-BCB0-BD80-2F03F64D3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CF7D-2046-C245-B30D-A7832F828C2B}" type="slidenum">
              <a:rPr lang="en-US" smtClean="0"/>
              <a:t>20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D09454-AFF7-6058-865F-67836AB8C01E}"/>
              </a:ext>
            </a:extLst>
          </p:cNvPr>
          <p:cNvSpPr txBox="1"/>
          <p:nvPr/>
        </p:nvSpPr>
        <p:spPr>
          <a:xfrm>
            <a:off x="271249" y="1041836"/>
            <a:ext cx="8931102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600" b="1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Example: H/O system</a:t>
            </a:r>
          </a:p>
          <a:p>
            <a:pPr marL="285750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Initially populate multiple nodes of H atoms and O atoms. For example, </a:t>
            </a:r>
            <a:r>
              <a:rPr lang="en-US" sz="1600" b="1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50 H atoms</a:t>
            </a:r>
            <a:r>
              <a:rPr lang="en-US" sz="16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600" b="1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50 O atoms</a:t>
            </a:r>
            <a:r>
              <a:rPr lang="en-US" sz="16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Same training data, loss function, and training outputs as in Direction 1.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1CD6097-125E-DAB4-3FC6-D52E0FE1C0C2}"/>
              </a:ext>
            </a:extLst>
          </p:cNvPr>
          <p:cNvSpPr/>
          <p:nvPr/>
        </p:nvSpPr>
        <p:spPr>
          <a:xfrm>
            <a:off x="271249" y="2345775"/>
            <a:ext cx="2569228" cy="2990116"/>
          </a:xfrm>
          <a:prstGeom prst="roundRect">
            <a:avLst>
              <a:gd name="adj" fmla="val 12438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1FFE2BE-90C2-EB9E-92D3-4C142F667077}"/>
              </a:ext>
            </a:extLst>
          </p:cNvPr>
          <p:cNvGraphicFramePr>
            <a:graphicFrameLocks noGrp="1"/>
          </p:cNvGraphicFramePr>
          <p:nvPr/>
        </p:nvGraphicFramePr>
        <p:xfrm>
          <a:off x="2996355" y="2511411"/>
          <a:ext cx="2200114" cy="1854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200114">
                  <a:extLst>
                    <a:ext uri="{9D8B030D-6E8A-4147-A177-3AD203B41FA5}">
                      <a16:colId xmlns:a16="http://schemas.microsoft.com/office/drawing/2014/main" val="3004482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Atom node embeddings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298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Atomic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797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Valence electrons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887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Electronegativity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163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Spin multiplicity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099363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7E3493EE-FFC7-F12E-5840-28BDD3395B29}"/>
              </a:ext>
            </a:extLst>
          </p:cNvPr>
          <p:cNvGraphicFramePr>
            <a:graphicFrameLocks noGrp="1"/>
          </p:cNvGraphicFramePr>
          <p:nvPr/>
        </p:nvGraphicFramePr>
        <p:xfrm>
          <a:off x="2996354" y="4594211"/>
          <a:ext cx="220011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114">
                  <a:extLst>
                    <a:ext uri="{9D8B030D-6E8A-4147-A177-3AD203B41FA5}">
                      <a16:colId xmlns:a16="http://schemas.microsoft.com/office/drawing/2014/main" val="26459643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Bond edge embeddings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61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Interatomic distance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0232191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359C926E-1143-13B8-5817-193C9ABDDFD5}"/>
              </a:ext>
            </a:extLst>
          </p:cNvPr>
          <p:cNvSpPr txBox="1"/>
          <p:nvPr/>
        </p:nvSpPr>
        <p:spPr>
          <a:xfrm>
            <a:off x="2840477" y="2058557"/>
            <a:ext cx="25989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Embedding features (inputs)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6449215-9622-3BA1-7E88-53E60468AC67}"/>
              </a:ext>
            </a:extLst>
          </p:cNvPr>
          <p:cNvSpPr/>
          <p:nvPr/>
        </p:nvSpPr>
        <p:spPr>
          <a:xfrm>
            <a:off x="1992166" y="4374576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2B4083-D013-5285-BD51-BE88EFDC89E0}"/>
              </a:ext>
            </a:extLst>
          </p:cNvPr>
          <p:cNvSpPr txBox="1"/>
          <p:nvPr/>
        </p:nvSpPr>
        <p:spPr>
          <a:xfrm>
            <a:off x="1992166" y="4355559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5D16386-DBA8-BBFC-6C6C-81E1F324C9FC}"/>
              </a:ext>
            </a:extLst>
          </p:cNvPr>
          <p:cNvSpPr/>
          <p:nvPr/>
        </p:nvSpPr>
        <p:spPr>
          <a:xfrm>
            <a:off x="1198854" y="4521679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9AB8EF-F48F-7098-3935-E4EA8740CF13}"/>
              </a:ext>
            </a:extLst>
          </p:cNvPr>
          <p:cNvSpPr txBox="1"/>
          <p:nvPr/>
        </p:nvSpPr>
        <p:spPr>
          <a:xfrm>
            <a:off x="1198854" y="4502662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3827C15-FBD4-647B-CD97-3A06B615BECC}"/>
              </a:ext>
            </a:extLst>
          </p:cNvPr>
          <p:cNvSpPr/>
          <p:nvPr/>
        </p:nvSpPr>
        <p:spPr>
          <a:xfrm>
            <a:off x="2381664" y="3897187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30E878-3F5A-7FCB-40F3-71CD841F7D17}"/>
              </a:ext>
            </a:extLst>
          </p:cNvPr>
          <p:cNvSpPr txBox="1"/>
          <p:nvPr/>
        </p:nvSpPr>
        <p:spPr>
          <a:xfrm>
            <a:off x="2381664" y="3878170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6A19A38-6783-74D7-7365-DCBB8B4919B3}"/>
              </a:ext>
            </a:extLst>
          </p:cNvPr>
          <p:cNvSpPr/>
          <p:nvPr/>
        </p:nvSpPr>
        <p:spPr>
          <a:xfrm>
            <a:off x="1588352" y="4044290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528A65-9C37-8B12-9D4E-EE3BDB12FA20}"/>
              </a:ext>
            </a:extLst>
          </p:cNvPr>
          <p:cNvSpPr txBox="1"/>
          <p:nvPr/>
        </p:nvSpPr>
        <p:spPr>
          <a:xfrm>
            <a:off x="1588352" y="4025273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E4ABA32-2626-56AE-6345-A63018F79AF1}"/>
              </a:ext>
            </a:extLst>
          </p:cNvPr>
          <p:cNvSpPr/>
          <p:nvPr/>
        </p:nvSpPr>
        <p:spPr>
          <a:xfrm>
            <a:off x="1144979" y="3663665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17551C-E37A-E4C0-8AC0-B27F756C745F}"/>
              </a:ext>
            </a:extLst>
          </p:cNvPr>
          <p:cNvSpPr txBox="1"/>
          <p:nvPr/>
        </p:nvSpPr>
        <p:spPr>
          <a:xfrm>
            <a:off x="1144979" y="3644648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59911D7-CE02-D5E3-02B0-FB68CAEED545}"/>
              </a:ext>
            </a:extLst>
          </p:cNvPr>
          <p:cNvSpPr/>
          <p:nvPr/>
        </p:nvSpPr>
        <p:spPr>
          <a:xfrm>
            <a:off x="505338" y="3706288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562C51-43FA-3D20-B68A-9DE114B23268}"/>
              </a:ext>
            </a:extLst>
          </p:cNvPr>
          <p:cNvSpPr txBox="1"/>
          <p:nvPr/>
        </p:nvSpPr>
        <p:spPr>
          <a:xfrm>
            <a:off x="505338" y="3687271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51F0949-96E8-BD82-D50C-1ABA5274AACB}"/>
              </a:ext>
            </a:extLst>
          </p:cNvPr>
          <p:cNvSpPr/>
          <p:nvPr/>
        </p:nvSpPr>
        <p:spPr>
          <a:xfrm>
            <a:off x="1401085" y="2926881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A740B9-C683-2AF1-88FF-97B8C727A282}"/>
              </a:ext>
            </a:extLst>
          </p:cNvPr>
          <p:cNvSpPr txBox="1"/>
          <p:nvPr/>
        </p:nvSpPr>
        <p:spPr>
          <a:xfrm>
            <a:off x="1401085" y="2907864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CD611B5-44CB-5A1E-D4F3-5AECAEC089DF}"/>
              </a:ext>
            </a:extLst>
          </p:cNvPr>
          <p:cNvSpPr/>
          <p:nvPr/>
        </p:nvSpPr>
        <p:spPr>
          <a:xfrm>
            <a:off x="843253" y="3221322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35D488-2A3B-0A10-44D2-CCBEF995E8A4}"/>
              </a:ext>
            </a:extLst>
          </p:cNvPr>
          <p:cNvSpPr txBox="1"/>
          <p:nvPr/>
        </p:nvSpPr>
        <p:spPr>
          <a:xfrm>
            <a:off x="843253" y="3202305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E854967-8488-C50E-0132-8EDA4D37F1B4}"/>
              </a:ext>
            </a:extLst>
          </p:cNvPr>
          <p:cNvSpPr/>
          <p:nvPr/>
        </p:nvSpPr>
        <p:spPr>
          <a:xfrm>
            <a:off x="2373910" y="3317739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0450DBC-F4DE-46D7-620F-C6D63863A7B3}"/>
              </a:ext>
            </a:extLst>
          </p:cNvPr>
          <p:cNvSpPr txBox="1"/>
          <p:nvPr/>
        </p:nvSpPr>
        <p:spPr>
          <a:xfrm>
            <a:off x="2373910" y="3298722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228D0A3-7B73-399F-C366-B2D395DEB839}"/>
              </a:ext>
            </a:extLst>
          </p:cNvPr>
          <p:cNvSpPr/>
          <p:nvPr/>
        </p:nvSpPr>
        <p:spPr>
          <a:xfrm>
            <a:off x="1678306" y="3452621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F4FD64-4778-EC3C-1701-66ACC4988DA6}"/>
              </a:ext>
            </a:extLst>
          </p:cNvPr>
          <p:cNvSpPr txBox="1"/>
          <p:nvPr/>
        </p:nvSpPr>
        <p:spPr>
          <a:xfrm>
            <a:off x="1678306" y="3433604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A428C7B-9734-301E-A83B-26BBDEE0DD2A}"/>
              </a:ext>
            </a:extLst>
          </p:cNvPr>
          <p:cNvSpPr/>
          <p:nvPr/>
        </p:nvSpPr>
        <p:spPr>
          <a:xfrm>
            <a:off x="698390" y="2809979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E7649EA-C7F8-DED9-5E40-80B54A8F9E8C}"/>
              </a:ext>
            </a:extLst>
          </p:cNvPr>
          <p:cNvSpPr txBox="1"/>
          <p:nvPr/>
        </p:nvSpPr>
        <p:spPr>
          <a:xfrm>
            <a:off x="698390" y="2790962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98AC180-0ACB-8399-8790-D136F49169F5}"/>
              </a:ext>
            </a:extLst>
          </p:cNvPr>
          <p:cNvSpPr/>
          <p:nvPr/>
        </p:nvSpPr>
        <p:spPr>
          <a:xfrm>
            <a:off x="648312" y="4556838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8450E21-245C-564F-D44A-377B0938F4C6}"/>
              </a:ext>
            </a:extLst>
          </p:cNvPr>
          <p:cNvSpPr txBox="1"/>
          <p:nvPr/>
        </p:nvSpPr>
        <p:spPr>
          <a:xfrm>
            <a:off x="648312" y="4537821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823E88C9-BA92-AA9E-A80E-6A35D60F93B0}"/>
              </a:ext>
            </a:extLst>
          </p:cNvPr>
          <p:cNvSpPr/>
          <p:nvPr/>
        </p:nvSpPr>
        <p:spPr>
          <a:xfrm>
            <a:off x="503449" y="4145495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88965B2-615B-FE62-6E69-3E0047F698F9}"/>
              </a:ext>
            </a:extLst>
          </p:cNvPr>
          <p:cNvSpPr txBox="1"/>
          <p:nvPr/>
        </p:nvSpPr>
        <p:spPr>
          <a:xfrm>
            <a:off x="503449" y="4126478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0CC7E9F5-4A51-BDA7-2C00-8F390D1F6CD4}"/>
              </a:ext>
            </a:extLst>
          </p:cNvPr>
          <p:cNvSpPr/>
          <p:nvPr/>
        </p:nvSpPr>
        <p:spPr>
          <a:xfrm>
            <a:off x="2079703" y="3058996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2D41D21-CE10-EDD8-F44B-80A59F0B00D2}"/>
              </a:ext>
            </a:extLst>
          </p:cNvPr>
          <p:cNvSpPr txBox="1"/>
          <p:nvPr/>
        </p:nvSpPr>
        <p:spPr>
          <a:xfrm>
            <a:off x="2079703" y="3039979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28A63EE1-00EB-FCFC-BDCB-AB938276E907}"/>
              </a:ext>
            </a:extLst>
          </p:cNvPr>
          <p:cNvSpPr/>
          <p:nvPr/>
        </p:nvSpPr>
        <p:spPr>
          <a:xfrm>
            <a:off x="1934840" y="2647653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50D3BE5-5497-C6E4-0907-72DA70EE7A12}"/>
              </a:ext>
            </a:extLst>
          </p:cNvPr>
          <p:cNvSpPr txBox="1"/>
          <p:nvPr/>
        </p:nvSpPr>
        <p:spPr>
          <a:xfrm>
            <a:off x="1934840" y="2628636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ECACD9BD-560B-FD42-20F3-451923CE6385}"/>
              </a:ext>
            </a:extLst>
          </p:cNvPr>
          <p:cNvSpPr/>
          <p:nvPr/>
        </p:nvSpPr>
        <p:spPr>
          <a:xfrm>
            <a:off x="1661699" y="4668782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D01CCA0-B568-9165-FAB8-5B90469AA7B2}"/>
              </a:ext>
            </a:extLst>
          </p:cNvPr>
          <p:cNvSpPr txBox="1"/>
          <p:nvPr/>
        </p:nvSpPr>
        <p:spPr>
          <a:xfrm>
            <a:off x="1661699" y="4649765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D448AA8-465E-C707-467B-2EE4D32BCD4A}"/>
              </a:ext>
            </a:extLst>
          </p:cNvPr>
          <p:cNvCxnSpPr>
            <a:cxnSpLocks/>
            <a:stCxn id="17" idx="2"/>
            <a:endCxn id="54" idx="6"/>
          </p:cNvCxnSpPr>
          <p:nvPr/>
        </p:nvCxnSpPr>
        <p:spPr>
          <a:xfrm flipH="1" flipV="1">
            <a:off x="992597" y="2957083"/>
            <a:ext cx="408488" cy="116902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C346DA21-0D74-40CA-4981-950B4E162F91}"/>
              </a:ext>
            </a:extLst>
          </p:cNvPr>
          <p:cNvSpPr/>
          <p:nvPr/>
        </p:nvSpPr>
        <p:spPr>
          <a:xfrm>
            <a:off x="5462815" y="3696049"/>
            <a:ext cx="3894249" cy="28716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F27EF3E8-B3F1-D274-E80C-88B8410E020E}"/>
              </a:ext>
            </a:extLst>
          </p:cNvPr>
          <p:cNvSpPr/>
          <p:nvPr/>
        </p:nvSpPr>
        <p:spPr>
          <a:xfrm>
            <a:off x="5462815" y="2058557"/>
            <a:ext cx="3326914" cy="12965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3E4A989-A1E1-9577-F3F8-AC00CBA176E0}"/>
              </a:ext>
            </a:extLst>
          </p:cNvPr>
          <p:cNvSpPr txBox="1"/>
          <p:nvPr/>
        </p:nvSpPr>
        <p:spPr>
          <a:xfrm>
            <a:off x="5462815" y="2058557"/>
            <a:ext cx="33708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Training data: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Existence of species in given chemical kinetic models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Species bond length vs. bond order data from chemistry database</a:t>
            </a:r>
          </a:p>
        </p:txBody>
      </p:sp>
      <p:sp>
        <p:nvSpPr>
          <p:cNvPr id="82" name="Right Arrow 81">
            <a:extLst>
              <a:ext uri="{FF2B5EF4-FFF2-40B4-BE49-F238E27FC236}">
                <a16:creationId xmlns:a16="http://schemas.microsoft.com/office/drawing/2014/main" id="{F7CF22D9-A7DF-99BA-5A06-26DDADC99E03}"/>
              </a:ext>
            </a:extLst>
          </p:cNvPr>
          <p:cNvSpPr/>
          <p:nvPr/>
        </p:nvSpPr>
        <p:spPr>
          <a:xfrm>
            <a:off x="5352347" y="3355149"/>
            <a:ext cx="4413090" cy="356605"/>
          </a:xfrm>
          <a:prstGeom prst="rightArrow">
            <a:avLst>
              <a:gd name="adj1" fmla="val 62160"/>
              <a:gd name="adj2" fmla="val 95387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3565477-B53C-6285-0CFC-A62B2E5E79CC}"/>
              </a:ext>
            </a:extLst>
          </p:cNvPr>
          <p:cNvSpPr txBox="1"/>
          <p:nvPr/>
        </p:nvSpPr>
        <p:spPr>
          <a:xfrm>
            <a:off x="9790138" y="2939077"/>
            <a:ext cx="2357471" cy="1077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Training outputs: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Node: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existence probability in a species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Edge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: bond order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960AD347-6038-5DA8-0CF9-9BDD81CC86E8}"/>
                  </a:ext>
                </a:extLst>
              </p:cNvPr>
              <p:cNvSpPr txBox="1"/>
              <p:nvPr/>
            </p:nvSpPr>
            <p:spPr>
              <a:xfrm>
                <a:off x="5462815" y="3710739"/>
                <a:ext cx="414915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Total loss function</a:t>
                </a:r>
              </a:p>
              <a:p>
                <a:endParaRPr lang="en-US" sz="1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sz="3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𝐿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𝑡𝑜𝑡𝑎𝑙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𝐿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𝑒𝑥𝑖𝑠𝑡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𝐿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𝑏𝑜𝑛𝑑𝑠</m:t>
                          </m:r>
                        </m:sub>
                      </m:sSub>
                    </m:oMath>
                  </m:oMathPara>
                </a14:m>
                <a:endParaRPr 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960AD347-6038-5DA8-0CF9-9BDD81CC86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815" y="3710739"/>
                <a:ext cx="4149153" cy="646331"/>
              </a:xfrm>
              <a:prstGeom prst="rect">
                <a:avLst/>
              </a:prstGeom>
              <a:blipFill>
                <a:blip r:embed="rId3"/>
                <a:stretch>
                  <a:fillRect l="-917" t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5E1D9FE6-534C-A4B8-3C91-154B61EF3E25}"/>
                  </a:ext>
                </a:extLst>
              </p:cNvPr>
              <p:cNvSpPr txBox="1"/>
              <p:nvPr/>
            </p:nvSpPr>
            <p:spPr>
              <a:xfrm>
                <a:off x="5562069" y="5685432"/>
                <a:ext cx="3614301" cy="2836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𝑏𝑜𝑛𝑑𝑠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𝑏𝑜𝑛𝑑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𝑀𝑆𝐸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𝐵𝑂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𝐺𝑁𝑁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𝐵𝑂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𝑡𝑟𝑢𝑒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5E1D9FE6-534C-A4B8-3C91-154B61EF3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069" y="5685432"/>
                <a:ext cx="3614301" cy="283667"/>
              </a:xfrm>
              <a:prstGeom prst="rect">
                <a:avLst/>
              </a:prstGeom>
              <a:blipFill>
                <a:blip r:embed="rId4"/>
                <a:stretch>
                  <a:fillRect l="-1748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19AF4408-884F-FC5A-B43E-BB1E25C413F6}"/>
                  </a:ext>
                </a:extLst>
              </p:cNvPr>
              <p:cNvSpPr txBox="1"/>
              <p:nvPr/>
            </p:nvSpPr>
            <p:spPr>
              <a:xfrm>
                <a:off x="5548281" y="4692795"/>
                <a:ext cx="3480309" cy="2779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𝑒𝑥𝑖𝑠𝑡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𝑒𝑥𝑖𝑠𝑡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𝐵𝐶𝐸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𝐺𝑁𝑁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𝑡𝑟𝑢𝑒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19AF4408-884F-FC5A-B43E-BB1E25C41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8281" y="4692795"/>
                <a:ext cx="3480309" cy="277961"/>
              </a:xfrm>
              <a:prstGeom prst="rect">
                <a:avLst/>
              </a:prstGeom>
              <a:blipFill>
                <a:blip r:embed="rId5"/>
                <a:stretch>
                  <a:fillRect l="-1818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TextBox 86">
            <a:extLst>
              <a:ext uri="{FF2B5EF4-FFF2-40B4-BE49-F238E27FC236}">
                <a16:creationId xmlns:a16="http://schemas.microsoft.com/office/drawing/2014/main" id="{3678E9E3-B77A-65C6-15BE-8B5ABC34D0B7}"/>
              </a:ext>
            </a:extLst>
          </p:cNvPr>
          <p:cNvSpPr txBox="1"/>
          <p:nvPr/>
        </p:nvSpPr>
        <p:spPr>
          <a:xfrm>
            <a:off x="5480301" y="4330229"/>
            <a:ext cx="7141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where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27DF79C-B8CD-D6C8-D86A-8487C9B5794A}"/>
              </a:ext>
            </a:extLst>
          </p:cNvPr>
          <p:cNvSpPr txBox="1"/>
          <p:nvPr/>
        </p:nvSpPr>
        <p:spPr>
          <a:xfrm>
            <a:off x="6977769" y="6235796"/>
            <a:ext cx="2327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BO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bond order of the </a:t>
            </a:r>
            <a:r>
              <a:rPr lang="en-US" sz="1400" i="1" dirty="0" err="1">
                <a:latin typeface="Calibri" panose="020F0502020204030204" pitchFamily="34" charset="0"/>
                <a:cs typeface="Calibri" panose="020F0502020204030204" pitchFamily="34" charset="0"/>
              </a:rPr>
              <a:t>j</a:t>
            </a:r>
            <a:r>
              <a:rPr lang="en-US" sz="1400" baseline="30000" dirty="0" err="1"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pair</a:t>
            </a:r>
          </a:p>
        </p:txBody>
      </p:sp>
      <p:sp>
        <p:nvSpPr>
          <p:cNvPr id="89" name="Right Brace 88">
            <a:extLst>
              <a:ext uri="{FF2B5EF4-FFF2-40B4-BE49-F238E27FC236}">
                <a16:creationId xmlns:a16="http://schemas.microsoft.com/office/drawing/2014/main" id="{E012F6E3-7358-4A51-B444-6CEAE6E51093}"/>
              </a:ext>
            </a:extLst>
          </p:cNvPr>
          <p:cNvSpPr/>
          <p:nvPr/>
        </p:nvSpPr>
        <p:spPr>
          <a:xfrm rot="5400000">
            <a:off x="8066742" y="5559638"/>
            <a:ext cx="184804" cy="1119329"/>
          </a:xfrm>
          <a:prstGeom prst="rightBrace">
            <a:avLst>
              <a:gd name="adj1" fmla="val 0"/>
              <a:gd name="adj2" fmla="val 4922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ight Brace 89">
            <a:extLst>
              <a:ext uri="{FF2B5EF4-FFF2-40B4-BE49-F238E27FC236}">
                <a16:creationId xmlns:a16="http://schemas.microsoft.com/office/drawing/2014/main" id="{79B3FD75-DB5F-FE3C-CD2B-DEBE8A74540C}"/>
              </a:ext>
            </a:extLst>
          </p:cNvPr>
          <p:cNvSpPr/>
          <p:nvPr/>
        </p:nvSpPr>
        <p:spPr>
          <a:xfrm rot="5400000">
            <a:off x="7873812" y="4696165"/>
            <a:ext cx="184804" cy="857647"/>
          </a:xfrm>
          <a:prstGeom prst="rightBrace">
            <a:avLst>
              <a:gd name="adj1" fmla="val 0"/>
              <a:gd name="adj2" fmla="val 4922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386214F-4186-A05A-D0C1-7D519B59486F}"/>
              </a:ext>
            </a:extLst>
          </p:cNvPr>
          <p:cNvSpPr txBox="1"/>
          <p:nvPr/>
        </p:nvSpPr>
        <p:spPr>
          <a:xfrm>
            <a:off x="7030639" y="5189802"/>
            <a:ext cx="2137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probability of a node </a:t>
            </a:r>
            <a:r>
              <a:rPr lang="en-US" sz="1400" i="1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within a species</a:t>
            </a: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AFD83BBB-51BF-C4A5-BBC5-1FC53479B7D6}"/>
              </a:ext>
            </a:extLst>
          </p:cNvPr>
          <p:cNvCxnSpPr>
            <a:cxnSpLocks/>
            <a:stCxn id="19" idx="1"/>
            <a:endCxn id="54" idx="4"/>
          </p:cNvCxnSpPr>
          <p:nvPr/>
        </p:nvCxnSpPr>
        <p:spPr>
          <a:xfrm flipH="1" flipV="1">
            <a:off x="845494" y="3104186"/>
            <a:ext cx="40845" cy="160222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31636D3F-178C-2AA3-42B1-F92F6E7FEC59}"/>
              </a:ext>
            </a:extLst>
          </p:cNvPr>
          <p:cNvCxnSpPr>
            <a:cxnSpLocks/>
            <a:stCxn id="63" idx="2"/>
            <a:endCxn id="17" idx="7"/>
          </p:cNvCxnSpPr>
          <p:nvPr/>
        </p:nvCxnSpPr>
        <p:spPr>
          <a:xfrm flipH="1">
            <a:off x="1652206" y="2794757"/>
            <a:ext cx="282634" cy="175210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D28E8A8B-0415-153A-25E3-C52CABB37909}"/>
              </a:ext>
            </a:extLst>
          </p:cNvPr>
          <p:cNvCxnSpPr>
            <a:cxnSpLocks/>
            <a:stCxn id="63" idx="5"/>
            <a:endCxn id="61" idx="0"/>
          </p:cNvCxnSpPr>
          <p:nvPr/>
        </p:nvCxnSpPr>
        <p:spPr>
          <a:xfrm>
            <a:off x="2185961" y="2898774"/>
            <a:ext cx="40846" cy="160222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0FA6665F-E89D-11A7-5EA5-D92D6F2A3550}"/>
              </a:ext>
            </a:extLst>
          </p:cNvPr>
          <p:cNvCxnSpPr>
            <a:cxnSpLocks/>
            <a:stCxn id="61" idx="5"/>
            <a:endCxn id="41" idx="1"/>
          </p:cNvCxnSpPr>
          <p:nvPr/>
        </p:nvCxnSpPr>
        <p:spPr>
          <a:xfrm>
            <a:off x="2330824" y="3310117"/>
            <a:ext cx="86172" cy="50708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505FE458-4BCD-B7A9-0D68-6A1FB3BDC57F}"/>
              </a:ext>
            </a:extLst>
          </p:cNvPr>
          <p:cNvCxnSpPr>
            <a:cxnSpLocks/>
            <a:stCxn id="41" idx="4"/>
            <a:endCxn id="7" idx="0"/>
          </p:cNvCxnSpPr>
          <p:nvPr/>
        </p:nvCxnSpPr>
        <p:spPr>
          <a:xfrm>
            <a:off x="2521014" y="3611946"/>
            <a:ext cx="7754" cy="285241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55A6AD10-7955-D36E-C1F8-253C16B090D9}"/>
              </a:ext>
            </a:extLst>
          </p:cNvPr>
          <p:cNvCxnSpPr>
            <a:cxnSpLocks/>
            <a:stCxn id="7" idx="4"/>
            <a:endCxn id="29" idx="7"/>
          </p:cNvCxnSpPr>
          <p:nvPr/>
        </p:nvCxnSpPr>
        <p:spPr>
          <a:xfrm flipH="1">
            <a:off x="2243287" y="4191394"/>
            <a:ext cx="285481" cy="226268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D6160616-0108-49C4-1565-516DF1D9C91D}"/>
              </a:ext>
            </a:extLst>
          </p:cNvPr>
          <p:cNvCxnSpPr>
            <a:cxnSpLocks/>
            <a:stCxn id="29" idx="3"/>
            <a:endCxn id="65" idx="7"/>
          </p:cNvCxnSpPr>
          <p:nvPr/>
        </p:nvCxnSpPr>
        <p:spPr>
          <a:xfrm flipH="1">
            <a:off x="1912820" y="4625697"/>
            <a:ext cx="122432" cy="86171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C4C5662F-FD8A-F900-3123-4BF24B62AB90}"/>
              </a:ext>
            </a:extLst>
          </p:cNvPr>
          <p:cNvCxnSpPr>
            <a:cxnSpLocks/>
            <a:stCxn id="65" idx="2"/>
            <a:endCxn id="3" idx="6"/>
          </p:cNvCxnSpPr>
          <p:nvPr/>
        </p:nvCxnSpPr>
        <p:spPr>
          <a:xfrm flipH="1" flipV="1">
            <a:off x="1493061" y="4668783"/>
            <a:ext cx="168638" cy="147103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2698970E-41C3-58C6-6103-2A67611C74D9}"/>
              </a:ext>
            </a:extLst>
          </p:cNvPr>
          <p:cNvCxnSpPr>
            <a:cxnSpLocks/>
            <a:stCxn id="3" idx="2"/>
            <a:endCxn id="57" idx="6"/>
          </p:cNvCxnSpPr>
          <p:nvPr/>
        </p:nvCxnSpPr>
        <p:spPr>
          <a:xfrm flipH="1">
            <a:off x="942519" y="4668783"/>
            <a:ext cx="256335" cy="35159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521F3B63-F404-3062-862C-70442C05D8A4}"/>
              </a:ext>
            </a:extLst>
          </p:cNvPr>
          <p:cNvCxnSpPr>
            <a:cxnSpLocks/>
            <a:stCxn id="57" idx="1"/>
            <a:endCxn id="59" idx="4"/>
          </p:cNvCxnSpPr>
          <p:nvPr/>
        </p:nvCxnSpPr>
        <p:spPr>
          <a:xfrm flipH="1" flipV="1">
            <a:off x="650553" y="4439702"/>
            <a:ext cx="40845" cy="160222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2188F25A-100F-72D8-DDA6-3B3CB7995193}"/>
              </a:ext>
            </a:extLst>
          </p:cNvPr>
          <p:cNvCxnSpPr>
            <a:cxnSpLocks/>
            <a:stCxn id="59" idx="0"/>
            <a:endCxn id="14" idx="4"/>
          </p:cNvCxnSpPr>
          <p:nvPr/>
        </p:nvCxnSpPr>
        <p:spPr>
          <a:xfrm flipV="1">
            <a:off x="650553" y="4000495"/>
            <a:ext cx="1889" cy="145000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145F64F2-C022-B01F-47B9-856971218C64}"/>
              </a:ext>
            </a:extLst>
          </p:cNvPr>
          <p:cNvCxnSpPr>
            <a:cxnSpLocks/>
            <a:stCxn id="14" idx="0"/>
            <a:endCxn id="19" idx="3"/>
          </p:cNvCxnSpPr>
          <p:nvPr/>
        </p:nvCxnSpPr>
        <p:spPr>
          <a:xfrm flipV="1">
            <a:off x="652442" y="3472443"/>
            <a:ext cx="233897" cy="233845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4B2570D7-A57E-4A11-9F33-EF86A12DA3CF}"/>
              </a:ext>
            </a:extLst>
          </p:cNvPr>
          <p:cNvCxnSpPr>
            <a:cxnSpLocks/>
            <a:stCxn id="11" idx="1"/>
            <a:endCxn id="19" idx="5"/>
          </p:cNvCxnSpPr>
          <p:nvPr/>
        </p:nvCxnSpPr>
        <p:spPr>
          <a:xfrm flipH="1" flipV="1">
            <a:off x="1094374" y="3472443"/>
            <a:ext cx="93691" cy="234308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9191F676-B5A5-AD1B-FF5C-87E79BA4F731}"/>
              </a:ext>
            </a:extLst>
          </p:cNvPr>
          <p:cNvCxnSpPr>
            <a:cxnSpLocks/>
            <a:stCxn id="11" idx="0"/>
            <a:endCxn id="17" idx="4"/>
          </p:cNvCxnSpPr>
          <p:nvPr/>
        </p:nvCxnSpPr>
        <p:spPr>
          <a:xfrm flipV="1">
            <a:off x="1292083" y="3221088"/>
            <a:ext cx="256106" cy="442577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98C190C7-EA62-7E42-514A-182E6D3D517E}"/>
              </a:ext>
            </a:extLst>
          </p:cNvPr>
          <p:cNvCxnSpPr>
            <a:cxnSpLocks/>
            <a:stCxn id="44" idx="1"/>
            <a:endCxn id="17" idx="4"/>
          </p:cNvCxnSpPr>
          <p:nvPr/>
        </p:nvCxnSpPr>
        <p:spPr>
          <a:xfrm flipH="1" flipV="1">
            <a:off x="1548189" y="3221088"/>
            <a:ext cx="173203" cy="274619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5125CC39-0776-234D-FE63-9FD940E0A293}"/>
              </a:ext>
            </a:extLst>
          </p:cNvPr>
          <p:cNvCxnSpPr>
            <a:cxnSpLocks/>
            <a:stCxn id="44" idx="7"/>
            <a:endCxn id="61" idx="3"/>
          </p:cNvCxnSpPr>
          <p:nvPr/>
        </p:nvCxnSpPr>
        <p:spPr>
          <a:xfrm flipV="1">
            <a:off x="1929427" y="3310117"/>
            <a:ext cx="193362" cy="185590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85FAD599-6B8F-0D5A-6D0F-F441C98CC6CD}"/>
              </a:ext>
            </a:extLst>
          </p:cNvPr>
          <p:cNvCxnSpPr>
            <a:cxnSpLocks/>
            <a:stCxn id="44" idx="6"/>
            <a:endCxn id="41" idx="2"/>
          </p:cNvCxnSpPr>
          <p:nvPr/>
        </p:nvCxnSpPr>
        <p:spPr>
          <a:xfrm flipV="1">
            <a:off x="1972513" y="3464843"/>
            <a:ext cx="401397" cy="134882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1A7085FE-09AF-5453-2796-0BD4F163C878}"/>
              </a:ext>
            </a:extLst>
          </p:cNvPr>
          <p:cNvCxnSpPr>
            <a:cxnSpLocks/>
            <a:stCxn id="44" idx="5"/>
            <a:endCxn id="7" idx="2"/>
          </p:cNvCxnSpPr>
          <p:nvPr/>
        </p:nvCxnSpPr>
        <p:spPr>
          <a:xfrm>
            <a:off x="1929427" y="3703742"/>
            <a:ext cx="452237" cy="340549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0222950D-DD46-6D16-5CE4-09691EA33BB5}"/>
              </a:ext>
            </a:extLst>
          </p:cNvPr>
          <p:cNvCxnSpPr>
            <a:cxnSpLocks/>
            <a:stCxn id="44" idx="4"/>
            <a:endCxn id="9" idx="0"/>
          </p:cNvCxnSpPr>
          <p:nvPr/>
        </p:nvCxnSpPr>
        <p:spPr>
          <a:xfrm flipH="1">
            <a:off x="1735456" y="3746828"/>
            <a:ext cx="89954" cy="297462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4C83810C-C0E5-D2B3-D1C9-C73017089F6F}"/>
              </a:ext>
            </a:extLst>
          </p:cNvPr>
          <p:cNvCxnSpPr>
            <a:cxnSpLocks/>
            <a:stCxn id="29" idx="1"/>
            <a:endCxn id="9" idx="5"/>
          </p:cNvCxnSpPr>
          <p:nvPr/>
        </p:nvCxnSpPr>
        <p:spPr>
          <a:xfrm flipH="1" flipV="1">
            <a:off x="1839473" y="4295411"/>
            <a:ext cx="195779" cy="122251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D8159E48-932E-6CF2-7F7F-2026DF7BBD3E}"/>
              </a:ext>
            </a:extLst>
          </p:cNvPr>
          <p:cNvCxnSpPr>
            <a:cxnSpLocks/>
            <a:stCxn id="65" idx="0"/>
            <a:endCxn id="9" idx="4"/>
          </p:cNvCxnSpPr>
          <p:nvPr/>
        </p:nvCxnSpPr>
        <p:spPr>
          <a:xfrm flipH="1" flipV="1">
            <a:off x="1735456" y="4338497"/>
            <a:ext cx="73347" cy="330285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92A204FD-3F84-6D03-066E-DBB74ABDDED4}"/>
              </a:ext>
            </a:extLst>
          </p:cNvPr>
          <p:cNvCxnSpPr>
            <a:cxnSpLocks/>
            <a:stCxn id="3" idx="0"/>
            <a:endCxn id="9" idx="3"/>
          </p:cNvCxnSpPr>
          <p:nvPr/>
        </p:nvCxnSpPr>
        <p:spPr>
          <a:xfrm flipV="1">
            <a:off x="1345958" y="4295411"/>
            <a:ext cx="285480" cy="226268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EA0C5A29-E07F-A16A-D19F-DA546C3A2445}"/>
              </a:ext>
            </a:extLst>
          </p:cNvPr>
          <p:cNvCxnSpPr>
            <a:cxnSpLocks/>
            <a:stCxn id="57" idx="7"/>
            <a:endCxn id="11" idx="4"/>
          </p:cNvCxnSpPr>
          <p:nvPr/>
        </p:nvCxnSpPr>
        <p:spPr>
          <a:xfrm flipV="1">
            <a:off x="899433" y="3957872"/>
            <a:ext cx="392650" cy="642052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E001BDA0-8A8A-C5C2-E915-C8332F923234}"/>
              </a:ext>
            </a:extLst>
          </p:cNvPr>
          <p:cNvCxnSpPr>
            <a:cxnSpLocks/>
            <a:stCxn id="14" idx="6"/>
            <a:endCxn id="11" idx="2"/>
          </p:cNvCxnSpPr>
          <p:nvPr/>
        </p:nvCxnSpPr>
        <p:spPr>
          <a:xfrm flipV="1">
            <a:off x="799545" y="3810769"/>
            <a:ext cx="345434" cy="42623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BC51E23B-28B6-F994-0F3F-7D415FAF436A}"/>
              </a:ext>
            </a:extLst>
          </p:cNvPr>
          <p:cNvCxnSpPr>
            <a:cxnSpLocks/>
            <a:stCxn id="59" idx="6"/>
            <a:endCxn id="11" idx="3"/>
          </p:cNvCxnSpPr>
          <p:nvPr/>
        </p:nvCxnSpPr>
        <p:spPr>
          <a:xfrm flipV="1">
            <a:off x="797656" y="3914786"/>
            <a:ext cx="390409" cy="377813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BC52BE4B-D087-0F75-3E88-E47C6D30D9EC}"/>
              </a:ext>
            </a:extLst>
          </p:cNvPr>
          <p:cNvCxnSpPr>
            <a:cxnSpLocks/>
            <a:stCxn id="11" idx="5"/>
            <a:endCxn id="9" idx="1"/>
          </p:cNvCxnSpPr>
          <p:nvPr/>
        </p:nvCxnSpPr>
        <p:spPr>
          <a:xfrm>
            <a:off x="1396100" y="3914786"/>
            <a:ext cx="235338" cy="172590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0C14246B-E98A-8A2F-9C2C-7866038BE9C4}"/>
              </a:ext>
            </a:extLst>
          </p:cNvPr>
          <p:cNvCxnSpPr>
            <a:cxnSpLocks/>
            <a:stCxn id="44" idx="5"/>
            <a:endCxn id="29" idx="0"/>
          </p:cNvCxnSpPr>
          <p:nvPr/>
        </p:nvCxnSpPr>
        <p:spPr>
          <a:xfrm>
            <a:off x="1929427" y="3703742"/>
            <a:ext cx="209843" cy="670834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69F5E301-5194-4D04-442E-0D65A924FF9F}"/>
              </a:ext>
            </a:extLst>
          </p:cNvPr>
          <p:cNvCxnSpPr>
            <a:cxnSpLocks/>
            <a:stCxn id="17" idx="6"/>
            <a:endCxn id="61" idx="1"/>
          </p:cNvCxnSpPr>
          <p:nvPr/>
        </p:nvCxnSpPr>
        <p:spPr>
          <a:xfrm>
            <a:off x="1695292" y="3073985"/>
            <a:ext cx="427497" cy="28097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DECBE80E-819D-608A-4210-6F8FEE6DECD7}"/>
              </a:ext>
            </a:extLst>
          </p:cNvPr>
          <p:cNvCxnSpPr>
            <a:cxnSpLocks/>
            <a:stCxn id="19" idx="6"/>
            <a:endCxn id="17" idx="3"/>
          </p:cNvCxnSpPr>
          <p:nvPr/>
        </p:nvCxnSpPr>
        <p:spPr>
          <a:xfrm flipV="1">
            <a:off x="1137460" y="3178002"/>
            <a:ext cx="306711" cy="190424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AD01BEDB-E9EC-3C6F-8300-453EEEF0A195}"/>
              </a:ext>
            </a:extLst>
          </p:cNvPr>
          <p:cNvCxnSpPr>
            <a:cxnSpLocks/>
            <a:stCxn id="9" idx="7"/>
            <a:endCxn id="41" idx="3"/>
          </p:cNvCxnSpPr>
          <p:nvPr/>
        </p:nvCxnSpPr>
        <p:spPr>
          <a:xfrm flipV="1">
            <a:off x="1839473" y="3568860"/>
            <a:ext cx="577523" cy="518516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53CBBCF6-ACBF-95EC-7325-9DAEDA82B745}"/>
              </a:ext>
            </a:extLst>
          </p:cNvPr>
          <p:cNvCxnSpPr>
            <a:cxnSpLocks/>
            <a:stCxn id="11" idx="6"/>
            <a:endCxn id="44" idx="3"/>
          </p:cNvCxnSpPr>
          <p:nvPr/>
        </p:nvCxnSpPr>
        <p:spPr>
          <a:xfrm flipV="1">
            <a:off x="1439186" y="3703742"/>
            <a:ext cx="282206" cy="107027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6E85CA51-BB4A-4E0F-CA92-5CC3DB562575}"/>
              </a:ext>
            </a:extLst>
          </p:cNvPr>
          <p:cNvCxnSpPr>
            <a:cxnSpLocks/>
            <a:stCxn id="59" idx="6"/>
            <a:endCxn id="9" idx="2"/>
          </p:cNvCxnSpPr>
          <p:nvPr/>
        </p:nvCxnSpPr>
        <p:spPr>
          <a:xfrm flipV="1">
            <a:off x="797656" y="4191394"/>
            <a:ext cx="790696" cy="101205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2D718C76-A0D2-248B-8BB0-C30ED9BE8A6C}"/>
              </a:ext>
            </a:extLst>
          </p:cNvPr>
          <p:cNvCxnSpPr>
            <a:cxnSpLocks/>
            <a:stCxn id="9" idx="6"/>
            <a:endCxn id="7" idx="2"/>
          </p:cNvCxnSpPr>
          <p:nvPr/>
        </p:nvCxnSpPr>
        <p:spPr>
          <a:xfrm flipV="1">
            <a:off x="1882559" y="4044291"/>
            <a:ext cx="499105" cy="147103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67D3CD64-2065-EAF0-061A-7851C9B85AB6}"/>
              </a:ext>
            </a:extLst>
          </p:cNvPr>
          <p:cNvCxnSpPr>
            <a:cxnSpLocks/>
            <a:stCxn id="14" idx="0"/>
            <a:endCxn id="54" idx="3"/>
          </p:cNvCxnSpPr>
          <p:nvPr/>
        </p:nvCxnSpPr>
        <p:spPr>
          <a:xfrm flipV="1">
            <a:off x="652442" y="3061100"/>
            <a:ext cx="89034" cy="645188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437E6344-9C2B-A310-7AE3-1FB5A7A37C98}"/>
              </a:ext>
            </a:extLst>
          </p:cNvPr>
          <p:cNvCxnSpPr>
            <a:cxnSpLocks/>
            <a:stCxn id="54" idx="7"/>
            <a:endCxn id="63" idx="1"/>
          </p:cNvCxnSpPr>
          <p:nvPr/>
        </p:nvCxnSpPr>
        <p:spPr>
          <a:xfrm flipV="1">
            <a:off x="949511" y="2690739"/>
            <a:ext cx="1028415" cy="162326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19B3689C-D5A8-67F8-6DB2-8346A9773DAC}"/>
              </a:ext>
            </a:extLst>
          </p:cNvPr>
          <p:cNvCxnSpPr>
            <a:cxnSpLocks/>
            <a:stCxn id="63" idx="6"/>
            <a:endCxn id="41" idx="7"/>
          </p:cNvCxnSpPr>
          <p:nvPr/>
        </p:nvCxnSpPr>
        <p:spPr>
          <a:xfrm>
            <a:off x="2229047" y="2794757"/>
            <a:ext cx="395984" cy="566068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D597B01A-550A-A176-BB77-C5FB9B3EB4DC}"/>
              </a:ext>
            </a:extLst>
          </p:cNvPr>
          <p:cNvCxnSpPr>
            <a:cxnSpLocks/>
            <a:stCxn id="57" idx="4"/>
            <a:endCxn id="65" idx="3"/>
          </p:cNvCxnSpPr>
          <p:nvPr/>
        </p:nvCxnSpPr>
        <p:spPr>
          <a:xfrm>
            <a:off x="795416" y="4851045"/>
            <a:ext cx="909369" cy="68858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BA0A3A60-E0FB-EFE9-A3DB-9E2564DBA14E}"/>
              </a:ext>
            </a:extLst>
          </p:cNvPr>
          <p:cNvCxnSpPr>
            <a:cxnSpLocks/>
            <a:stCxn id="11" idx="4"/>
            <a:endCxn id="3" idx="1"/>
          </p:cNvCxnSpPr>
          <p:nvPr/>
        </p:nvCxnSpPr>
        <p:spPr>
          <a:xfrm flipH="1">
            <a:off x="1241940" y="3957872"/>
            <a:ext cx="50143" cy="606893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TextBox 256">
            <a:extLst>
              <a:ext uri="{FF2B5EF4-FFF2-40B4-BE49-F238E27FC236}">
                <a16:creationId xmlns:a16="http://schemas.microsoft.com/office/drawing/2014/main" id="{19799B06-EBEB-21E9-2C33-95BF5C8DB001}"/>
              </a:ext>
            </a:extLst>
          </p:cNvPr>
          <p:cNvSpPr txBox="1"/>
          <p:nvPr/>
        </p:nvSpPr>
        <p:spPr>
          <a:xfrm>
            <a:off x="1308685" y="4688211"/>
            <a:ext cx="5501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463252B2-F52F-F78A-7BF8-C2AF8D00F67F}"/>
              </a:ext>
            </a:extLst>
          </p:cNvPr>
          <p:cNvSpPr txBox="1"/>
          <p:nvPr/>
        </p:nvSpPr>
        <p:spPr>
          <a:xfrm>
            <a:off x="1297290" y="2049818"/>
            <a:ext cx="5501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3C57A242-ED15-C3F0-4980-DE5C067A7912}"/>
              </a:ext>
            </a:extLst>
          </p:cNvPr>
          <p:cNvSpPr txBox="1"/>
          <p:nvPr/>
        </p:nvSpPr>
        <p:spPr>
          <a:xfrm>
            <a:off x="400853" y="5397360"/>
            <a:ext cx="24341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The GNN is supposed to be fully connected. Not all the edges are displayed simply for visualization purpose.</a:t>
            </a:r>
          </a:p>
        </p:txBody>
      </p:sp>
    </p:spTree>
    <p:extLst>
      <p:ext uri="{BB962C8B-B14F-4D97-AF65-F5344CB8AC3E}">
        <p14:creationId xmlns:p14="http://schemas.microsoft.com/office/powerpoint/2010/main" val="1700841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24CC1-9A30-E1D7-B96E-8924F65FC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8C009DA-E679-51A5-B5CB-1C086909973A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9437531-8925-B779-6A09-4B2C91203D2B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Direction 2 – More on training data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72CF415-A4D9-0429-137D-AE515F474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CF7D-2046-C245-B30D-A7832F828C2B}" type="slidenum">
              <a:rPr lang="en-US" smtClean="0"/>
              <a:t>21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803720-424C-7D58-62FC-7DC6BA231FA4}"/>
              </a:ext>
            </a:extLst>
          </p:cNvPr>
          <p:cNvSpPr txBox="1"/>
          <p:nvPr/>
        </p:nvSpPr>
        <p:spPr>
          <a:xfrm>
            <a:off x="271249" y="1041836"/>
            <a:ext cx="8931102" cy="1438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600" b="1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Types of the training data (</a:t>
            </a:r>
            <a:r>
              <a:rPr lang="en-US" sz="16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same as in Direction 1 but with larger graph sizes</a:t>
            </a:r>
            <a:r>
              <a:rPr lang="en-US" sz="1600" b="1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285750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Graphs with variations in inter-node distances (interatomic distances) generated randomly. </a:t>
            </a:r>
          </a:p>
          <a:p>
            <a:pPr marL="285750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Existing species of H/O system can be obtained from chemical kinetic models, e.g., FFCM-2.</a:t>
            </a:r>
          </a:p>
          <a:p>
            <a:pPr marL="285750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bond order information of the existing species will be estimated based on their inter-node distances (e.g., using Pauling bond order formula).  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852CE28-DBAE-1C0D-2CED-EA4218B3CE52}"/>
              </a:ext>
            </a:extLst>
          </p:cNvPr>
          <p:cNvSpPr/>
          <p:nvPr/>
        </p:nvSpPr>
        <p:spPr>
          <a:xfrm>
            <a:off x="2414637" y="4929771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DFDA049-B1B6-C29E-0CDF-52C14D3D3AA6}"/>
              </a:ext>
            </a:extLst>
          </p:cNvPr>
          <p:cNvSpPr txBox="1"/>
          <p:nvPr/>
        </p:nvSpPr>
        <p:spPr>
          <a:xfrm>
            <a:off x="2414637" y="4910754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23A4EA2-7229-6064-824A-DDB1646E4A62}"/>
              </a:ext>
            </a:extLst>
          </p:cNvPr>
          <p:cNvSpPr/>
          <p:nvPr/>
        </p:nvSpPr>
        <p:spPr>
          <a:xfrm>
            <a:off x="1594846" y="5253481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16E6BA-7A53-946D-3CE6-D353A155B806}"/>
              </a:ext>
            </a:extLst>
          </p:cNvPr>
          <p:cNvSpPr txBox="1"/>
          <p:nvPr/>
        </p:nvSpPr>
        <p:spPr>
          <a:xfrm>
            <a:off x="1594846" y="5234464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D7ECF3C-AD97-B688-2169-74977E160E67}"/>
              </a:ext>
            </a:extLst>
          </p:cNvPr>
          <p:cNvSpPr/>
          <p:nvPr/>
        </p:nvSpPr>
        <p:spPr>
          <a:xfrm>
            <a:off x="2680735" y="4589977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B2A040-DB9D-372D-4902-97250D942FFA}"/>
              </a:ext>
            </a:extLst>
          </p:cNvPr>
          <p:cNvSpPr txBox="1"/>
          <p:nvPr/>
        </p:nvSpPr>
        <p:spPr>
          <a:xfrm>
            <a:off x="2680735" y="4570960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4F60535-1EE5-77AC-9732-EF084E630F6C}"/>
              </a:ext>
            </a:extLst>
          </p:cNvPr>
          <p:cNvSpPr/>
          <p:nvPr/>
        </p:nvSpPr>
        <p:spPr>
          <a:xfrm>
            <a:off x="2050706" y="4679188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37251D-FE4E-ED50-7AE9-189E2A45CA40}"/>
              </a:ext>
            </a:extLst>
          </p:cNvPr>
          <p:cNvSpPr txBox="1"/>
          <p:nvPr/>
        </p:nvSpPr>
        <p:spPr>
          <a:xfrm>
            <a:off x="2050706" y="4660171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1AF0321-9F86-F13F-B3B4-1008911343CC}"/>
              </a:ext>
            </a:extLst>
          </p:cNvPr>
          <p:cNvSpPr/>
          <p:nvPr/>
        </p:nvSpPr>
        <p:spPr>
          <a:xfrm>
            <a:off x="1567450" y="4218860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C52178-889D-88D5-B208-7ED490B57131}"/>
              </a:ext>
            </a:extLst>
          </p:cNvPr>
          <p:cNvSpPr txBox="1"/>
          <p:nvPr/>
        </p:nvSpPr>
        <p:spPr>
          <a:xfrm>
            <a:off x="1567450" y="4199843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0B8EDC9-D585-B6B6-ACFF-6FF0D70D44B9}"/>
              </a:ext>
            </a:extLst>
          </p:cNvPr>
          <p:cNvSpPr/>
          <p:nvPr/>
        </p:nvSpPr>
        <p:spPr>
          <a:xfrm>
            <a:off x="638359" y="4348364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99BDDF-B86C-362B-8058-5FE302B5DF82}"/>
              </a:ext>
            </a:extLst>
          </p:cNvPr>
          <p:cNvSpPr txBox="1"/>
          <p:nvPr/>
        </p:nvSpPr>
        <p:spPr>
          <a:xfrm>
            <a:off x="638359" y="4329347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A57AC48-7F79-21AC-6B54-FF95800B2355}"/>
              </a:ext>
            </a:extLst>
          </p:cNvPr>
          <p:cNvSpPr/>
          <p:nvPr/>
        </p:nvSpPr>
        <p:spPr>
          <a:xfrm>
            <a:off x="1767243" y="3302738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2B6435-0BCE-A242-A8E4-5E66BFBFAF82}"/>
              </a:ext>
            </a:extLst>
          </p:cNvPr>
          <p:cNvSpPr txBox="1"/>
          <p:nvPr/>
        </p:nvSpPr>
        <p:spPr>
          <a:xfrm>
            <a:off x="1767243" y="3283721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5FE866C-B755-E5D2-4C00-CF2CAACAA40F}"/>
              </a:ext>
            </a:extLst>
          </p:cNvPr>
          <p:cNvSpPr/>
          <p:nvPr/>
        </p:nvSpPr>
        <p:spPr>
          <a:xfrm>
            <a:off x="1265724" y="3776517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D18A74-A348-C144-28C0-2A0AF76D5105}"/>
              </a:ext>
            </a:extLst>
          </p:cNvPr>
          <p:cNvSpPr txBox="1"/>
          <p:nvPr/>
        </p:nvSpPr>
        <p:spPr>
          <a:xfrm>
            <a:off x="1265724" y="3757500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B3DD251-3F4A-9428-B6ED-DB3536A1CC85}"/>
              </a:ext>
            </a:extLst>
          </p:cNvPr>
          <p:cNvSpPr/>
          <p:nvPr/>
        </p:nvSpPr>
        <p:spPr>
          <a:xfrm>
            <a:off x="2796381" y="3945744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DEBBFD9-1D86-709D-D0A3-DB3C4B168A09}"/>
              </a:ext>
            </a:extLst>
          </p:cNvPr>
          <p:cNvSpPr txBox="1"/>
          <p:nvPr/>
        </p:nvSpPr>
        <p:spPr>
          <a:xfrm>
            <a:off x="2796381" y="3926727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433B7C3-7A01-5CFF-3F74-0B468C25DAC5}"/>
              </a:ext>
            </a:extLst>
          </p:cNvPr>
          <p:cNvSpPr/>
          <p:nvPr/>
        </p:nvSpPr>
        <p:spPr>
          <a:xfrm>
            <a:off x="2100777" y="4007816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5BB3440-DA50-163A-BB82-7CF13EA3C4FA}"/>
              </a:ext>
            </a:extLst>
          </p:cNvPr>
          <p:cNvSpPr txBox="1"/>
          <p:nvPr/>
        </p:nvSpPr>
        <p:spPr>
          <a:xfrm>
            <a:off x="2100777" y="3988799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EFFBDC2-7A96-F060-93AC-810852CE3DA7}"/>
              </a:ext>
            </a:extLst>
          </p:cNvPr>
          <p:cNvSpPr/>
          <p:nvPr/>
        </p:nvSpPr>
        <p:spPr>
          <a:xfrm>
            <a:off x="1120861" y="3365174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F6D4371-9A65-8653-5104-A8186E7575CF}"/>
              </a:ext>
            </a:extLst>
          </p:cNvPr>
          <p:cNvSpPr txBox="1"/>
          <p:nvPr/>
        </p:nvSpPr>
        <p:spPr>
          <a:xfrm>
            <a:off x="1120861" y="3346157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E60E706-30F2-E98C-01B9-94A2E2DAE1E7}"/>
              </a:ext>
            </a:extLst>
          </p:cNvPr>
          <p:cNvSpPr/>
          <p:nvPr/>
        </p:nvSpPr>
        <p:spPr>
          <a:xfrm>
            <a:off x="781333" y="5198914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735AF58-C106-8722-5ECE-96D319E57A18}"/>
              </a:ext>
            </a:extLst>
          </p:cNvPr>
          <p:cNvSpPr txBox="1"/>
          <p:nvPr/>
        </p:nvSpPr>
        <p:spPr>
          <a:xfrm>
            <a:off x="781333" y="5179897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E43E60A9-5539-FAFF-93B1-E6F28844B66F}"/>
              </a:ext>
            </a:extLst>
          </p:cNvPr>
          <p:cNvSpPr/>
          <p:nvPr/>
        </p:nvSpPr>
        <p:spPr>
          <a:xfrm>
            <a:off x="636470" y="4787571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E45D370-B354-93B7-8C73-EBA3CF90AED3}"/>
              </a:ext>
            </a:extLst>
          </p:cNvPr>
          <p:cNvSpPr txBox="1"/>
          <p:nvPr/>
        </p:nvSpPr>
        <p:spPr>
          <a:xfrm>
            <a:off x="636470" y="4768554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2E62A56-DFC2-8224-7590-AA78AC976B39}"/>
              </a:ext>
            </a:extLst>
          </p:cNvPr>
          <p:cNvSpPr/>
          <p:nvPr/>
        </p:nvSpPr>
        <p:spPr>
          <a:xfrm>
            <a:off x="2452070" y="3655686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DC8171A-8A0D-5F3A-8C2F-7AEF7610D0A8}"/>
              </a:ext>
            </a:extLst>
          </p:cNvPr>
          <p:cNvSpPr txBox="1"/>
          <p:nvPr/>
        </p:nvSpPr>
        <p:spPr>
          <a:xfrm>
            <a:off x="2452070" y="3647760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3FB14CA0-0B8E-C993-D4D4-D18D66899BD9}"/>
              </a:ext>
            </a:extLst>
          </p:cNvPr>
          <p:cNvSpPr/>
          <p:nvPr/>
        </p:nvSpPr>
        <p:spPr>
          <a:xfrm>
            <a:off x="2207967" y="3082632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4D2537C-80CB-AD40-3E73-8FB25753BE5B}"/>
              </a:ext>
            </a:extLst>
          </p:cNvPr>
          <p:cNvSpPr txBox="1"/>
          <p:nvPr/>
        </p:nvSpPr>
        <p:spPr>
          <a:xfrm>
            <a:off x="2207967" y="3063615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5BC1201D-E197-ADFA-E3F6-3A8195F9232F}"/>
              </a:ext>
            </a:extLst>
          </p:cNvPr>
          <p:cNvSpPr/>
          <p:nvPr/>
        </p:nvSpPr>
        <p:spPr>
          <a:xfrm>
            <a:off x="2057691" y="5400584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34EBAB2-66D5-B867-3BFB-0D6494988130}"/>
              </a:ext>
            </a:extLst>
          </p:cNvPr>
          <p:cNvSpPr txBox="1"/>
          <p:nvPr/>
        </p:nvSpPr>
        <p:spPr>
          <a:xfrm>
            <a:off x="2057691" y="5381567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0DAA873-86C1-C68E-F1E3-D45D05E4FA7E}"/>
              </a:ext>
            </a:extLst>
          </p:cNvPr>
          <p:cNvCxnSpPr>
            <a:cxnSpLocks/>
            <a:stCxn id="17" idx="2"/>
            <a:endCxn id="54" idx="6"/>
          </p:cNvCxnSpPr>
          <p:nvPr/>
        </p:nvCxnSpPr>
        <p:spPr>
          <a:xfrm flipH="1">
            <a:off x="1415068" y="3449842"/>
            <a:ext cx="352175" cy="6243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97497539-8208-2333-E25D-88F1583C53E7}"/>
              </a:ext>
            </a:extLst>
          </p:cNvPr>
          <p:cNvCxnSpPr>
            <a:cxnSpLocks/>
            <a:stCxn id="19" idx="1"/>
            <a:endCxn id="54" idx="4"/>
          </p:cNvCxnSpPr>
          <p:nvPr/>
        </p:nvCxnSpPr>
        <p:spPr>
          <a:xfrm flipH="1" flipV="1">
            <a:off x="1267965" y="3659381"/>
            <a:ext cx="40845" cy="160222"/>
          </a:xfrm>
          <a:prstGeom prst="line">
            <a:avLst/>
          </a:prstGeom>
          <a:ln w="28575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E7281F98-2746-BEC6-B112-2217F8419671}"/>
              </a:ext>
            </a:extLst>
          </p:cNvPr>
          <p:cNvCxnSpPr>
            <a:cxnSpLocks/>
            <a:stCxn id="63" idx="2"/>
            <a:endCxn id="17" idx="7"/>
          </p:cNvCxnSpPr>
          <p:nvPr/>
        </p:nvCxnSpPr>
        <p:spPr>
          <a:xfrm flipH="1">
            <a:off x="2018364" y="3229736"/>
            <a:ext cx="189603" cy="116088"/>
          </a:xfrm>
          <a:prstGeom prst="line">
            <a:avLst/>
          </a:prstGeom>
          <a:ln w="28575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376611A2-6E6F-263A-84B1-38C65C3CAE5F}"/>
              </a:ext>
            </a:extLst>
          </p:cNvPr>
          <p:cNvCxnSpPr>
            <a:cxnSpLocks/>
            <a:stCxn id="63" idx="5"/>
            <a:endCxn id="61" idx="0"/>
          </p:cNvCxnSpPr>
          <p:nvPr/>
        </p:nvCxnSpPr>
        <p:spPr>
          <a:xfrm>
            <a:off x="2459088" y="3333753"/>
            <a:ext cx="140086" cy="321933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C19E78BF-17C5-AB46-E147-4BC1F8EC2441}"/>
              </a:ext>
            </a:extLst>
          </p:cNvPr>
          <p:cNvCxnSpPr>
            <a:cxnSpLocks/>
            <a:stCxn id="61" idx="5"/>
            <a:endCxn id="41" idx="1"/>
          </p:cNvCxnSpPr>
          <p:nvPr/>
        </p:nvCxnSpPr>
        <p:spPr>
          <a:xfrm>
            <a:off x="2703191" y="3906807"/>
            <a:ext cx="136276" cy="82023"/>
          </a:xfrm>
          <a:prstGeom prst="line">
            <a:avLst/>
          </a:prstGeom>
          <a:ln w="28575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EF275E7E-4AA1-0052-84C2-8CD07219AAC9}"/>
              </a:ext>
            </a:extLst>
          </p:cNvPr>
          <p:cNvCxnSpPr>
            <a:cxnSpLocks/>
            <a:stCxn id="41" idx="4"/>
            <a:endCxn id="7" idx="0"/>
          </p:cNvCxnSpPr>
          <p:nvPr/>
        </p:nvCxnSpPr>
        <p:spPr>
          <a:xfrm flipH="1">
            <a:off x="2827839" y="4239951"/>
            <a:ext cx="115646" cy="35002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1CB5E8C4-E462-7BD8-AAA2-FB865891D289}"/>
              </a:ext>
            </a:extLst>
          </p:cNvPr>
          <p:cNvCxnSpPr>
            <a:cxnSpLocks/>
            <a:stCxn id="7" idx="4"/>
            <a:endCxn id="29" idx="7"/>
          </p:cNvCxnSpPr>
          <p:nvPr/>
        </p:nvCxnSpPr>
        <p:spPr>
          <a:xfrm flipH="1">
            <a:off x="2665758" y="4884184"/>
            <a:ext cx="162081" cy="88673"/>
          </a:xfrm>
          <a:prstGeom prst="line">
            <a:avLst/>
          </a:prstGeom>
          <a:ln w="28575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40C1E288-9A86-93CA-D709-6313712FD005}"/>
              </a:ext>
            </a:extLst>
          </p:cNvPr>
          <p:cNvCxnSpPr>
            <a:cxnSpLocks/>
            <a:stCxn id="29" idx="3"/>
            <a:endCxn id="65" idx="7"/>
          </p:cNvCxnSpPr>
          <p:nvPr/>
        </p:nvCxnSpPr>
        <p:spPr>
          <a:xfrm flipH="1">
            <a:off x="2308812" y="5180892"/>
            <a:ext cx="148911" cy="262778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217F63B1-FC13-49A2-DEF8-444453DD5430}"/>
              </a:ext>
            </a:extLst>
          </p:cNvPr>
          <p:cNvCxnSpPr>
            <a:cxnSpLocks/>
            <a:stCxn id="65" idx="2"/>
            <a:endCxn id="3" idx="6"/>
          </p:cNvCxnSpPr>
          <p:nvPr/>
        </p:nvCxnSpPr>
        <p:spPr>
          <a:xfrm flipH="1" flipV="1">
            <a:off x="1889053" y="5400585"/>
            <a:ext cx="168638" cy="147103"/>
          </a:xfrm>
          <a:prstGeom prst="line">
            <a:avLst/>
          </a:prstGeom>
          <a:ln w="28575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B8C3135C-BC2F-D7EA-99D4-48E2E40A5B8A}"/>
              </a:ext>
            </a:extLst>
          </p:cNvPr>
          <p:cNvCxnSpPr>
            <a:cxnSpLocks/>
            <a:stCxn id="3" idx="2"/>
            <a:endCxn id="57" idx="6"/>
          </p:cNvCxnSpPr>
          <p:nvPr/>
        </p:nvCxnSpPr>
        <p:spPr>
          <a:xfrm flipH="1" flipV="1">
            <a:off x="1075540" y="5346018"/>
            <a:ext cx="519306" cy="5456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4C894E21-1172-7CD2-4D66-FE6B6358AD53}"/>
              </a:ext>
            </a:extLst>
          </p:cNvPr>
          <p:cNvCxnSpPr>
            <a:cxnSpLocks/>
            <a:stCxn id="57" idx="1"/>
            <a:endCxn id="59" idx="4"/>
          </p:cNvCxnSpPr>
          <p:nvPr/>
        </p:nvCxnSpPr>
        <p:spPr>
          <a:xfrm flipH="1" flipV="1">
            <a:off x="783574" y="5081778"/>
            <a:ext cx="40845" cy="160222"/>
          </a:xfrm>
          <a:prstGeom prst="line">
            <a:avLst/>
          </a:prstGeom>
          <a:ln w="28575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FD96CDDF-91E9-3C08-C367-0AABC1786856}"/>
              </a:ext>
            </a:extLst>
          </p:cNvPr>
          <p:cNvCxnSpPr>
            <a:cxnSpLocks/>
            <a:stCxn id="59" idx="0"/>
            <a:endCxn id="14" idx="4"/>
          </p:cNvCxnSpPr>
          <p:nvPr/>
        </p:nvCxnSpPr>
        <p:spPr>
          <a:xfrm flipV="1">
            <a:off x="783574" y="4642571"/>
            <a:ext cx="1889" cy="145000"/>
          </a:xfrm>
          <a:prstGeom prst="line">
            <a:avLst/>
          </a:prstGeom>
          <a:ln w="28575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A671C1F8-8143-7174-B6B9-54EAFD5E4820}"/>
              </a:ext>
            </a:extLst>
          </p:cNvPr>
          <p:cNvCxnSpPr>
            <a:cxnSpLocks/>
            <a:stCxn id="14" idx="0"/>
            <a:endCxn id="19" idx="3"/>
          </p:cNvCxnSpPr>
          <p:nvPr/>
        </p:nvCxnSpPr>
        <p:spPr>
          <a:xfrm flipV="1">
            <a:off x="785463" y="4027638"/>
            <a:ext cx="523347" cy="32072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083BE4A1-F81A-DCA8-3B6C-F168B40A4C68}"/>
              </a:ext>
            </a:extLst>
          </p:cNvPr>
          <p:cNvCxnSpPr>
            <a:cxnSpLocks/>
            <a:stCxn id="11" idx="1"/>
            <a:endCxn id="19" idx="5"/>
          </p:cNvCxnSpPr>
          <p:nvPr/>
        </p:nvCxnSpPr>
        <p:spPr>
          <a:xfrm flipH="1" flipV="1">
            <a:off x="1516845" y="4027638"/>
            <a:ext cx="93691" cy="234308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815C5AC6-6E18-F991-8F16-08B51A1DF763}"/>
              </a:ext>
            </a:extLst>
          </p:cNvPr>
          <p:cNvCxnSpPr>
            <a:cxnSpLocks/>
            <a:stCxn id="11" idx="0"/>
            <a:endCxn id="17" idx="4"/>
          </p:cNvCxnSpPr>
          <p:nvPr/>
        </p:nvCxnSpPr>
        <p:spPr>
          <a:xfrm flipV="1">
            <a:off x="1714554" y="3596945"/>
            <a:ext cx="199793" cy="621915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8512B65F-A5E1-9C9B-7CB6-74F03BA999BF}"/>
              </a:ext>
            </a:extLst>
          </p:cNvPr>
          <p:cNvCxnSpPr>
            <a:cxnSpLocks/>
            <a:stCxn id="44" idx="1"/>
            <a:endCxn id="17" idx="4"/>
          </p:cNvCxnSpPr>
          <p:nvPr/>
        </p:nvCxnSpPr>
        <p:spPr>
          <a:xfrm flipH="1" flipV="1">
            <a:off x="1914347" y="3596945"/>
            <a:ext cx="229516" cy="45395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F8BD63BB-CD3C-F52D-FEAB-015BA3B7AFA8}"/>
              </a:ext>
            </a:extLst>
          </p:cNvPr>
          <p:cNvCxnSpPr>
            <a:cxnSpLocks/>
            <a:stCxn id="44" idx="7"/>
            <a:endCxn id="61" idx="3"/>
          </p:cNvCxnSpPr>
          <p:nvPr/>
        </p:nvCxnSpPr>
        <p:spPr>
          <a:xfrm flipV="1">
            <a:off x="2351898" y="3906807"/>
            <a:ext cx="143258" cy="144095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CF2116EC-054C-5464-B48A-81EAB29CE002}"/>
              </a:ext>
            </a:extLst>
          </p:cNvPr>
          <p:cNvCxnSpPr>
            <a:cxnSpLocks/>
            <a:stCxn id="44" idx="6"/>
            <a:endCxn id="41" idx="2"/>
          </p:cNvCxnSpPr>
          <p:nvPr/>
        </p:nvCxnSpPr>
        <p:spPr>
          <a:xfrm flipV="1">
            <a:off x="2394984" y="4092848"/>
            <a:ext cx="401397" cy="62072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1E005DCB-117B-C57D-D84A-7575FBA4785A}"/>
              </a:ext>
            </a:extLst>
          </p:cNvPr>
          <p:cNvCxnSpPr>
            <a:cxnSpLocks/>
            <a:stCxn id="44" idx="5"/>
            <a:endCxn id="7" idx="2"/>
          </p:cNvCxnSpPr>
          <p:nvPr/>
        </p:nvCxnSpPr>
        <p:spPr>
          <a:xfrm>
            <a:off x="2351898" y="4258937"/>
            <a:ext cx="328837" cy="478144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25FCC4BF-9A3F-A530-CAE2-D4EBE63F06DE}"/>
              </a:ext>
            </a:extLst>
          </p:cNvPr>
          <p:cNvCxnSpPr>
            <a:cxnSpLocks/>
            <a:stCxn id="44" idx="4"/>
            <a:endCxn id="9" idx="0"/>
          </p:cNvCxnSpPr>
          <p:nvPr/>
        </p:nvCxnSpPr>
        <p:spPr>
          <a:xfrm flipH="1">
            <a:off x="2197810" y="4302023"/>
            <a:ext cx="50071" cy="377165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08A65418-2F40-A677-49C4-73BF7ABA86C6}"/>
              </a:ext>
            </a:extLst>
          </p:cNvPr>
          <p:cNvCxnSpPr>
            <a:cxnSpLocks/>
            <a:stCxn id="29" idx="1"/>
            <a:endCxn id="9" idx="5"/>
          </p:cNvCxnSpPr>
          <p:nvPr/>
        </p:nvCxnSpPr>
        <p:spPr>
          <a:xfrm flipH="1" flipV="1">
            <a:off x="2301827" y="4930309"/>
            <a:ext cx="155896" cy="42548"/>
          </a:xfrm>
          <a:prstGeom prst="line">
            <a:avLst/>
          </a:prstGeom>
          <a:ln w="28575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DFBCF991-565D-720A-0821-586457216FF4}"/>
              </a:ext>
            </a:extLst>
          </p:cNvPr>
          <p:cNvCxnSpPr>
            <a:cxnSpLocks/>
            <a:stCxn id="65" idx="0"/>
            <a:endCxn id="9" idx="4"/>
          </p:cNvCxnSpPr>
          <p:nvPr/>
        </p:nvCxnSpPr>
        <p:spPr>
          <a:xfrm flipH="1" flipV="1">
            <a:off x="2197810" y="4973395"/>
            <a:ext cx="6985" cy="427189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DE5C17CF-73DA-29E9-ACAC-3058EC8CE034}"/>
              </a:ext>
            </a:extLst>
          </p:cNvPr>
          <p:cNvCxnSpPr>
            <a:cxnSpLocks/>
            <a:stCxn id="3" idx="0"/>
            <a:endCxn id="9" idx="3"/>
          </p:cNvCxnSpPr>
          <p:nvPr/>
        </p:nvCxnSpPr>
        <p:spPr>
          <a:xfrm flipV="1">
            <a:off x="1741950" y="4930309"/>
            <a:ext cx="351842" cy="323172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B210B33F-9471-C875-569E-CD9C51074163}"/>
              </a:ext>
            </a:extLst>
          </p:cNvPr>
          <p:cNvCxnSpPr>
            <a:cxnSpLocks/>
            <a:stCxn id="57" idx="7"/>
            <a:endCxn id="11" idx="4"/>
          </p:cNvCxnSpPr>
          <p:nvPr/>
        </p:nvCxnSpPr>
        <p:spPr>
          <a:xfrm flipV="1">
            <a:off x="1032454" y="4513067"/>
            <a:ext cx="682100" cy="728933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320B6754-BCBE-6AC0-A0B8-AC44D2BD616C}"/>
              </a:ext>
            </a:extLst>
          </p:cNvPr>
          <p:cNvCxnSpPr>
            <a:cxnSpLocks/>
            <a:stCxn id="14" idx="6"/>
            <a:endCxn id="11" idx="2"/>
          </p:cNvCxnSpPr>
          <p:nvPr/>
        </p:nvCxnSpPr>
        <p:spPr>
          <a:xfrm flipV="1">
            <a:off x="932566" y="4365964"/>
            <a:ext cx="634884" cy="129504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7DD98483-C884-A8EE-04D1-180398F8238C}"/>
              </a:ext>
            </a:extLst>
          </p:cNvPr>
          <p:cNvCxnSpPr>
            <a:cxnSpLocks/>
            <a:stCxn id="59" idx="6"/>
            <a:endCxn id="11" idx="3"/>
          </p:cNvCxnSpPr>
          <p:nvPr/>
        </p:nvCxnSpPr>
        <p:spPr>
          <a:xfrm flipV="1">
            <a:off x="930677" y="4469981"/>
            <a:ext cx="679859" cy="464694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35ACB9B7-FDB1-E95F-EFC5-E6930711FC63}"/>
              </a:ext>
            </a:extLst>
          </p:cNvPr>
          <p:cNvCxnSpPr>
            <a:cxnSpLocks/>
            <a:stCxn id="11" idx="5"/>
            <a:endCxn id="9" idx="1"/>
          </p:cNvCxnSpPr>
          <p:nvPr/>
        </p:nvCxnSpPr>
        <p:spPr>
          <a:xfrm>
            <a:off x="1818571" y="4469981"/>
            <a:ext cx="275221" cy="252293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560F5BB-6032-1BD9-0ABD-6B50410E6158}"/>
              </a:ext>
            </a:extLst>
          </p:cNvPr>
          <p:cNvCxnSpPr>
            <a:cxnSpLocks/>
            <a:stCxn id="44" idx="5"/>
            <a:endCxn id="29" idx="0"/>
          </p:cNvCxnSpPr>
          <p:nvPr/>
        </p:nvCxnSpPr>
        <p:spPr>
          <a:xfrm>
            <a:off x="2351898" y="4258937"/>
            <a:ext cx="209843" cy="670834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B975EAAA-7CBC-4705-82B7-E2914143B52C}"/>
              </a:ext>
            </a:extLst>
          </p:cNvPr>
          <p:cNvCxnSpPr>
            <a:cxnSpLocks/>
            <a:stCxn id="17" idx="6"/>
            <a:endCxn id="61" idx="1"/>
          </p:cNvCxnSpPr>
          <p:nvPr/>
        </p:nvCxnSpPr>
        <p:spPr>
          <a:xfrm>
            <a:off x="2061450" y="3449842"/>
            <a:ext cx="433706" cy="24893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C0653582-E429-9CCA-1FDB-45B7104D9F14}"/>
              </a:ext>
            </a:extLst>
          </p:cNvPr>
          <p:cNvCxnSpPr>
            <a:cxnSpLocks/>
            <a:stCxn id="19" idx="6"/>
            <a:endCxn id="17" idx="3"/>
          </p:cNvCxnSpPr>
          <p:nvPr/>
        </p:nvCxnSpPr>
        <p:spPr>
          <a:xfrm flipV="1">
            <a:off x="1559931" y="3553859"/>
            <a:ext cx="250398" cy="369762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6088244A-1D3C-3185-8E06-0D47086B36AC}"/>
              </a:ext>
            </a:extLst>
          </p:cNvPr>
          <p:cNvCxnSpPr>
            <a:cxnSpLocks/>
            <a:stCxn id="9" idx="7"/>
            <a:endCxn id="41" idx="3"/>
          </p:cNvCxnSpPr>
          <p:nvPr/>
        </p:nvCxnSpPr>
        <p:spPr>
          <a:xfrm flipV="1">
            <a:off x="2301827" y="4196865"/>
            <a:ext cx="537640" cy="525409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12A958D8-92D1-54E1-8FC0-51DA5AE7036D}"/>
              </a:ext>
            </a:extLst>
          </p:cNvPr>
          <p:cNvCxnSpPr>
            <a:cxnSpLocks/>
            <a:stCxn id="11" idx="6"/>
            <a:endCxn id="44" idx="3"/>
          </p:cNvCxnSpPr>
          <p:nvPr/>
        </p:nvCxnSpPr>
        <p:spPr>
          <a:xfrm flipV="1">
            <a:off x="1861657" y="4258937"/>
            <a:ext cx="282206" cy="10702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F97A4B46-3E25-B462-0789-756C0E10A820}"/>
              </a:ext>
            </a:extLst>
          </p:cNvPr>
          <p:cNvCxnSpPr>
            <a:cxnSpLocks/>
            <a:stCxn id="59" idx="6"/>
            <a:endCxn id="9" idx="2"/>
          </p:cNvCxnSpPr>
          <p:nvPr/>
        </p:nvCxnSpPr>
        <p:spPr>
          <a:xfrm flipV="1">
            <a:off x="930677" y="4826292"/>
            <a:ext cx="1120029" cy="108383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FF1CC9FF-8CC8-2293-DAC5-B5B30469010E}"/>
              </a:ext>
            </a:extLst>
          </p:cNvPr>
          <p:cNvCxnSpPr>
            <a:cxnSpLocks/>
            <a:stCxn id="9" idx="6"/>
            <a:endCxn id="7" idx="2"/>
          </p:cNvCxnSpPr>
          <p:nvPr/>
        </p:nvCxnSpPr>
        <p:spPr>
          <a:xfrm flipV="1">
            <a:off x="2344913" y="4737081"/>
            <a:ext cx="335822" cy="89211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04F094BB-9573-210D-3DC5-08E870202015}"/>
              </a:ext>
            </a:extLst>
          </p:cNvPr>
          <p:cNvCxnSpPr>
            <a:cxnSpLocks/>
            <a:stCxn id="14" idx="0"/>
            <a:endCxn id="54" idx="3"/>
          </p:cNvCxnSpPr>
          <p:nvPr/>
        </p:nvCxnSpPr>
        <p:spPr>
          <a:xfrm flipV="1">
            <a:off x="785463" y="3616295"/>
            <a:ext cx="378484" cy="732069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E05D9FAB-6F4E-5E89-898C-652B66F3E334}"/>
              </a:ext>
            </a:extLst>
          </p:cNvPr>
          <p:cNvCxnSpPr>
            <a:cxnSpLocks/>
            <a:stCxn id="54" idx="7"/>
            <a:endCxn id="63" idx="1"/>
          </p:cNvCxnSpPr>
          <p:nvPr/>
        </p:nvCxnSpPr>
        <p:spPr>
          <a:xfrm flipV="1">
            <a:off x="1371982" y="3125718"/>
            <a:ext cx="879071" cy="282542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9962E2E0-DF7D-C18F-FEFB-23E003CE4C76}"/>
              </a:ext>
            </a:extLst>
          </p:cNvPr>
          <p:cNvCxnSpPr>
            <a:cxnSpLocks/>
            <a:stCxn id="63" idx="6"/>
            <a:endCxn id="41" idx="7"/>
          </p:cNvCxnSpPr>
          <p:nvPr/>
        </p:nvCxnSpPr>
        <p:spPr>
          <a:xfrm>
            <a:off x="2502174" y="3229736"/>
            <a:ext cx="545328" cy="759094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1C64020C-FBB1-7084-1A2C-3B1D960E398B}"/>
              </a:ext>
            </a:extLst>
          </p:cNvPr>
          <p:cNvCxnSpPr>
            <a:cxnSpLocks/>
            <a:stCxn id="57" idx="4"/>
            <a:endCxn id="65" idx="3"/>
          </p:cNvCxnSpPr>
          <p:nvPr/>
        </p:nvCxnSpPr>
        <p:spPr>
          <a:xfrm>
            <a:off x="928437" y="5493121"/>
            <a:ext cx="1172340" cy="158584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B7DD6647-151D-C9FF-FAAD-E6F7D127BD8B}"/>
              </a:ext>
            </a:extLst>
          </p:cNvPr>
          <p:cNvCxnSpPr>
            <a:cxnSpLocks/>
            <a:stCxn id="11" idx="4"/>
            <a:endCxn id="3" idx="1"/>
          </p:cNvCxnSpPr>
          <p:nvPr/>
        </p:nvCxnSpPr>
        <p:spPr>
          <a:xfrm flipH="1">
            <a:off x="1637932" y="4513067"/>
            <a:ext cx="76622" cy="78350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TextBox 256">
            <a:extLst>
              <a:ext uri="{FF2B5EF4-FFF2-40B4-BE49-F238E27FC236}">
                <a16:creationId xmlns:a16="http://schemas.microsoft.com/office/drawing/2014/main" id="{50B6ACF4-B10D-BEBD-0E17-29622FB68CED}"/>
              </a:ext>
            </a:extLst>
          </p:cNvPr>
          <p:cNvSpPr txBox="1"/>
          <p:nvPr/>
        </p:nvSpPr>
        <p:spPr>
          <a:xfrm>
            <a:off x="1489274" y="5507104"/>
            <a:ext cx="5501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B4DB4B5-EE76-3FDB-AAF5-FC51BC2A6D21}"/>
              </a:ext>
            </a:extLst>
          </p:cNvPr>
          <p:cNvSpPr txBox="1"/>
          <p:nvPr/>
        </p:nvSpPr>
        <p:spPr>
          <a:xfrm>
            <a:off x="278679" y="6076141"/>
            <a:ext cx="287174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Possible species: </a:t>
            </a:r>
          </a:p>
          <a:p>
            <a:pPr algn="ctr"/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sz="15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, 2OH, H</a:t>
            </a:r>
            <a:r>
              <a:rPr lang="en-US" sz="15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O, HO</a:t>
            </a:r>
            <a:r>
              <a:rPr lang="en-US" sz="15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, H</a:t>
            </a:r>
            <a:r>
              <a:rPr lang="en-US" sz="15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, H, O, &amp; etc.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B84F0711-FB04-5BB7-F460-357FD5669127}"/>
              </a:ext>
            </a:extLst>
          </p:cNvPr>
          <p:cNvSpPr/>
          <p:nvPr/>
        </p:nvSpPr>
        <p:spPr>
          <a:xfrm>
            <a:off x="5891462" y="5116527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E73DBAF-715C-646B-165F-F581AFCB8D79}"/>
              </a:ext>
            </a:extLst>
          </p:cNvPr>
          <p:cNvSpPr txBox="1"/>
          <p:nvPr/>
        </p:nvSpPr>
        <p:spPr>
          <a:xfrm>
            <a:off x="5891463" y="5116834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7BC9FC2C-9921-9054-78F0-C2AB1DD6193D}"/>
              </a:ext>
            </a:extLst>
          </p:cNvPr>
          <p:cNvSpPr/>
          <p:nvPr/>
        </p:nvSpPr>
        <p:spPr>
          <a:xfrm>
            <a:off x="4798402" y="5408300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1D182205-0A51-C50F-1AFA-F734DF0F1289}"/>
              </a:ext>
            </a:extLst>
          </p:cNvPr>
          <p:cNvSpPr txBox="1"/>
          <p:nvPr/>
        </p:nvSpPr>
        <p:spPr>
          <a:xfrm>
            <a:off x="4798402" y="5389283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70A56225-8431-43AA-B4F0-0596190300D2}"/>
              </a:ext>
            </a:extLst>
          </p:cNvPr>
          <p:cNvSpPr/>
          <p:nvPr/>
        </p:nvSpPr>
        <p:spPr>
          <a:xfrm>
            <a:off x="5894802" y="4700281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574D6776-9B41-7827-819D-B6C78E43F555}"/>
              </a:ext>
            </a:extLst>
          </p:cNvPr>
          <p:cNvSpPr txBox="1"/>
          <p:nvPr/>
        </p:nvSpPr>
        <p:spPr>
          <a:xfrm>
            <a:off x="5904635" y="4698399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D1D0F141-48C5-6319-9D5C-E443331B2E56}"/>
              </a:ext>
            </a:extLst>
          </p:cNvPr>
          <p:cNvSpPr/>
          <p:nvPr/>
        </p:nvSpPr>
        <p:spPr>
          <a:xfrm>
            <a:off x="4960055" y="5013929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A5DEF49-3C1F-F391-ABDD-F3286A555481}"/>
              </a:ext>
            </a:extLst>
          </p:cNvPr>
          <p:cNvSpPr txBox="1"/>
          <p:nvPr/>
        </p:nvSpPr>
        <p:spPr>
          <a:xfrm>
            <a:off x="4959078" y="5010421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110D802B-9095-8384-338F-DA4C53AAFF71}"/>
              </a:ext>
            </a:extLst>
          </p:cNvPr>
          <p:cNvSpPr/>
          <p:nvPr/>
        </p:nvSpPr>
        <p:spPr>
          <a:xfrm>
            <a:off x="4488883" y="4364170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7E2A679-B199-B95F-8D0A-A8125CFE5632}"/>
              </a:ext>
            </a:extLst>
          </p:cNvPr>
          <p:cNvSpPr txBox="1"/>
          <p:nvPr/>
        </p:nvSpPr>
        <p:spPr>
          <a:xfrm>
            <a:off x="4488883" y="4345153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20786B61-0A04-A303-035B-2622CCA8D1FE}"/>
              </a:ext>
            </a:extLst>
          </p:cNvPr>
          <p:cNvSpPr/>
          <p:nvPr/>
        </p:nvSpPr>
        <p:spPr>
          <a:xfrm>
            <a:off x="3407757" y="4198631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E3EA582-7643-2022-3C34-147EA0972FCA}"/>
              </a:ext>
            </a:extLst>
          </p:cNvPr>
          <p:cNvSpPr txBox="1"/>
          <p:nvPr/>
        </p:nvSpPr>
        <p:spPr>
          <a:xfrm>
            <a:off x="3407757" y="4179614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CBB9F266-5FF2-019E-F316-052D705EC7B6}"/>
              </a:ext>
            </a:extLst>
          </p:cNvPr>
          <p:cNvSpPr/>
          <p:nvPr/>
        </p:nvSpPr>
        <p:spPr>
          <a:xfrm>
            <a:off x="4661706" y="3301805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7C07272-F3AB-1ECC-FE85-79BD00CC4A83}"/>
              </a:ext>
            </a:extLst>
          </p:cNvPr>
          <p:cNvSpPr txBox="1"/>
          <p:nvPr/>
        </p:nvSpPr>
        <p:spPr>
          <a:xfrm>
            <a:off x="4661706" y="3282788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07E89D04-641B-7600-09F5-ACBCC69DDE2A}"/>
              </a:ext>
            </a:extLst>
          </p:cNvPr>
          <p:cNvSpPr/>
          <p:nvPr/>
        </p:nvSpPr>
        <p:spPr>
          <a:xfrm>
            <a:off x="4179554" y="3840429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AF2B64D-7DFC-0803-4979-3DF1C109329D}"/>
              </a:ext>
            </a:extLst>
          </p:cNvPr>
          <p:cNvSpPr txBox="1"/>
          <p:nvPr/>
        </p:nvSpPr>
        <p:spPr>
          <a:xfrm>
            <a:off x="4184366" y="3848980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904E56A2-E80F-1ECE-4271-E82C8A3A7FB9}"/>
              </a:ext>
            </a:extLst>
          </p:cNvPr>
          <p:cNvSpPr/>
          <p:nvPr/>
        </p:nvSpPr>
        <p:spPr>
          <a:xfrm>
            <a:off x="6299195" y="4233206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F1FEA41-5A95-57A3-784A-88945BB1FB6A}"/>
              </a:ext>
            </a:extLst>
          </p:cNvPr>
          <p:cNvSpPr txBox="1"/>
          <p:nvPr/>
        </p:nvSpPr>
        <p:spPr>
          <a:xfrm>
            <a:off x="6299195" y="4214189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CBB17F1F-D823-4CAF-AEAB-37D20EF6B1AC}"/>
              </a:ext>
            </a:extLst>
          </p:cNvPr>
          <p:cNvSpPr/>
          <p:nvPr/>
        </p:nvSpPr>
        <p:spPr>
          <a:xfrm>
            <a:off x="4964612" y="3675232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3616E734-95E4-75E0-0721-CAC5AFB49EBA}"/>
              </a:ext>
            </a:extLst>
          </p:cNvPr>
          <p:cNvSpPr txBox="1"/>
          <p:nvPr/>
        </p:nvSpPr>
        <p:spPr>
          <a:xfrm>
            <a:off x="4964612" y="3656215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8159473D-32D9-7214-D375-ADB63B9AD669}"/>
              </a:ext>
            </a:extLst>
          </p:cNvPr>
          <p:cNvSpPr/>
          <p:nvPr/>
        </p:nvSpPr>
        <p:spPr>
          <a:xfrm>
            <a:off x="4179554" y="3367455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A382A147-B536-5070-69BB-01F2E436406E}"/>
              </a:ext>
            </a:extLst>
          </p:cNvPr>
          <p:cNvSpPr txBox="1"/>
          <p:nvPr/>
        </p:nvSpPr>
        <p:spPr>
          <a:xfrm>
            <a:off x="4179554" y="3348438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C2CBBC88-7874-B216-2BA6-71822F2BA5B5}"/>
              </a:ext>
            </a:extLst>
          </p:cNvPr>
          <p:cNvSpPr/>
          <p:nvPr/>
        </p:nvSpPr>
        <p:spPr>
          <a:xfrm>
            <a:off x="3984889" y="5353733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10C54843-B933-A6BC-0E1D-0D846D5D8C86}"/>
              </a:ext>
            </a:extLst>
          </p:cNvPr>
          <p:cNvSpPr txBox="1"/>
          <p:nvPr/>
        </p:nvSpPr>
        <p:spPr>
          <a:xfrm>
            <a:off x="3984889" y="5334716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53DF949D-49FD-B400-15E1-7E45C4807A83}"/>
              </a:ext>
            </a:extLst>
          </p:cNvPr>
          <p:cNvSpPr/>
          <p:nvPr/>
        </p:nvSpPr>
        <p:spPr>
          <a:xfrm>
            <a:off x="3840026" y="4942390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2E76E0D7-BB90-624E-2B6A-B74E3B70D7CD}"/>
              </a:ext>
            </a:extLst>
          </p:cNvPr>
          <p:cNvSpPr txBox="1"/>
          <p:nvPr/>
        </p:nvSpPr>
        <p:spPr>
          <a:xfrm>
            <a:off x="3834484" y="4937846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DE368543-744D-155E-C081-579C65DF2733}"/>
              </a:ext>
            </a:extLst>
          </p:cNvPr>
          <p:cNvSpPr/>
          <p:nvPr/>
        </p:nvSpPr>
        <p:spPr>
          <a:xfrm>
            <a:off x="5954884" y="3943148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32BA324F-08A0-A8B0-91B9-F9E4CA557F18}"/>
              </a:ext>
            </a:extLst>
          </p:cNvPr>
          <p:cNvSpPr txBox="1"/>
          <p:nvPr/>
        </p:nvSpPr>
        <p:spPr>
          <a:xfrm>
            <a:off x="5954884" y="3918644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DAAE909D-79DA-8494-C30F-CAD824F5F6F7}"/>
              </a:ext>
            </a:extLst>
          </p:cNvPr>
          <p:cNvSpPr/>
          <p:nvPr/>
        </p:nvSpPr>
        <p:spPr>
          <a:xfrm>
            <a:off x="5411523" y="3237451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2D69D11-7C05-6F29-8F40-98C5FBA818A1}"/>
              </a:ext>
            </a:extLst>
          </p:cNvPr>
          <p:cNvSpPr txBox="1"/>
          <p:nvPr/>
        </p:nvSpPr>
        <p:spPr>
          <a:xfrm>
            <a:off x="5411523" y="3218434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C3C3499B-B665-3489-F76D-43E8DD2D9724}"/>
              </a:ext>
            </a:extLst>
          </p:cNvPr>
          <p:cNvSpPr/>
          <p:nvPr/>
        </p:nvSpPr>
        <p:spPr>
          <a:xfrm>
            <a:off x="5849827" y="5544959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27324C8A-B789-E673-E1B7-2E507E97AE46}"/>
              </a:ext>
            </a:extLst>
          </p:cNvPr>
          <p:cNvSpPr txBox="1"/>
          <p:nvPr/>
        </p:nvSpPr>
        <p:spPr>
          <a:xfrm>
            <a:off x="5855082" y="5527404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77DAA2BC-21FF-C0F2-DD5C-722371952C96}"/>
              </a:ext>
            </a:extLst>
          </p:cNvPr>
          <p:cNvCxnSpPr>
            <a:cxnSpLocks/>
            <a:stCxn id="122" idx="2"/>
            <a:endCxn id="130" idx="6"/>
          </p:cNvCxnSpPr>
          <p:nvPr/>
        </p:nvCxnSpPr>
        <p:spPr>
          <a:xfrm flipH="1">
            <a:off x="4473761" y="3448909"/>
            <a:ext cx="187945" cy="65650"/>
          </a:xfrm>
          <a:prstGeom prst="line">
            <a:avLst/>
          </a:prstGeom>
          <a:ln w="28575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6767E4A0-6AF2-917C-FCEB-968C292AAAF3}"/>
              </a:ext>
            </a:extLst>
          </p:cNvPr>
          <p:cNvCxnSpPr>
            <a:cxnSpLocks/>
            <a:stCxn id="124" idx="0"/>
            <a:endCxn id="130" idx="4"/>
          </p:cNvCxnSpPr>
          <p:nvPr/>
        </p:nvCxnSpPr>
        <p:spPr>
          <a:xfrm flipV="1">
            <a:off x="4326658" y="3661662"/>
            <a:ext cx="0" cy="178767"/>
          </a:xfrm>
          <a:prstGeom prst="line">
            <a:avLst/>
          </a:prstGeom>
          <a:ln w="28575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15A5E81D-A465-4061-6F35-9D7594BC1B50}"/>
              </a:ext>
            </a:extLst>
          </p:cNvPr>
          <p:cNvCxnSpPr>
            <a:cxnSpLocks/>
            <a:stCxn id="139" idx="2"/>
            <a:endCxn id="122" idx="6"/>
          </p:cNvCxnSpPr>
          <p:nvPr/>
        </p:nvCxnSpPr>
        <p:spPr>
          <a:xfrm flipH="1">
            <a:off x="4955913" y="3384555"/>
            <a:ext cx="455610" cy="64354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AB8F0CD6-B5C2-96B3-9A63-642582F8563E}"/>
              </a:ext>
            </a:extLst>
          </p:cNvPr>
          <p:cNvCxnSpPr>
            <a:cxnSpLocks/>
            <a:stCxn id="139" idx="5"/>
            <a:endCxn id="136" idx="0"/>
          </p:cNvCxnSpPr>
          <p:nvPr/>
        </p:nvCxnSpPr>
        <p:spPr>
          <a:xfrm>
            <a:off x="5662644" y="3488572"/>
            <a:ext cx="439344" cy="45457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86E6A2A4-415D-AEDC-D596-0FE977D80AF2}"/>
              </a:ext>
            </a:extLst>
          </p:cNvPr>
          <p:cNvCxnSpPr>
            <a:cxnSpLocks/>
            <a:stCxn id="136" idx="5"/>
            <a:endCxn id="126" idx="1"/>
          </p:cNvCxnSpPr>
          <p:nvPr/>
        </p:nvCxnSpPr>
        <p:spPr>
          <a:xfrm>
            <a:off x="6206005" y="4194269"/>
            <a:ext cx="136276" cy="82023"/>
          </a:xfrm>
          <a:prstGeom prst="line">
            <a:avLst/>
          </a:prstGeom>
          <a:ln w="28575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3A183D63-DB77-D22D-63A8-C8A7784DC46B}"/>
              </a:ext>
            </a:extLst>
          </p:cNvPr>
          <p:cNvCxnSpPr>
            <a:cxnSpLocks/>
            <a:stCxn id="126" idx="4"/>
            <a:endCxn id="114" idx="7"/>
          </p:cNvCxnSpPr>
          <p:nvPr/>
        </p:nvCxnSpPr>
        <p:spPr>
          <a:xfrm flipH="1">
            <a:off x="6145923" y="4527413"/>
            <a:ext cx="300376" cy="215954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1273CB89-E679-7EF1-3951-09655407C285}"/>
              </a:ext>
            </a:extLst>
          </p:cNvPr>
          <p:cNvCxnSpPr>
            <a:cxnSpLocks/>
            <a:stCxn id="114" idx="4"/>
            <a:endCxn id="110" idx="0"/>
          </p:cNvCxnSpPr>
          <p:nvPr/>
        </p:nvCxnSpPr>
        <p:spPr>
          <a:xfrm flipH="1">
            <a:off x="6038566" y="4994488"/>
            <a:ext cx="3340" cy="122039"/>
          </a:xfrm>
          <a:prstGeom prst="line">
            <a:avLst/>
          </a:prstGeom>
          <a:ln w="28575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5CF3DD7E-57B3-EB6C-2AD8-CD514CD99B84}"/>
              </a:ext>
            </a:extLst>
          </p:cNvPr>
          <p:cNvCxnSpPr>
            <a:cxnSpLocks/>
            <a:stCxn id="142" idx="2"/>
            <a:endCxn id="112" idx="6"/>
          </p:cNvCxnSpPr>
          <p:nvPr/>
        </p:nvCxnSpPr>
        <p:spPr>
          <a:xfrm flipH="1" flipV="1">
            <a:off x="5092609" y="5555404"/>
            <a:ext cx="757218" cy="136659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EE7BE5FC-55F2-7297-C414-D4B88C807FB1}"/>
              </a:ext>
            </a:extLst>
          </p:cNvPr>
          <p:cNvCxnSpPr>
            <a:cxnSpLocks/>
            <a:stCxn id="112" idx="2"/>
            <a:endCxn id="132" idx="6"/>
          </p:cNvCxnSpPr>
          <p:nvPr/>
        </p:nvCxnSpPr>
        <p:spPr>
          <a:xfrm flipH="1" flipV="1">
            <a:off x="4279096" y="5500837"/>
            <a:ext cx="519306" cy="5456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6B1E2849-1C08-DCB3-B4EF-1DFEFC1884ED}"/>
              </a:ext>
            </a:extLst>
          </p:cNvPr>
          <p:cNvCxnSpPr>
            <a:cxnSpLocks/>
            <a:stCxn id="132" idx="1"/>
            <a:endCxn id="134" idx="4"/>
          </p:cNvCxnSpPr>
          <p:nvPr/>
        </p:nvCxnSpPr>
        <p:spPr>
          <a:xfrm flipH="1" flipV="1">
            <a:off x="3987130" y="5236597"/>
            <a:ext cx="40845" cy="160222"/>
          </a:xfrm>
          <a:prstGeom prst="line">
            <a:avLst/>
          </a:prstGeom>
          <a:ln w="28575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630E445B-F54B-69E0-E52B-6AEDB010B039}"/>
              </a:ext>
            </a:extLst>
          </p:cNvPr>
          <p:cNvCxnSpPr>
            <a:cxnSpLocks/>
            <a:stCxn id="134" idx="1"/>
            <a:endCxn id="120" idx="4"/>
          </p:cNvCxnSpPr>
          <p:nvPr/>
        </p:nvCxnSpPr>
        <p:spPr>
          <a:xfrm flipH="1" flipV="1">
            <a:off x="3554861" y="4492838"/>
            <a:ext cx="328251" cy="492638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3EA8234B-334D-B961-E063-2251EC624381}"/>
              </a:ext>
            </a:extLst>
          </p:cNvPr>
          <p:cNvCxnSpPr>
            <a:cxnSpLocks/>
            <a:stCxn id="120" idx="0"/>
            <a:endCxn id="124" idx="3"/>
          </p:cNvCxnSpPr>
          <p:nvPr/>
        </p:nvCxnSpPr>
        <p:spPr>
          <a:xfrm flipV="1">
            <a:off x="3554861" y="4091550"/>
            <a:ext cx="667779" cy="107081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2A65A3D4-ACBD-1ABA-6DFB-ACE39E380567}"/>
              </a:ext>
            </a:extLst>
          </p:cNvPr>
          <p:cNvCxnSpPr>
            <a:cxnSpLocks/>
            <a:stCxn id="118" idx="1"/>
            <a:endCxn id="124" idx="5"/>
          </p:cNvCxnSpPr>
          <p:nvPr/>
        </p:nvCxnSpPr>
        <p:spPr>
          <a:xfrm flipH="1" flipV="1">
            <a:off x="4430675" y="4091550"/>
            <a:ext cx="101294" cy="31570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44BA3F74-27DE-1AEF-0677-2793D87559DC}"/>
              </a:ext>
            </a:extLst>
          </p:cNvPr>
          <p:cNvCxnSpPr>
            <a:cxnSpLocks/>
            <a:stCxn id="118" idx="0"/>
            <a:endCxn id="122" idx="4"/>
          </p:cNvCxnSpPr>
          <p:nvPr/>
        </p:nvCxnSpPr>
        <p:spPr>
          <a:xfrm flipV="1">
            <a:off x="4635987" y="3596012"/>
            <a:ext cx="172823" cy="768158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8D5B5F14-13DD-3E63-3A34-F7A3047F70EC}"/>
              </a:ext>
            </a:extLst>
          </p:cNvPr>
          <p:cNvCxnSpPr>
            <a:cxnSpLocks/>
            <a:stCxn id="128" idx="1"/>
            <a:endCxn id="122" idx="5"/>
          </p:cNvCxnSpPr>
          <p:nvPr/>
        </p:nvCxnSpPr>
        <p:spPr>
          <a:xfrm flipH="1" flipV="1">
            <a:off x="4912827" y="3552926"/>
            <a:ext cx="94871" cy="165392"/>
          </a:xfrm>
          <a:prstGeom prst="line">
            <a:avLst/>
          </a:prstGeom>
          <a:ln w="28575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8B11DEC5-5DD1-133B-40A0-BC992F7984E0}"/>
              </a:ext>
            </a:extLst>
          </p:cNvPr>
          <p:cNvCxnSpPr>
            <a:cxnSpLocks/>
            <a:stCxn id="128" idx="6"/>
            <a:endCxn id="136" idx="2"/>
          </p:cNvCxnSpPr>
          <p:nvPr/>
        </p:nvCxnSpPr>
        <p:spPr>
          <a:xfrm>
            <a:off x="5258819" y="3822336"/>
            <a:ext cx="696065" cy="26791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8BCECA31-10D4-A88E-6FD5-87FE16CDA467}"/>
              </a:ext>
            </a:extLst>
          </p:cNvPr>
          <p:cNvCxnSpPr>
            <a:cxnSpLocks/>
            <a:stCxn id="128" idx="5"/>
            <a:endCxn id="114" idx="2"/>
          </p:cNvCxnSpPr>
          <p:nvPr/>
        </p:nvCxnSpPr>
        <p:spPr>
          <a:xfrm>
            <a:off x="5215733" y="3926353"/>
            <a:ext cx="679069" cy="921032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8EC820A9-13CE-7EAD-0BFB-12D94C94A068}"/>
              </a:ext>
            </a:extLst>
          </p:cNvPr>
          <p:cNvCxnSpPr>
            <a:cxnSpLocks/>
            <a:stCxn id="128" idx="4"/>
            <a:endCxn id="116" idx="0"/>
          </p:cNvCxnSpPr>
          <p:nvPr/>
        </p:nvCxnSpPr>
        <p:spPr>
          <a:xfrm flipH="1">
            <a:off x="5107159" y="3969439"/>
            <a:ext cx="4557" cy="104449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32734669-A160-431A-7223-0A9A9B00D340}"/>
              </a:ext>
            </a:extLst>
          </p:cNvPr>
          <p:cNvCxnSpPr>
            <a:cxnSpLocks/>
            <a:stCxn id="110" idx="4"/>
            <a:endCxn id="142" idx="0"/>
          </p:cNvCxnSpPr>
          <p:nvPr/>
        </p:nvCxnSpPr>
        <p:spPr>
          <a:xfrm flipH="1">
            <a:off x="5996931" y="5410734"/>
            <a:ext cx="41635" cy="134225"/>
          </a:xfrm>
          <a:prstGeom prst="line">
            <a:avLst/>
          </a:prstGeom>
          <a:ln w="28575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A2AA301F-098D-C581-CC18-5BA901342E67}"/>
              </a:ext>
            </a:extLst>
          </p:cNvPr>
          <p:cNvCxnSpPr>
            <a:cxnSpLocks/>
            <a:stCxn id="142" idx="0"/>
            <a:endCxn id="116" idx="5"/>
          </p:cNvCxnSpPr>
          <p:nvPr/>
        </p:nvCxnSpPr>
        <p:spPr>
          <a:xfrm flipH="1" flipV="1">
            <a:off x="5211176" y="5265050"/>
            <a:ext cx="785755" cy="279909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32F65431-E4EF-2EE5-6699-A97EB0324317}"/>
              </a:ext>
            </a:extLst>
          </p:cNvPr>
          <p:cNvCxnSpPr>
            <a:cxnSpLocks/>
            <a:stCxn id="112" idx="0"/>
            <a:endCxn id="116" idx="3"/>
          </p:cNvCxnSpPr>
          <p:nvPr/>
        </p:nvCxnSpPr>
        <p:spPr>
          <a:xfrm flipV="1">
            <a:off x="4945506" y="5265050"/>
            <a:ext cx="57635" cy="143250"/>
          </a:xfrm>
          <a:prstGeom prst="line">
            <a:avLst/>
          </a:prstGeom>
          <a:ln w="28575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B4D285DF-FBF1-53B5-1447-D305065ADE9B}"/>
              </a:ext>
            </a:extLst>
          </p:cNvPr>
          <p:cNvCxnSpPr>
            <a:cxnSpLocks/>
            <a:stCxn id="132" idx="7"/>
            <a:endCxn id="118" idx="4"/>
          </p:cNvCxnSpPr>
          <p:nvPr/>
        </p:nvCxnSpPr>
        <p:spPr>
          <a:xfrm flipV="1">
            <a:off x="4236010" y="4658377"/>
            <a:ext cx="399977" cy="738442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AA3B09E5-E395-2801-F49F-B16E7F76DAA2}"/>
              </a:ext>
            </a:extLst>
          </p:cNvPr>
          <p:cNvCxnSpPr>
            <a:cxnSpLocks/>
            <a:stCxn id="120" idx="6"/>
            <a:endCxn id="118" idx="2"/>
          </p:cNvCxnSpPr>
          <p:nvPr/>
        </p:nvCxnSpPr>
        <p:spPr>
          <a:xfrm>
            <a:off x="3701964" y="4345735"/>
            <a:ext cx="786919" cy="165539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4D573063-36C8-AC83-1820-177CF576F0A3}"/>
              </a:ext>
            </a:extLst>
          </p:cNvPr>
          <p:cNvCxnSpPr>
            <a:cxnSpLocks/>
            <a:stCxn id="134" idx="6"/>
            <a:endCxn id="118" idx="3"/>
          </p:cNvCxnSpPr>
          <p:nvPr/>
        </p:nvCxnSpPr>
        <p:spPr>
          <a:xfrm flipV="1">
            <a:off x="4134233" y="4615291"/>
            <a:ext cx="397736" cy="474203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49F3BF1B-DEDB-6C6F-B2C0-D0492E3B3D86}"/>
              </a:ext>
            </a:extLst>
          </p:cNvPr>
          <p:cNvCxnSpPr>
            <a:cxnSpLocks/>
            <a:stCxn id="118" idx="5"/>
            <a:endCxn id="116" idx="1"/>
          </p:cNvCxnSpPr>
          <p:nvPr/>
        </p:nvCxnSpPr>
        <p:spPr>
          <a:xfrm>
            <a:off x="4740004" y="4615291"/>
            <a:ext cx="263137" cy="441724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87790B0C-02E0-9140-E1D2-0B3A214082A0}"/>
              </a:ext>
            </a:extLst>
          </p:cNvPr>
          <p:cNvCxnSpPr>
            <a:cxnSpLocks/>
            <a:stCxn id="122" idx="6"/>
            <a:endCxn id="136" idx="1"/>
          </p:cNvCxnSpPr>
          <p:nvPr/>
        </p:nvCxnSpPr>
        <p:spPr>
          <a:xfrm>
            <a:off x="4955913" y="3448909"/>
            <a:ext cx="1042057" cy="537325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AEC7B0B7-3DDB-C870-C36C-0A4E90534C14}"/>
              </a:ext>
            </a:extLst>
          </p:cNvPr>
          <p:cNvCxnSpPr>
            <a:cxnSpLocks/>
            <a:stCxn id="124" idx="6"/>
            <a:endCxn id="122" idx="3"/>
          </p:cNvCxnSpPr>
          <p:nvPr/>
        </p:nvCxnSpPr>
        <p:spPr>
          <a:xfrm flipV="1">
            <a:off x="4473761" y="3552926"/>
            <a:ext cx="231031" cy="43460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47AAA881-7B45-E5B3-60CB-3417BD9FA695}"/>
              </a:ext>
            </a:extLst>
          </p:cNvPr>
          <p:cNvCxnSpPr>
            <a:cxnSpLocks/>
            <a:stCxn id="118" idx="6"/>
            <a:endCxn id="128" idx="3"/>
          </p:cNvCxnSpPr>
          <p:nvPr/>
        </p:nvCxnSpPr>
        <p:spPr>
          <a:xfrm flipV="1">
            <a:off x="4783090" y="3926353"/>
            <a:ext cx="224608" cy="584921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D1F72E3A-B106-CDE2-10A7-EED97E09D18F}"/>
              </a:ext>
            </a:extLst>
          </p:cNvPr>
          <p:cNvCxnSpPr>
            <a:cxnSpLocks/>
            <a:stCxn id="134" idx="6"/>
            <a:endCxn id="116" idx="2"/>
          </p:cNvCxnSpPr>
          <p:nvPr/>
        </p:nvCxnSpPr>
        <p:spPr>
          <a:xfrm>
            <a:off x="4134233" y="5089494"/>
            <a:ext cx="825822" cy="71539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ECE3813E-3133-695D-EE4C-F07B9F69B6A6}"/>
              </a:ext>
            </a:extLst>
          </p:cNvPr>
          <p:cNvCxnSpPr>
            <a:cxnSpLocks/>
            <a:stCxn id="116" idx="6"/>
            <a:endCxn id="114" idx="2"/>
          </p:cNvCxnSpPr>
          <p:nvPr/>
        </p:nvCxnSpPr>
        <p:spPr>
          <a:xfrm flipV="1">
            <a:off x="5254262" y="4847385"/>
            <a:ext cx="640540" cy="313648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0B9A501F-9F40-3E10-7A29-592205AA43F0}"/>
              </a:ext>
            </a:extLst>
          </p:cNvPr>
          <p:cNvCxnSpPr>
            <a:cxnSpLocks/>
            <a:stCxn id="120" idx="0"/>
            <a:endCxn id="130" idx="3"/>
          </p:cNvCxnSpPr>
          <p:nvPr/>
        </p:nvCxnSpPr>
        <p:spPr>
          <a:xfrm flipV="1">
            <a:off x="3554861" y="3618576"/>
            <a:ext cx="667779" cy="580055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6D562E87-2DC8-95E5-4E2E-4F9AA1DC9600}"/>
              </a:ext>
            </a:extLst>
          </p:cNvPr>
          <p:cNvCxnSpPr>
            <a:cxnSpLocks/>
            <a:stCxn id="139" idx="6"/>
            <a:endCxn id="126" idx="7"/>
          </p:cNvCxnSpPr>
          <p:nvPr/>
        </p:nvCxnSpPr>
        <p:spPr>
          <a:xfrm>
            <a:off x="5705730" y="3384555"/>
            <a:ext cx="844586" cy="89173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9D62D5AE-3968-A238-171F-B9BF6048B7A1}"/>
              </a:ext>
            </a:extLst>
          </p:cNvPr>
          <p:cNvCxnSpPr>
            <a:cxnSpLocks/>
            <a:stCxn id="118" idx="4"/>
            <a:endCxn id="112" idx="1"/>
          </p:cNvCxnSpPr>
          <p:nvPr/>
        </p:nvCxnSpPr>
        <p:spPr>
          <a:xfrm>
            <a:off x="4635987" y="4658377"/>
            <a:ext cx="205501" cy="793009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7" name="TextBox 356">
            <a:extLst>
              <a:ext uri="{FF2B5EF4-FFF2-40B4-BE49-F238E27FC236}">
                <a16:creationId xmlns:a16="http://schemas.microsoft.com/office/drawing/2014/main" id="{82304F22-9636-BD0F-8AAD-66F2382B1E70}"/>
              </a:ext>
            </a:extLst>
          </p:cNvPr>
          <p:cNvSpPr txBox="1"/>
          <p:nvPr/>
        </p:nvSpPr>
        <p:spPr>
          <a:xfrm>
            <a:off x="3660045" y="6079351"/>
            <a:ext cx="275601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Possible species: </a:t>
            </a:r>
          </a:p>
          <a:p>
            <a:pPr algn="ctr"/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sz="15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sz="15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, 2OH, H</a:t>
            </a:r>
            <a:r>
              <a:rPr lang="en-US" sz="15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, HO</a:t>
            </a:r>
            <a:r>
              <a:rPr lang="en-US" sz="15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, H, 2O, &amp; etc.</a:t>
            </a:r>
          </a:p>
        </p:txBody>
      </p:sp>
      <p:sp>
        <p:nvSpPr>
          <p:cNvPr id="358" name="Oval 357">
            <a:extLst>
              <a:ext uri="{FF2B5EF4-FFF2-40B4-BE49-F238E27FC236}">
                <a16:creationId xmlns:a16="http://schemas.microsoft.com/office/drawing/2014/main" id="{0A6E3387-6C10-575E-1057-5EBA58DC3669}"/>
              </a:ext>
            </a:extLst>
          </p:cNvPr>
          <p:cNvSpPr/>
          <p:nvPr/>
        </p:nvSpPr>
        <p:spPr>
          <a:xfrm>
            <a:off x="9866331" y="5036600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F09BF98C-215F-B145-39F7-7E880553B51D}"/>
              </a:ext>
            </a:extLst>
          </p:cNvPr>
          <p:cNvSpPr txBox="1"/>
          <p:nvPr/>
        </p:nvSpPr>
        <p:spPr>
          <a:xfrm>
            <a:off x="9866332" y="5036907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0" name="Oval 359">
            <a:extLst>
              <a:ext uri="{FF2B5EF4-FFF2-40B4-BE49-F238E27FC236}">
                <a16:creationId xmlns:a16="http://schemas.microsoft.com/office/drawing/2014/main" id="{9D44E794-8885-C003-D11C-0AB409252730}"/>
              </a:ext>
            </a:extLst>
          </p:cNvPr>
          <p:cNvSpPr/>
          <p:nvPr/>
        </p:nvSpPr>
        <p:spPr>
          <a:xfrm>
            <a:off x="8361409" y="5421714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CFD13889-9F12-D293-A64F-81CE86F01DAB}"/>
              </a:ext>
            </a:extLst>
          </p:cNvPr>
          <p:cNvSpPr txBox="1"/>
          <p:nvPr/>
        </p:nvSpPr>
        <p:spPr>
          <a:xfrm>
            <a:off x="8361409" y="5402697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2" name="Oval 361">
            <a:extLst>
              <a:ext uri="{FF2B5EF4-FFF2-40B4-BE49-F238E27FC236}">
                <a16:creationId xmlns:a16="http://schemas.microsoft.com/office/drawing/2014/main" id="{1BC87C5E-EEB7-9EEC-790A-09C841C3E8EE}"/>
              </a:ext>
            </a:extLst>
          </p:cNvPr>
          <p:cNvSpPr/>
          <p:nvPr/>
        </p:nvSpPr>
        <p:spPr>
          <a:xfrm>
            <a:off x="9156836" y="4413651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5D8834A3-92F2-5D28-4422-135E94266B9F}"/>
              </a:ext>
            </a:extLst>
          </p:cNvPr>
          <p:cNvSpPr txBox="1"/>
          <p:nvPr/>
        </p:nvSpPr>
        <p:spPr>
          <a:xfrm>
            <a:off x="9156836" y="4394634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4" name="Oval 363">
            <a:extLst>
              <a:ext uri="{FF2B5EF4-FFF2-40B4-BE49-F238E27FC236}">
                <a16:creationId xmlns:a16="http://schemas.microsoft.com/office/drawing/2014/main" id="{A0446B3B-A3AF-1341-C33A-D3E2DB06CB0E}"/>
              </a:ext>
            </a:extLst>
          </p:cNvPr>
          <p:cNvSpPr/>
          <p:nvPr/>
        </p:nvSpPr>
        <p:spPr>
          <a:xfrm>
            <a:off x="8523062" y="5027343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0FFA0339-9A0D-79EE-E6D6-A19666BE54AB}"/>
              </a:ext>
            </a:extLst>
          </p:cNvPr>
          <p:cNvSpPr txBox="1"/>
          <p:nvPr/>
        </p:nvSpPr>
        <p:spPr>
          <a:xfrm>
            <a:off x="8522085" y="5023835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6" name="Oval 365">
            <a:extLst>
              <a:ext uri="{FF2B5EF4-FFF2-40B4-BE49-F238E27FC236}">
                <a16:creationId xmlns:a16="http://schemas.microsoft.com/office/drawing/2014/main" id="{F8AF7AC3-1CDD-AD6C-7285-A060BA1B22D7}"/>
              </a:ext>
            </a:extLst>
          </p:cNvPr>
          <p:cNvSpPr/>
          <p:nvPr/>
        </p:nvSpPr>
        <p:spPr>
          <a:xfrm>
            <a:off x="7757683" y="4609410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DC26546A-758F-6975-CF9D-23CAEEEC40F8}"/>
              </a:ext>
            </a:extLst>
          </p:cNvPr>
          <p:cNvSpPr txBox="1"/>
          <p:nvPr/>
        </p:nvSpPr>
        <p:spPr>
          <a:xfrm>
            <a:off x="7757683" y="4590393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8" name="Oval 367">
            <a:extLst>
              <a:ext uri="{FF2B5EF4-FFF2-40B4-BE49-F238E27FC236}">
                <a16:creationId xmlns:a16="http://schemas.microsoft.com/office/drawing/2014/main" id="{1141B121-63CB-BAE3-1DEE-E6F4DDD89286}"/>
              </a:ext>
            </a:extLst>
          </p:cNvPr>
          <p:cNvSpPr/>
          <p:nvPr/>
        </p:nvSpPr>
        <p:spPr>
          <a:xfrm>
            <a:off x="6970764" y="4212045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5BE13E83-1A24-B7F1-66A8-5E5894B4C7B0}"/>
              </a:ext>
            </a:extLst>
          </p:cNvPr>
          <p:cNvSpPr txBox="1"/>
          <p:nvPr/>
        </p:nvSpPr>
        <p:spPr>
          <a:xfrm>
            <a:off x="6970764" y="4193028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0" name="Oval 369">
            <a:extLst>
              <a:ext uri="{FF2B5EF4-FFF2-40B4-BE49-F238E27FC236}">
                <a16:creationId xmlns:a16="http://schemas.microsoft.com/office/drawing/2014/main" id="{175F5988-955A-8112-9091-64E68D6AF909}"/>
              </a:ext>
            </a:extLst>
          </p:cNvPr>
          <p:cNvSpPr/>
          <p:nvPr/>
        </p:nvSpPr>
        <p:spPr>
          <a:xfrm>
            <a:off x="8224713" y="3315219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D04636B1-7364-FC5D-78E0-C4DC0A9C5844}"/>
              </a:ext>
            </a:extLst>
          </p:cNvPr>
          <p:cNvSpPr txBox="1"/>
          <p:nvPr/>
        </p:nvSpPr>
        <p:spPr>
          <a:xfrm>
            <a:off x="8224713" y="3296202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2" name="Oval 371">
            <a:extLst>
              <a:ext uri="{FF2B5EF4-FFF2-40B4-BE49-F238E27FC236}">
                <a16:creationId xmlns:a16="http://schemas.microsoft.com/office/drawing/2014/main" id="{55FBAA3B-0DF5-A17B-6ED0-33D1565868A8}"/>
              </a:ext>
            </a:extLst>
          </p:cNvPr>
          <p:cNvSpPr/>
          <p:nvPr/>
        </p:nvSpPr>
        <p:spPr>
          <a:xfrm>
            <a:off x="7437761" y="3972960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3" name="TextBox 372">
            <a:extLst>
              <a:ext uri="{FF2B5EF4-FFF2-40B4-BE49-F238E27FC236}">
                <a16:creationId xmlns:a16="http://schemas.microsoft.com/office/drawing/2014/main" id="{4AC5D936-C6CE-1A67-65DA-A4ECDAEC372D}"/>
              </a:ext>
            </a:extLst>
          </p:cNvPr>
          <p:cNvSpPr txBox="1"/>
          <p:nvPr/>
        </p:nvSpPr>
        <p:spPr>
          <a:xfrm>
            <a:off x="7438260" y="3960967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4" name="Oval 373">
            <a:extLst>
              <a:ext uri="{FF2B5EF4-FFF2-40B4-BE49-F238E27FC236}">
                <a16:creationId xmlns:a16="http://schemas.microsoft.com/office/drawing/2014/main" id="{4641DF01-BCF6-A158-7E90-145CEF39525A}"/>
              </a:ext>
            </a:extLst>
          </p:cNvPr>
          <p:cNvSpPr/>
          <p:nvPr/>
        </p:nvSpPr>
        <p:spPr>
          <a:xfrm>
            <a:off x="9521525" y="4146073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8335EA1C-D129-5F13-3A07-502358154D93}"/>
              </a:ext>
            </a:extLst>
          </p:cNvPr>
          <p:cNvSpPr txBox="1"/>
          <p:nvPr/>
        </p:nvSpPr>
        <p:spPr>
          <a:xfrm>
            <a:off x="9521525" y="4141427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6" name="Oval 375">
            <a:extLst>
              <a:ext uri="{FF2B5EF4-FFF2-40B4-BE49-F238E27FC236}">
                <a16:creationId xmlns:a16="http://schemas.microsoft.com/office/drawing/2014/main" id="{561E41E5-1D44-956A-A568-5DAF7B0AA409}"/>
              </a:ext>
            </a:extLst>
          </p:cNvPr>
          <p:cNvSpPr/>
          <p:nvPr/>
        </p:nvSpPr>
        <p:spPr>
          <a:xfrm>
            <a:off x="8442870" y="3682000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6881E636-D74B-0167-C6FE-DD334B6E0087}"/>
              </a:ext>
            </a:extLst>
          </p:cNvPr>
          <p:cNvSpPr txBox="1"/>
          <p:nvPr/>
        </p:nvSpPr>
        <p:spPr>
          <a:xfrm>
            <a:off x="8442870" y="3662983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8" name="Oval 377">
            <a:extLst>
              <a:ext uri="{FF2B5EF4-FFF2-40B4-BE49-F238E27FC236}">
                <a16:creationId xmlns:a16="http://schemas.microsoft.com/office/drawing/2014/main" id="{11197B70-35E7-1D8B-C9E5-2E196A5E6754}"/>
              </a:ext>
            </a:extLst>
          </p:cNvPr>
          <p:cNvSpPr/>
          <p:nvPr/>
        </p:nvSpPr>
        <p:spPr>
          <a:xfrm>
            <a:off x="7742561" y="3195617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3BC68513-371A-D82F-0644-797698A4B91A}"/>
              </a:ext>
            </a:extLst>
          </p:cNvPr>
          <p:cNvSpPr txBox="1"/>
          <p:nvPr/>
        </p:nvSpPr>
        <p:spPr>
          <a:xfrm>
            <a:off x="7742561" y="3176600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0" name="Oval 379">
            <a:extLst>
              <a:ext uri="{FF2B5EF4-FFF2-40B4-BE49-F238E27FC236}">
                <a16:creationId xmlns:a16="http://schemas.microsoft.com/office/drawing/2014/main" id="{3F102DA6-DA36-6C4F-9F73-63BF3AEDC351}"/>
              </a:ext>
            </a:extLst>
          </p:cNvPr>
          <p:cNvSpPr/>
          <p:nvPr/>
        </p:nvSpPr>
        <p:spPr>
          <a:xfrm>
            <a:off x="7547896" y="5367147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02B3A0C4-2AC0-995A-0A15-4608824BF164}"/>
              </a:ext>
            </a:extLst>
          </p:cNvPr>
          <p:cNvSpPr txBox="1"/>
          <p:nvPr/>
        </p:nvSpPr>
        <p:spPr>
          <a:xfrm>
            <a:off x="7547896" y="5348130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2" name="Oval 381">
            <a:extLst>
              <a:ext uri="{FF2B5EF4-FFF2-40B4-BE49-F238E27FC236}">
                <a16:creationId xmlns:a16="http://schemas.microsoft.com/office/drawing/2014/main" id="{93571A74-A860-F623-DAAF-67240FADC7A2}"/>
              </a:ext>
            </a:extLst>
          </p:cNvPr>
          <p:cNvSpPr/>
          <p:nvPr/>
        </p:nvSpPr>
        <p:spPr>
          <a:xfrm>
            <a:off x="7403033" y="4955804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3" name="TextBox 382">
            <a:extLst>
              <a:ext uri="{FF2B5EF4-FFF2-40B4-BE49-F238E27FC236}">
                <a16:creationId xmlns:a16="http://schemas.microsoft.com/office/drawing/2014/main" id="{E11F4126-4F2B-0202-830B-6D58A01959B8}"/>
              </a:ext>
            </a:extLst>
          </p:cNvPr>
          <p:cNvSpPr txBox="1"/>
          <p:nvPr/>
        </p:nvSpPr>
        <p:spPr>
          <a:xfrm>
            <a:off x="7397491" y="4951260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4" name="Oval 383">
            <a:extLst>
              <a:ext uri="{FF2B5EF4-FFF2-40B4-BE49-F238E27FC236}">
                <a16:creationId xmlns:a16="http://schemas.microsoft.com/office/drawing/2014/main" id="{C3D3B859-6484-BCBF-E627-2CA2341F5284}"/>
              </a:ext>
            </a:extLst>
          </p:cNvPr>
          <p:cNvSpPr/>
          <p:nvPr/>
        </p:nvSpPr>
        <p:spPr>
          <a:xfrm>
            <a:off x="9526803" y="3489942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C8C7F64A-5916-6F9B-88F1-E0840DF1C3DE}"/>
              </a:ext>
            </a:extLst>
          </p:cNvPr>
          <p:cNvSpPr txBox="1"/>
          <p:nvPr/>
        </p:nvSpPr>
        <p:spPr>
          <a:xfrm>
            <a:off x="9529044" y="3478066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6" name="Oval 385">
            <a:extLst>
              <a:ext uri="{FF2B5EF4-FFF2-40B4-BE49-F238E27FC236}">
                <a16:creationId xmlns:a16="http://schemas.microsoft.com/office/drawing/2014/main" id="{A65CD5AE-085B-FDE3-4018-88594DDBA8E8}"/>
              </a:ext>
            </a:extLst>
          </p:cNvPr>
          <p:cNvSpPr/>
          <p:nvPr/>
        </p:nvSpPr>
        <p:spPr>
          <a:xfrm>
            <a:off x="8974530" y="3250865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50BB30DB-AB24-5C77-8F17-7A39DAB6CEC4}"/>
              </a:ext>
            </a:extLst>
          </p:cNvPr>
          <p:cNvSpPr txBox="1"/>
          <p:nvPr/>
        </p:nvSpPr>
        <p:spPr>
          <a:xfrm>
            <a:off x="8962197" y="3245525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8" name="Oval 387">
            <a:extLst>
              <a:ext uri="{FF2B5EF4-FFF2-40B4-BE49-F238E27FC236}">
                <a16:creationId xmlns:a16="http://schemas.microsoft.com/office/drawing/2014/main" id="{2F7D5417-D2B5-4E88-7E83-FB99DBF40705}"/>
              </a:ext>
            </a:extLst>
          </p:cNvPr>
          <p:cNvSpPr/>
          <p:nvPr/>
        </p:nvSpPr>
        <p:spPr>
          <a:xfrm>
            <a:off x="9824696" y="5465032"/>
            <a:ext cx="294207" cy="294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9" name="TextBox 388">
            <a:extLst>
              <a:ext uri="{FF2B5EF4-FFF2-40B4-BE49-F238E27FC236}">
                <a16:creationId xmlns:a16="http://schemas.microsoft.com/office/drawing/2014/main" id="{DCCC1C77-6A55-E72D-DE9E-A55F3C1C97AA}"/>
              </a:ext>
            </a:extLst>
          </p:cNvPr>
          <p:cNvSpPr txBox="1"/>
          <p:nvPr/>
        </p:nvSpPr>
        <p:spPr>
          <a:xfrm>
            <a:off x="9823355" y="5461767"/>
            <a:ext cx="216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endParaRPr lang="en-US" sz="1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90" name="Straight Connector 389">
            <a:extLst>
              <a:ext uri="{FF2B5EF4-FFF2-40B4-BE49-F238E27FC236}">
                <a16:creationId xmlns:a16="http://schemas.microsoft.com/office/drawing/2014/main" id="{7CB7E736-B855-4538-B2C0-8D4789CB8D48}"/>
              </a:ext>
            </a:extLst>
          </p:cNvPr>
          <p:cNvCxnSpPr>
            <a:cxnSpLocks/>
            <a:stCxn id="370" idx="2"/>
            <a:endCxn id="378" idx="6"/>
          </p:cNvCxnSpPr>
          <p:nvPr/>
        </p:nvCxnSpPr>
        <p:spPr>
          <a:xfrm flipH="1" flipV="1">
            <a:off x="8036768" y="3342721"/>
            <a:ext cx="187945" cy="119602"/>
          </a:xfrm>
          <a:prstGeom prst="line">
            <a:avLst/>
          </a:prstGeom>
          <a:ln w="28575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Straight Connector 390">
            <a:extLst>
              <a:ext uri="{FF2B5EF4-FFF2-40B4-BE49-F238E27FC236}">
                <a16:creationId xmlns:a16="http://schemas.microsoft.com/office/drawing/2014/main" id="{3C4EA008-A4FE-00C8-48DB-36FB75DF1631}"/>
              </a:ext>
            </a:extLst>
          </p:cNvPr>
          <p:cNvCxnSpPr>
            <a:cxnSpLocks/>
            <a:stCxn id="372" idx="0"/>
            <a:endCxn id="378" idx="4"/>
          </p:cNvCxnSpPr>
          <p:nvPr/>
        </p:nvCxnSpPr>
        <p:spPr>
          <a:xfrm flipV="1">
            <a:off x="7584865" y="3489824"/>
            <a:ext cx="304800" cy="48313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Straight Connector 391">
            <a:extLst>
              <a:ext uri="{FF2B5EF4-FFF2-40B4-BE49-F238E27FC236}">
                <a16:creationId xmlns:a16="http://schemas.microsoft.com/office/drawing/2014/main" id="{7654384C-5AE3-2ED0-711D-99E23BB453A9}"/>
              </a:ext>
            </a:extLst>
          </p:cNvPr>
          <p:cNvCxnSpPr>
            <a:cxnSpLocks/>
            <a:stCxn id="386" idx="2"/>
            <a:endCxn id="370" idx="6"/>
          </p:cNvCxnSpPr>
          <p:nvPr/>
        </p:nvCxnSpPr>
        <p:spPr>
          <a:xfrm flipH="1">
            <a:off x="8518920" y="3397969"/>
            <a:ext cx="455610" cy="64354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Connector 392">
            <a:extLst>
              <a:ext uri="{FF2B5EF4-FFF2-40B4-BE49-F238E27FC236}">
                <a16:creationId xmlns:a16="http://schemas.microsoft.com/office/drawing/2014/main" id="{17A82A60-FEB8-F89D-D727-F684A26DFCDE}"/>
              </a:ext>
            </a:extLst>
          </p:cNvPr>
          <p:cNvCxnSpPr>
            <a:cxnSpLocks/>
            <a:stCxn id="386" idx="6"/>
            <a:endCxn id="384" idx="1"/>
          </p:cNvCxnSpPr>
          <p:nvPr/>
        </p:nvCxnSpPr>
        <p:spPr>
          <a:xfrm>
            <a:off x="9268737" y="3397969"/>
            <a:ext cx="301152" cy="135059"/>
          </a:xfrm>
          <a:prstGeom prst="line">
            <a:avLst/>
          </a:prstGeom>
          <a:ln w="28575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Straight Connector 393">
            <a:extLst>
              <a:ext uri="{FF2B5EF4-FFF2-40B4-BE49-F238E27FC236}">
                <a16:creationId xmlns:a16="http://schemas.microsoft.com/office/drawing/2014/main" id="{7F1454A6-C09A-4DA4-1623-1E6FAE22B396}"/>
              </a:ext>
            </a:extLst>
          </p:cNvPr>
          <p:cNvCxnSpPr>
            <a:cxnSpLocks/>
            <a:stCxn id="384" idx="4"/>
            <a:endCxn id="374" idx="0"/>
          </p:cNvCxnSpPr>
          <p:nvPr/>
        </p:nvCxnSpPr>
        <p:spPr>
          <a:xfrm flipH="1">
            <a:off x="9668629" y="3784149"/>
            <a:ext cx="5278" cy="361924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Straight Connector 394">
            <a:extLst>
              <a:ext uri="{FF2B5EF4-FFF2-40B4-BE49-F238E27FC236}">
                <a16:creationId xmlns:a16="http://schemas.microsoft.com/office/drawing/2014/main" id="{40442050-0364-1AB9-8220-09E31933F9AC}"/>
              </a:ext>
            </a:extLst>
          </p:cNvPr>
          <p:cNvCxnSpPr>
            <a:cxnSpLocks/>
            <a:stCxn id="374" idx="3"/>
            <a:endCxn id="362" idx="7"/>
          </p:cNvCxnSpPr>
          <p:nvPr/>
        </p:nvCxnSpPr>
        <p:spPr>
          <a:xfrm flipH="1">
            <a:off x="9407957" y="4397194"/>
            <a:ext cx="156654" cy="59543"/>
          </a:xfrm>
          <a:prstGeom prst="line">
            <a:avLst/>
          </a:prstGeom>
          <a:ln w="28575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Straight Connector 395">
            <a:extLst>
              <a:ext uri="{FF2B5EF4-FFF2-40B4-BE49-F238E27FC236}">
                <a16:creationId xmlns:a16="http://schemas.microsoft.com/office/drawing/2014/main" id="{98DAE252-E1AF-C5AF-3755-6FFE76A653FF}"/>
              </a:ext>
            </a:extLst>
          </p:cNvPr>
          <p:cNvCxnSpPr>
            <a:cxnSpLocks/>
            <a:stCxn id="362" idx="5"/>
            <a:endCxn id="358" idx="0"/>
          </p:cNvCxnSpPr>
          <p:nvPr/>
        </p:nvCxnSpPr>
        <p:spPr>
          <a:xfrm>
            <a:off x="9407957" y="4664772"/>
            <a:ext cx="605478" cy="371828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Straight Connector 396">
            <a:extLst>
              <a:ext uri="{FF2B5EF4-FFF2-40B4-BE49-F238E27FC236}">
                <a16:creationId xmlns:a16="http://schemas.microsoft.com/office/drawing/2014/main" id="{47522E97-173E-B2BE-51ED-23E120A316CE}"/>
              </a:ext>
            </a:extLst>
          </p:cNvPr>
          <p:cNvCxnSpPr>
            <a:cxnSpLocks/>
            <a:stCxn id="388" idx="2"/>
            <a:endCxn id="360" idx="6"/>
          </p:cNvCxnSpPr>
          <p:nvPr/>
        </p:nvCxnSpPr>
        <p:spPr>
          <a:xfrm flipH="1" flipV="1">
            <a:off x="8655616" y="5568818"/>
            <a:ext cx="1169080" cy="43318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Straight Connector 397">
            <a:extLst>
              <a:ext uri="{FF2B5EF4-FFF2-40B4-BE49-F238E27FC236}">
                <a16:creationId xmlns:a16="http://schemas.microsoft.com/office/drawing/2014/main" id="{F240D0A5-BD9E-FD1C-795A-1659ED52BC55}"/>
              </a:ext>
            </a:extLst>
          </p:cNvPr>
          <p:cNvCxnSpPr>
            <a:cxnSpLocks/>
            <a:stCxn id="360" idx="2"/>
            <a:endCxn id="380" idx="6"/>
          </p:cNvCxnSpPr>
          <p:nvPr/>
        </p:nvCxnSpPr>
        <p:spPr>
          <a:xfrm flipH="1" flipV="1">
            <a:off x="7842103" y="5514251"/>
            <a:ext cx="519306" cy="5456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Straight Connector 398">
            <a:extLst>
              <a:ext uri="{FF2B5EF4-FFF2-40B4-BE49-F238E27FC236}">
                <a16:creationId xmlns:a16="http://schemas.microsoft.com/office/drawing/2014/main" id="{9EC1CA00-81F9-22AF-0C15-6E6174FA51E4}"/>
              </a:ext>
            </a:extLst>
          </p:cNvPr>
          <p:cNvCxnSpPr>
            <a:cxnSpLocks/>
            <a:stCxn id="380" idx="1"/>
            <a:endCxn id="382" idx="4"/>
          </p:cNvCxnSpPr>
          <p:nvPr/>
        </p:nvCxnSpPr>
        <p:spPr>
          <a:xfrm flipH="1" flipV="1">
            <a:off x="7550137" y="5250011"/>
            <a:ext cx="40845" cy="160222"/>
          </a:xfrm>
          <a:prstGeom prst="line">
            <a:avLst/>
          </a:prstGeom>
          <a:ln w="28575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Straight Connector 399">
            <a:extLst>
              <a:ext uri="{FF2B5EF4-FFF2-40B4-BE49-F238E27FC236}">
                <a16:creationId xmlns:a16="http://schemas.microsoft.com/office/drawing/2014/main" id="{564ED956-9113-02C0-7BCF-C70F3E452147}"/>
              </a:ext>
            </a:extLst>
          </p:cNvPr>
          <p:cNvCxnSpPr>
            <a:cxnSpLocks/>
            <a:stCxn id="382" idx="1"/>
            <a:endCxn id="368" idx="4"/>
          </p:cNvCxnSpPr>
          <p:nvPr/>
        </p:nvCxnSpPr>
        <p:spPr>
          <a:xfrm flipH="1" flipV="1">
            <a:off x="7117868" y="4506252"/>
            <a:ext cx="328251" cy="492638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Straight Connector 400">
            <a:extLst>
              <a:ext uri="{FF2B5EF4-FFF2-40B4-BE49-F238E27FC236}">
                <a16:creationId xmlns:a16="http://schemas.microsoft.com/office/drawing/2014/main" id="{543255DC-ABEC-2D49-0FBF-D80C69FB56B5}"/>
              </a:ext>
            </a:extLst>
          </p:cNvPr>
          <p:cNvCxnSpPr>
            <a:cxnSpLocks/>
            <a:stCxn id="368" idx="7"/>
            <a:endCxn id="372" idx="2"/>
          </p:cNvCxnSpPr>
          <p:nvPr/>
        </p:nvCxnSpPr>
        <p:spPr>
          <a:xfrm flipV="1">
            <a:off x="7221885" y="4120064"/>
            <a:ext cx="215876" cy="135067"/>
          </a:xfrm>
          <a:prstGeom prst="line">
            <a:avLst/>
          </a:prstGeom>
          <a:ln w="28575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Straight Connector 401">
            <a:extLst>
              <a:ext uri="{FF2B5EF4-FFF2-40B4-BE49-F238E27FC236}">
                <a16:creationId xmlns:a16="http://schemas.microsoft.com/office/drawing/2014/main" id="{D8041D52-D199-2D74-319A-CC309D4EE448}"/>
              </a:ext>
            </a:extLst>
          </p:cNvPr>
          <p:cNvCxnSpPr>
            <a:cxnSpLocks/>
            <a:stCxn id="366" idx="1"/>
            <a:endCxn id="372" idx="5"/>
          </p:cNvCxnSpPr>
          <p:nvPr/>
        </p:nvCxnSpPr>
        <p:spPr>
          <a:xfrm flipH="1" flipV="1">
            <a:off x="7688882" y="4224081"/>
            <a:ext cx="111887" cy="428415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Straight Connector 402">
            <a:extLst>
              <a:ext uri="{FF2B5EF4-FFF2-40B4-BE49-F238E27FC236}">
                <a16:creationId xmlns:a16="http://schemas.microsoft.com/office/drawing/2014/main" id="{F4343F5D-CB57-73BB-C742-4077A73F3924}"/>
              </a:ext>
            </a:extLst>
          </p:cNvPr>
          <p:cNvCxnSpPr>
            <a:cxnSpLocks/>
            <a:stCxn id="366" idx="0"/>
            <a:endCxn id="370" idx="4"/>
          </p:cNvCxnSpPr>
          <p:nvPr/>
        </p:nvCxnSpPr>
        <p:spPr>
          <a:xfrm flipV="1">
            <a:off x="7904787" y="3609426"/>
            <a:ext cx="467030" cy="999984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4" name="Straight Connector 403">
            <a:extLst>
              <a:ext uri="{FF2B5EF4-FFF2-40B4-BE49-F238E27FC236}">
                <a16:creationId xmlns:a16="http://schemas.microsoft.com/office/drawing/2014/main" id="{845D7CE2-F719-35B9-C970-2BA66020671B}"/>
              </a:ext>
            </a:extLst>
          </p:cNvPr>
          <p:cNvCxnSpPr>
            <a:cxnSpLocks/>
            <a:stCxn id="376" idx="1"/>
            <a:endCxn id="370" idx="5"/>
          </p:cNvCxnSpPr>
          <p:nvPr/>
        </p:nvCxnSpPr>
        <p:spPr>
          <a:xfrm flipH="1" flipV="1">
            <a:off x="8475834" y="3566340"/>
            <a:ext cx="10122" cy="158746"/>
          </a:xfrm>
          <a:prstGeom prst="line">
            <a:avLst/>
          </a:prstGeom>
          <a:ln w="28575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Straight Connector 404">
            <a:extLst>
              <a:ext uri="{FF2B5EF4-FFF2-40B4-BE49-F238E27FC236}">
                <a16:creationId xmlns:a16="http://schemas.microsoft.com/office/drawing/2014/main" id="{1FD37A9C-0C0A-2EFB-A290-EEA88D5CFF73}"/>
              </a:ext>
            </a:extLst>
          </p:cNvPr>
          <p:cNvCxnSpPr>
            <a:cxnSpLocks/>
            <a:stCxn id="376" idx="6"/>
            <a:endCxn id="384" idx="2"/>
          </p:cNvCxnSpPr>
          <p:nvPr/>
        </p:nvCxnSpPr>
        <p:spPr>
          <a:xfrm flipV="1">
            <a:off x="8737077" y="3637046"/>
            <a:ext cx="789726" cy="192058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Straight Connector 405">
            <a:extLst>
              <a:ext uri="{FF2B5EF4-FFF2-40B4-BE49-F238E27FC236}">
                <a16:creationId xmlns:a16="http://schemas.microsoft.com/office/drawing/2014/main" id="{EC83A81D-AC01-DB37-B52C-5F2790E5733C}"/>
              </a:ext>
            </a:extLst>
          </p:cNvPr>
          <p:cNvCxnSpPr>
            <a:cxnSpLocks/>
            <a:stCxn id="376" idx="5"/>
            <a:endCxn id="362" idx="2"/>
          </p:cNvCxnSpPr>
          <p:nvPr/>
        </p:nvCxnSpPr>
        <p:spPr>
          <a:xfrm>
            <a:off x="8693991" y="3933121"/>
            <a:ext cx="462845" cy="627634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4913EF78-C6F4-742C-C6B1-567A3F99645D}"/>
              </a:ext>
            </a:extLst>
          </p:cNvPr>
          <p:cNvCxnSpPr>
            <a:cxnSpLocks/>
            <a:stCxn id="376" idx="4"/>
            <a:endCxn id="364" idx="0"/>
          </p:cNvCxnSpPr>
          <p:nvPr/>
        </p:nvCxnSpPr>
        <p:spPr>
          <a:xfrm>
            <a:off x="8589974" y="3976207"/>
            <a:ext cx="80192" cy="105113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E4696055-84FB-9D8B-4AB7-4A586C15C46B}"/>
              </a:ext>
            </a:extLst>
          </p:cNvPr>
          <p:cNvCxnSpPr>
            <a:cxnSpLocks/>
            <a:stCxn id="358" idx="4"/>
            <a:endCxn id="388" idx="0"/>
          </p:cNvCxnSpPr>
          <p:nvPr/>
        </p:nvCxnSpPr>
        <p:spPr>
          <a:xfrm flipH="1">
            <a:off x="9971800" y="5330807"/>
            <a:ext cx="41635" cy="134225"/>
          </a:xfrm>
          <a:prstGeom prst="line">
            <a:avLst/>
          </a:prstGeom>
          <a:ln w="28575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31359688-A3B5-B904-051B-F1618DA1579B}"/>
              </a:ext>
            </a:extLst>
          </p:cNvPr>
          <p:cNvCxnSpPr>
            <a:cxnSpLocks/>
            <a:stCxn id="388" idx="1"/>
            <a:endCxn id="364" idx="5"/>
          </p:cNvCxnSpPr>
          <p:nvPr/>
        </p:nvCxnSpPr>
        <p:spPr>
          <a:xfrm flipH="1" flipV="1">
            <a:off x="8774183" y="5278464"/>
            <a:ext cx="1093599" cy="229654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Straight Connector 409">
            <a:extLst>
              <a:ext uri="{FF2B5EF4-FFF2-40B4-BE49-F238E27FC236}">
                <a16:creationId xmlns:a16="http://schemas.microsoft.com/office/drawing/2014/main" id="{DCF44788-FD73-D44D-A4B9-780F529E509F}"/>
              </a:ext>
            </a:extLst>
          </p:cNvPr>
          <p:cNvCxnSpPr>
            <a:cxnSpLocks/>
            <a:stCxn id="360" idx="0"/>
            <a:endCxn id="364" idx="3"/>
          </p:cNvCxnSpPr>
          <p:nvPr/>
        </p:nvCxnSpPr>
        <p:spPr>
          <a:xfrm flipV="1">
            <a:off x="8508513" y="5278464"/>
            <a:ext cx="57635" cy="143250"/>
          </a:xfrm>
          <a:prstGeom prst="line">
            <a:avLst/>
          </a:prstGeom>
          <a:ln w="28575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Straight Connector 410">
            <a:extLst>
              <a:ext uri="{FF2B5EF4-FFF2-40B4-BE49-F238E27FC236}">
                <a16:creationId xmlns:a16="http://schemas.microsoft.com/office/drawing/2014/main" id="{395099FA-5929-1FFD-92A7-6A884E77238A}"/>
              </a:ext>
            </a:extLst>
          </p:cNvPr>
          <p:cNvCxnSpPr>
            <a:cxnSpLocks/>
            <a:stCxn id="380" idx="7"/>
            <a:endCxn id="366" idx="4"/>
          </p:cNvCxnSpPr>
          <p:nvPr/>
        </p:nvCxnSpPr>
        <p:spPr>
          <a:xfrm flipV="1">
            <a:off x="7799017" y="4903617"/>
            <a:ext cx="105770" cy="50661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Connector 411">
            <a:extLst>
              <a:ext uri="{FF2B5EF4-FFF2-40B4-BE49-F238E27FC236}">
                <a16:creationId xmlns:a16="http://schemas.microsoft.com/office/drawing/2014/main" id="{0B6C8D2C-220A-70E8-178D-2EF6A95D1308}"/>
              </a:ext>
            </a:extLst>
          </p:cNvPr>
          <p:cNvCxnSpPr>
            <a:cxnSpLocks/>
            <a:stCxn id="368" idx="6"/>
            <a:endCxn id="366" idx="2"/>
          </p:cNvCxnSpPr>
          <p:nvPr/>
        </p:nvCxnSpPr>
        <p:spPr>
          <a:xfrm>
            <a:off x="7264971" y="4359149"/>
            <a:ext cx="492712" cy="397365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Straight Connector 412">
            <a:extLst>
              <a:ext uri="{FF2B5EF4-FFF2-40B4-BE49-F238E27FC236}">
                <a16:creationId xmlns:a16="http://schemas.microsoft.com/office/drawing/2014/main" id="{DBF8E263-C5E2-CE13-81F1-3043392E5CBF}"/>
              </a:ext>
            </a:extLst>
          </p:cNvPr>
          <p:cNvCxnSpPr>
            <a:cxnSpLocks/>
            <a:stCxn id="382" idx="7"/>
            <a:endCxn id="366" idx="3"/>
          </p:cNvCxnSpPr>
          <p:nvPr/>
        </p:nvCxnSpPr>
        <p:spPr>
          <a:xfrm flipV="1">
            <a:off x="7654154" y="4860531"/>
            <a:ext cx="146615" cy="138359"/>
          </a:xfrm>
          <a:prstGeom prst="line">
            <a:avLst/>
          </a:prstGeom>
          <a:ln w="28575">
            <a:solidFill>
              <a:srgbClr val="0000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Straight Connector 413">
            <a:extLst>
              <a:ext uri="{FF2B5EF4-FFF2-40B4-BE49-F238E27FC236}">
                <a16:creationId xmlns:a16="http://schemas.microsoft.com/office/drawing/2014/main" id="{1DC31A7D-9EC8-D4D0-0EF2-7E1935D1CEDE}"/>
              </a:ext>
            </a:extLst>
          </p:cNvPr>
          <p:cNvCxnSpPr>
            <a:cxnSpLocks/>
            <a:stCxn id="366" idx="5"/>
            <a:endCxn id="364" idx="1"/>
          </p:cNvCxnSpPr>
          <p:nvPr/>
        </p:nvCxnSpPr>
        <p:spPr>
          <a:xfrm>
            <a:off x="8008804" y="4860531"/>
            <a:ext cx="557344" cy="209898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Straight Connector 415">
            <a:extLst>
              <a:ext uri="{FF2B5EF4-FFF2-40B4-BE49-F238E27FC236}">
                <a16:creationId xmlns:a16="http://schemas.microsoft.com/office/drawing/2014/main" id="{7F0FB865-1208-9A87-50FE-B3C2AF54F674}"/>
              </a:ext>
            </a:extLst>
          </p:cNvPr>
          <p:cNvCxnSpPr>
            <a:cxnSpLocks/>
            <a:stCxn id="372" idx="6"/>
            <a:endCxn id="370" idx="3"/>
          </p:cNvCxnSpPr>
          <p:nvPr/>
        </p:nvCxnSpPr>
        <p:spPr>
          <a:xfrm flipV="1">
            <a:off x="7731968" y="3566340"/>
            <a:ext cx="535831" cy="553724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Straight Connector 416">
            <a:extLst>
              <a:ext uri="{FF2B5EF4-FFF2-40B4-BE49-F238E27FC236}">
                <a16:creationId xmlns:a16="http://schemas.microsoft.com/office/drawing/2014/main" id="{50A2789D-8103-3D56-6B95-21E84C3A3BB7}"/>
              </a:ext>
            </a:extLst>
          </p:cNvPr>
          <p:cNvCxnSpPr>
            <a:cxnSpLocks/>
            <a:stCxn id="366" idx="6"/>
            <a:endCxn id="376" idx="3"/>
          </p:cNvCxnSpPr>
          <p:nvPr/>
        </p:nvCxnSpPr>
        <p:spPr>
          <a:xfrm flipV="1">
            <a:off x="8051890" y="3933121"/>
            <a:ext cx="434066" cy="823393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Straight Connector 417">
            <a:extLst>
              <a:ext uri="{FF2B5EF4-FFF2-40B4-BE49-F238E27FC236}">
                <a16:creationId xmlns:a16="http://schemas.microsoft.com/office/drawing/2014/main" id="{70FA62A6-F25C-0A12-986F-1B9EF6B6B0FB}"/>
              </a:ext>
            </a:extLst>
          </p:cNvPr>
          <p:cNvCxnSpPr>
            <a:cxnSpLocks/>
            <a:stCxn id="382" idx="6"/>
            <a:endCxn id="364" idx="2"/>
          </p:cNvCxnSpPr>
          <p:nvPr/>
        </p:nvCxnSpPr>
        <p:spPr>
          <a:xfrm>
            <a:off x="7697240" y="5102908"/>
            <a:ext cx="825822" cy="71539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02204E8B-84FB-B5E5-CEF7-B744F69F9F62}"/>
              </a:ext>
            </a:extLst>
          </p:cNvPr>
          <p:cNvCxnSpPr>
            <a:cxnSpLocks/>
            <a:stCxn id="364" idx="6"/>
            <a:endCxn id="362" idx="2"/>
          </p:cNvCxnSpPr>
          <p:nvPr/>
        </p:nvCxnSpPr>
        <p:spPr>
          <a:xfrm flipV="1">
            <a:off x="8817269" y="4560755"/>
            <a:ext cx="339567" cy="613692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Connector 419">
            <a:extLst>
              <a:ext uri="{FF2B5EF4-FFF2-40B4-BE49-F238E27FC236}">
                <a16:creationId xmlns:a16="http://schemas.microsoft.com/office/drawing/2014/main" id="{372A6D80-B8C0-8505-086C-F61DB4930352}"/>
              </a:ext>
            </a:extLst>
          </p:cNvPr>
          <p:cNvCxnSpPr>
            <a:cxnSpLocks/>
            <a:stCxn id="368" idx="0"/>
            <a:endCxn id="378" idx="3"/>
          </p:cNvCxnSpPr>
          <p:nvPr/>
        </p:nvCxnSpPr>
        <p:spPr>
          <a:xfrm flipV="1">
            <a:off x="7117868" y="3446738"/>
            <a:ext cx="667779" cy="76530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Connector 421">
            <a:extLst>
              <a:ext uri="{FF2B5EF4-FFF2-40B4-BE49-F238E27FC236}">
                <a16:creationId xmlns:a16="http://schemas.microsoft.com/office/drawing/2014/main" id="{54784136-70A3-12EB-2DC6-35AA10966237}"/>
              </a:ext>
            </a:extLst>
          </p:cNvPr>
          <p:cNvCxnSpPr>
            <a:cxnSpLocks/>
            <a:stCxn id="366" idx="4"/>
            <a:endCxn id="360" idx="1"/>
          </p:cNvCxnSpPr>
          <p:nvPr/>
        </p:nvCxnSpPr>
        <p:spPr>
          <a:xfrm>
            <a:off x="7904787" y="4903617"/>
            <a:ext cx="499708" cy="561183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Connector 448">
            <a:extLst>
              <a:ext uri="{FF2B5EF4-FFF2-40B4-BE49-F238E27FC236}">
                <a16:creationId xmlns:a16="http://schemas.microsoft.com/office/drawing/2014/main" id="{44F985CF-E8AE-9992-95AE-807D56E2BE2F}"/>
              </a:ext>
            </a:extLst>
          </p:cNvPr>
          <p:cNvCxnSpPr>
            <a:cxnSpLocks/>
            <a:stCxn id="376" idx="7"/>
            <a:endCxn id="386" idx="4"/>
          </p:cNvCxnSpPr>
          <p:nvPr/>
        </p:nvCxnSpPr>
        <p:spPr>
          <a:xfrm flipV="1">
            <a:off x="8693991" y="3545072"/>
            <a:ext cx="427643" cy="180014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2" name="Straight Connector 481">
            <a:extLst>
              <a:ext uri="{FF2B5EF4-FFF2-40B4-BE49-F238E27FC236}">
                <a16:creationId xmlns:a16="http://schemas.microsoft.com/office/drawing/2014/main" id="{0ACAB657-F6DB-4F5A-06EF-DCAF543DD092}"/>
              </a:ext>
            </a:extLst>
          </p:cNvPr>
          <p:cNvCxnSpPr>
            <a:cxnSpLocks/>
            <a:stCxn id="374" idx="5"/>
            <a:endCxn id="359" idx="0"/>
          </p:cNvCxnSpPr>
          <p:nvPr/>
        </p:nvCxnSpPr>
        <p:spPr>
          <a:xfrm>
            <a:off x="9772646" y="4397194"/>
            <a:ext cx="202100" cy="639713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Straight Connector 484">
            <a:extLst>
              <a:ext uri="{FF2B5EF4-FFF2-40B4-BE49-F238E27FC236}">
                <a16:creationId xmlns:a16="http://schemas.microsoft.com/office/drawing/2014/main" id="{94F7F1B2-EF23-6C4E-543A-2E93C5814DE6}"/>
              </a:ext>
            </a:extLst>
          </p:cNvPr>
          <p:cNvCxnSpPr>
            <a:cxnSpLocks/>
            <a:stCxn id="136" idx="4"/>
            <a:endCxn id="114" idx="0"/>
          </p:cNvCxnSpPr>
          <p:nvPr/>
        </p:nvCxnSpPr>
        <p:spPr>
          <a:xfrm flipH="1">
            <a:off x="6041906" y="4237355"/>
            <a:ext cx="60082" cy="46292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" name="Straight Connector 491">
            <a:extLst>
              <a:ext uri="{FF2B5EF4-FFF2-40B4-BE49-F238E27FC236}">
                <a16:creationId xmlns:a16="http://schemas.microsoft.com/office/drawing/2014/main" id="{8935AD3D-3ABC-71A7-10D0-525EF684C173}"/>
              </a:ext>
            </a:extLst>
          </p:cNvPr>
          <p:cNvCxnSpPr>
            <a:cxnSpLocks/>
            <a:stCxn id="136" idx="3"/>
            <a:endCxn id="118" idx="6"/>
          </p:cNvCxnSpPr>
          <p:nvPr/>
        </p:nvCxnSpPr>
        <p:spPr>
          <a:xfrm flipH="1">
            <a:off x="4783090" y="4194269"/>
            <a:ext cx="1214880" cy="317005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Straight Connector 494">
            <a:extLst>
              <a:ext uri="{FF2B5EF4-FFF2-40B4-BE49-F238E27FC236}">
                <a16:creationId xmlns:a16="http://schemas.microsoft.com/office/drawing/2014/main" id="{AE40F1FB-D798-F49A-74AF-D4966058B1B3}"/>
              </a:ext>
            </a:extLst>
          </p:cNvPr>
          <p:cNvCxnSpPr>
            <a:cxnSpLocks/>
            <a:stCxn id="128" idx="7"/>
            <a:endCxn id="139" idx="4"/>
          </p:cNvCxnSpPr>
          <p:nvPr/>
        </p:nvCxnSpPr>
        <p:spPr>
          <a:xfrm flipV="1">
            <a:off x="5215733" y="3531658"/>
            <a:ext cx="342894" cy="18666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4" name="TextBox 503">
            <a:extLst>
              <a:ext uri="{FF2B5EF4-FFF2-40B4-BE49-F238E27FC236}">
                <a16:creationId xmlns:a16="http://schemas.microsoft.com/office/drawing/2014/main" id="{8EFA767B-6011-F7C1-02C8-9BBB4C7A507D}"/>
              </a:ext>
            </a:extLst>
          </p:cNvPr>
          <p:cNvSpPr txBox="1"/>
          <p:nvPr/>
        </p:nvSpPr>
        <p:spPr>
          <a:xfrm>
            <a:off x="7499568" y="6079351"/>
            <a:ext cx="224273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Possible species: </a:t>
            </a:r>
          </a:p>
          <a:p>
            <a:pPr algn="ctr"/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2HO</a:t>
            </a:r>
            <a:r>
              <a:rPr lang="en-US" sz="15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, 2OH, 2H</a:t>
            </a:r>
            <a:r>
              <a:rPr lang="en-US" sz="15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, O</a:t>
            </a:r>
            <a:r>
              <a:rPr lang="en-US" sz="15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, &amp; etc.</a:t>
            </a:r>
          </a:p>
        </p:txBody>
      </p:sp>
      <p:sp>
        <p:nvSpPr>
          <p:cNvPr id="512" name="TextBox 511">
            <a:extLst>
              <a:ext uri="{FF2B5EF4-FFF2-40B4-BE49-F238E27FC236}">
                <a16:creationId xmlns:a16="http://schemas.microsoft.com/office/drawing/2014/main" id="{EAA6A64C-C0F6-1353-EF8E-0F9A4E4B035A}"/>
              </a:ext>
            </a:extLst>
          </p:cNvPr>
          <p:cNvSpPr txBox="1"/>
          <p:nvPr/>
        </p:nvSpPr>
        <p:spPr>
          <a:xfrm>
            <a:off x="4709680" y="5507104"/>
            <a:ext cx="5501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514" name="TextBox 513">
            <a:extLst>
              <a:ext uri="{FF2B5EF4-FFF2-40B4-BE49-F238E27FC236}">
                <a16:creationId xmlns:a16="http://schemas.microsoft.com/office/drawing/2014/main" id="{F3881CE2-C4CA-F512-1D66-47D08E8F521C}"/>
              </a:ext>
            </a:extLst>
          </p:cNvPr>
          <p:cNvSpPr txBox="1"/>
          <p:nvPr/>
        </p:nvSpPr>
        <p:spPr>
          <a:xfrm>
            <a:off x="8251010" y="5507104"/>
            <a:ext cx="5501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516" name="Oval 515">
            <a:extLst>
              <a:ext uri="{FF2B5EF4-FFF2-40B4-BE49-F238E27FC236}">
                <a16:creationId xmlns:a16="http://schemas.microsoft.com/office/drawing/2014/main" id="{81C26259-2F5B-32D0-4312-D0931BE969FA}"/>
              </a:ext>
            </a:extLst>
          </p:cNvPr>
          <p:cNvSpPr>
            <a:spLocks noChangeAspect="1"/>
          </p:cNvSpPr>
          <p:nvPr/>
        </p:nvSpPr>
        <p:spPr>
          <a:xfrm>
            <a:off x="10318491" y="3343108"/>
            <a:ext cx="228600" cy="2286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7" name="TextBox 516">
            <a:extLst>
              <a:ext uri="{FF2B5EF4-FFF2-40B4-BE49-F238E27FC236}">
                <a16:creationId xmlns:a16="http://schemas.microsoft.com/office/drawing/2014/main" id="{9DA28C3C-C6F6-EBD8-6C8B-B22ABEEB88A2}"/>
              </a:ext>
            </a:extLst>
          </p:cNvPr>
          <p:cNvSpPr txBox="1"/>
          <p:nvPr/>
        </p:nvSpPr>
        <p:spPr>
          <a:xfrm>
            <a:off x="10720957" y="3327659"/>
            <a:ext cx="8797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Atom node</a:t>
            </a:r>
          </a:p>
        </p:txBody>
      </p:sp>
      <p:cxnSp>
        <p:nvCxnSpPr>
          <p:cNvPr id="518" name="Straight Connector 517">
            <a:extLst>
              <a:ext uri="{FF2B5EF4-FFF2-40B4-BE49-F238E27FC236}">
                <a16:creationId xmlns:a16="http://schemas.microsoft.com/office/drawing/2014/main" id="{3B3C15F3-8B2B-A21E-43F8-897491234C8D}"/>
              </a:ext>
            </a:extLst>
          </p:cNvPr>
          <p:cNvCxnSpPr>
            <a:cxnSpLocks/>
          </p:cNvCxnSpPr>
          <p:nvPr/>
        </p:nvCxnSpPr>
        <p:spPr>
          <a:xfrm flipH="1">
            <a:off x="10220176" y="3877405"/>
            <a:ext cx="418749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9" name="TextBox 518">
            <a:extLst>
              <a:ext uri="{FF2B5EF4-FFF2-40B4-BE49-F238E27FC236}">
                <a16:creationId xmlns:a16="http://schemas.microsoft.com/office/drawing/2014/main" id="{8D8FCEBB-3D58-154B-7F4D-34528EE191A4}"/>
              </a:ext>
            </a:extLst>
          </p:cNvPr>
          <p:cNvSpPr txBox="1"/>
          <p:nvPr/>
        </p:nvSpPr>
        <p:spPr>
          <a:xfrm>
            <a:off x="10720957" y="3734597"/>
            <a:ext cx="14258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Possible bond edge </a:t>
            </a:r>
          </a:p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(positive link)</a:t>
            </a:r>
          </a:p>
        </p:txBody>
      </p:sp>
      <p:cxnSp>
        <p:nvCxnSpPr>
          <p:cNvPr id="520" name="Straight Connector 519">
            <a:extLst>
              <a:ext uri="{FF2B5EF4-FFF2-40B4-BE49-F238E27FC236}">
                <a16:creationId xmlns:a16="http://schemas.microsoft.com/office/drawing/2014/main" id="{3D6327D7-7B42-21A0-EAF5-1F1869CD1110}"/>
              </a:ext>
            </a:extLst>
          </p:cNvPr>
          <p:cNvCxnSpPr>
            <a:cxnSpLocks/>
          </p:cNvCxnSpPr>
          <p:nvPr/>
        </p:nvCxnSpPr>
        <p:spPr>
          <a:xfrm flipH="1">
            <a:off x="10220443" y="4318267"/>
            <a:ext cx="41874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1" name="TextBox 520">
            <a:extLst>
              <a:ext uri="{FF2B5EF4-FFF2-40B4-BE49-F238E27FC236}">
                <a16:creationId xmlns:a16="http://schemas.microsoft.com/office/drawing/2014/main" id="{39F99A34-F866-9AA4-3F6C-5A29B30FEB9D}"/>
              </a:ext>
            </a:extLst>
          </p:cNvPr>
          <p:cNvSpPr txBox="1"/>
          <p:nvPr/>
        </p:nvSpPr>
        <p:spPr>
          <a:xfrm>
            <a:off x="10724300" y="4175459"/>
            <a:ext cx="12589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Not a bond edge </a:t>
            </a:r>
          </a:p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(negative link)</a:t>
            </a:r>
          </a:p>
        </p:txBody>
      </p:sp>
      <p:sp>
        <p:nvSpPr>
          <p:cNvPr id="522" name="Rounded Rectangle 521">
            <a:extLst>
              <a:ext uri="{FF2B5EF4-FFF2-40B4-BE49-F238E27FC236}">
                <a16:creationId xmlns:a16="http://schemas.microsoft.com/office/drawing/2014/main" id="{7532C935-789C-E89F-5E11-D84EBE381969}"/>
              </a:ext>
            </a:extLst>
          </p:cNvPr>
          <p:cNvSpPr/>
          <p:nvPr/>
        </p:nvSpPr>
        <p:spPr>
          <a:xfrm>
            <a:off x="231566" y="2661141"/>
            <a:ext cx="11817564" cy="4060323"/>
          </a:xfrm>
          <a:prstGeom prst="roundRect">
            <a:avLst>
              <a:gd name="adj" fmla="val 7760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13445128-04B7-0817-7AAB-8088AD6CF5D5}"/>
              </a:ext>
            </a:extLst>
          </p:cNvPr>
          <p:cNvSpPr txBox="1"/>
          <p:nvPr/>
        </p:nvSpPr>
        <p:spPr>
          <a:xfrm>
            <a:off x="4736800" y="2728177"/>
            <a:ext cx="25730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 training graph data</a:t>
            </a:r>
          </a:p>
        </p:txBody>
      </p:sp>
      <p:sp>
        <p:nvSpPr>
          <p:cNvPr id="524" name="TextBox 523">
            <a:extLst>
              <a:ext uri="{FF2B5EF4-FFF2-40B4-BE49-F238E27FC236}">
                <a16:creationId xmlns:a16="http://schemas.microsoft.com/office/drawing/2014/main" id="{6F3B70A1-98EE-C3FD-61CA-F5D2B63B6668}"/>
              </a:ext>
            </a:extLst>
          </p:cNvPr>
          <p:cNvSpPr txBox="1"/>
          <p:nvPr/>
        </p:nvSpPr>
        <p:spPr>
          <a:xfrm>
            <a:off x="10302947" y="4733620"/>
            <a:ext cx="16958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The GNN is supposed to be fully connected. Not all the edges are displayed simply for visualization purpose.</a:t>
            </a:r>
          </a:p>
        </p:txBody>
      </p:sp>
    </p:spTree>
    <p:extLst>
      <p:ext uri="{BB962C8B-B14F-4D97-AF65-F5344CB8AC3E}">
        <p14:creationId xmlns:p14="http://schemas.microsoft.com/office/powerpoint/2010/main" val="220862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2367</TotalTime>
  <Words>1918</Words>
  <Application>Microsoft Macintosh PowerPoint</Application>
  <PresentationFormat>Widescreen</PresentationFormat>
  <Paragraphs>430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Cambria Math</vt:lpstr>
      <vt:lpstr>Courier New</vt:lpstr>
      <vt:lpstr>Garamond</vt:lpstr>
      <vt:lpstr>Helvetica</vt:lpstr>
      <vt:lpstr>Wingdings</vt:lpstr>
      <vt:lpstr>Office Theme</vt:lpstr>
      <vt:lpstr>Research Updates on GNN Species Discovery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Rui Xu</dc:creator>
  <cp:lastModifiedBy>Rui Xu</cp:lastModifiedBy>
  <cp:revision>3521</cp:revision>
  <dcterms:created xsi:type="dcterms:W3CDTF">2025-01-30T21:03:05Z</dcterms:created>
  <dcterms:modified xsi:type="dcterms:W3CDTF">2026-05-08T20:50:44Z</dcterms:modified>
</cp:coreProperties>
</file>