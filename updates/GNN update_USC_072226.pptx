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477" r:id="rId2"/>
    <p:sldId id="548" r:id="rId3"/>
    <p:sldId id="550" r:id="rId4"/>
    <p:sldId id="549" r:id="rId5"/>
    <p:sldId id="537" r:id="rId6"/>
    <p:sldId id="535" r:id="rId7"/>
    <p:sldId id="538" r:id="rId8"/>
    <p:sldId id="540" r:id="rId9"/>
    <p:sldId id="544" r:id="rId10"/>
    <p:sldId id="542" r:id="rId11"/>
    <p:sldId id="543" r:id="rId12"/>
    <p:sldId id="545" r:id="rId13"/>
    <p:sldId id="546" r:id="rId14"/>
    <p:sldId id="547" r:id="rId15"/>
    <p:sldId id="5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7D9"/>
    <a:srgbClr val="702FA1"/>
    <a:srgbClr val="17803C"/>
    <a:srgbClr val="7030A0"/>
    <a:srgbClr val="14532D"/>
    <a:srgbClr val="0000FF"/>
    <a:srgbClr val="FF4D4D"/>
    <a:srgbClr val="A5C7FD"/>
    <a:srgbClr val="9F61FF"/>
    <a:srgbClr val="2E2C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00"/>
    <p:restoredTop sz="95122"/>
  </p:normalViewPr>
  <p:slideViewPr>
    <p:cSldViewPr snapToGrid="0">
      <p:cViewPr varScale="1">
        <p:scale>
          <a:sx n="151" d="100"/>
          <a:sy n="151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55514-7F84-8A44-BF0D-F67E421A0CC6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3BFEB-DD89-0645-80CB-A8799B564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44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92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C6644-5B86-52F8-473E-9AC9E7CC2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9E205-891E-E9BD-EAA1-8E96D8FC5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7C817-A48F-1F9D-0D26-C1087C57F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53C5D-1108-F589-FD7C-817DA457D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48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2E866-11F3-F907-171A-FDBBF1ABA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4A779-9E86-6F9C-F186-1197475C4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D59D08-2777-6CC9-6623-028506129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44900-4ADA-0275-8AF4-2E994BDAB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85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3A2D-2975-5AD2-16BE-A58866C4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AFFDA-D509-349A-A7B3-B44EC77ED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F2A5A-A635-7297-EAC7-6C48A6EBC1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3F459-8AF9-DD53-3042-383879DBA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47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F9BED-6FCB-5FFA-6DDB-8291E5EF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50FEC-D449-CE0F-81F0-FD78D6021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F0F43-8468-CFA1-27BA-37AF429E5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306E7-4EFA-3A50-D483-67859371A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283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5AE8F-6438-2A3F-5B16-C9AEC831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C76C5-FDF5-4788-0153-6F3DCD94C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C6CAE-4F07-17AF-6A9F-BA8E40241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FA898-77E3-9D3B-078B-526F55061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0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F1AB-9060-6BD1-A374-700BA7A8B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80EB2-EBD1-6E7C-5EBB-76110BFFD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887BD-0B51-C427-AC9F-4F87B467C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6A887-3AEB-E81F-8326-2434169CD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5480B-33D1-046B-2DD6-794D2EEE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A1EC80-75BA-BD42-946F-A81AE98A7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05652-7557-78CB-5643-7B6E96A54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E74B4-D13F-4F0A-94E1-D441AE760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6428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856EB-5817-E8CF-6C40-5ECC5E3A0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2711C-38A2-1B31-3AE7-EA361ED22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5DE8E-1A73-5DFE-6A25-BE11D2E35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D14F7-AC07-6D95-A8E0-6431FDF00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42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918D9-222E-7ED8-4085-8F76DBECC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A6FE9-D3ED-206F-4769-AD6D7DD9C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DE887-9C8D-426A-9CF6-0A23906CB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76E16-D404-4789-ADF5-D55387B14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83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1D56-C11E-DD1D-E4E0-9377C2DC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E3C7A-BCBB-82CF-C702-AFC893A4F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CD290-5E49-9B55-C15E-7B63C340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13178-C851-297D-B3D6-A843932CA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769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4F96C-AD4E-31CE-0641-9DB8C4B7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EB502-4D87-364D-2B96-83CC17CA4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CD973-377A-ED85-F09E-21DAD7626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272A2-B3B7-15FA-CF89-C41371F64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402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9A28-8A34-7FBE-809C-230E6A8FD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CFEAF3-C38F-F8D6-454F-2E05F9967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3226F-3088-FAD4-7F92-2BD6AC4A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30C2F-A8B2-8291-57FB-5F92828D8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37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35BC5-78E1-7A42-330C-180D12F0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31AF97-E219-EB7D-4A5F-8F65D6227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3C283-E422-BFFD-8623-39A607963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F2ACD-3E54-457E-1FEE-7B292F65C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93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64495-5C4E-A4EA-0D5D-0261D58F0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2FD33-DACB-CDC3-8647-8630D3709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0B807-FE18-BCE2-C7FA-B94EEF8CD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70F3-F898-8F7F-2E49-D1EB1E360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ECEAE-2D44-DE4F-B21E-1DC3F0BF0D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5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1828-A740-60EF-5F7D-328A01908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6C149-91B5-D709-D604-9584F6DFE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DA84-C123-C8B7-BB16-2325D949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7CEC8-9C94-5D4A-BDC3-A40FED9179B1}" type="datetime1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50313-7C58-E4B7-4FDA-E25E1610F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85CB0-9FEC-6A9E-4CFF-4FD3D472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4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662-E4D8-8CA7-3779-B91513EC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E77A2-E909-B688-AD08-534C18F1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6EE6-E4D8-C434-F684-7BDECD3C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EBB2E-142D-B74B-9399-40F03EC43A94}" type="datetime1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72FF9-1EF4-47A4-648E-A8B6E547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33235-18F6-14B7-3F3C-1B310D36A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338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F5017-3F85-C2E6-5223-EDEBE5345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BA6AA-4581-665D-E86C-3B9112C72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D9C1-1EC7-0095-9E10-CD587E79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71EC9-59E5-E747-A114-45701F6348E1}" type="datetime1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38B0-8D46-6591-E13B-B62AEEEB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77FE6-EC81-455E-9B35-2EA59EF0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4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6101-F797-E64D-FA54-3D9EDC352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F29BB-B08E-A6A3-E23C-8249FDD73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D1720-80A5-C549-E427-D6E34CBF95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ADA3F-5BC8-33B1-4189-E3B09EB1F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B9A4-E352-8A49-AF8F-257AD10A1F2E}" type="datetime1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7241D-8BA1-7634-9F0F-3CCDC159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0BD1-5FBC-D461-C10C-FD6A8E54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648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BA313-CE77-5A6F-1076-DC07B8319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E2FB0-868C-4E75-F108-B0F0E94C5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9C154-890B-3905-BC3B-27FD1AFA1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10E697-7659-F2D9-2650-1DD2EA566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AFD821-CAF0-78FE-A714-AD8C47EF8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367DF-F1FB-0BD2-EE43-8377FA841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F664-7136-1043-972E-DDC35FD0CC48}" type="datetime1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B73405-8153-057C-F0B3-7FC449CFC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8C04F8-2DA2-2DD7-383C-E6AA0DF2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1579D-6958-9DCD-FEFD-E33A46F3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BD8C7-08C9-A825-2CF0-885111CC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DDAD-17E3-7B4E-8819-8AFCE57411CF}" type="datetime1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69594-A820-57FA-D7BB-E26473D5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4ED3E-D1F4-1DBA-E6B3-FC786A145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2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0074D-7F29-ED97-3C6F-3A85EF565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540D-7B6C-724B-A93E-5D4733CE3F95}" type="datetime1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F0620-8F1B-8A53-1AA7-3F2ECFA6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1A3951-4F2E-6F10-D7C5-3037B0E4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02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AF97-852E-02ED-58F0-6309FCC5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C630-AAD8-151F-C40F-44310354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3E170-27A4-7FD2-FF3B-B51326F67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54BD4-BEEC-BCF8-4D36-777CFE17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DA6F-F1D2-D34E-A317-99B8EDD7C888}" type="datetime1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6C24B-DF94-73BC-5F4C-21A8A940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36ACD-6277-85CF-B58A-A31A9364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61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44D50-EFC2-B2BE-11C7-360A75B8A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827050-819B-F6C2-CFC4-B0B3D535C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38D2B-D60F-7B7A-D18A-F983C72EA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2680E-AD25-2C7E-002C-25AC17811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9D098-CF73-674B-9BB3-3738976B525D}" type="datetime1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238F8-806A-352D-6E2F-9CDA90035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A7ECD-6F0E-1D20-7002-5A4DA8D7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4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0CEB-0EAD-DA96-C068-9A26670C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7B2C-1552-E19F-82EE-6C3023C85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990-6543-EB05-FA47-7676CD81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E1A24-4C5A-254A-9E96-CB06335422F3}" type="datetime1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42A2-92D9-3B84-F52F-717CD05B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747D2-4730-FD71-2257-B2B678CA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99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874F61-394E-0423-441D-64174FCBB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8D413-7F7E-1F7D-CC3B-29D83AB51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64D48-917A-F0BF-397C-D0DFC133F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90F1F-AF19-7C4A-AD81-0C60A4619494}" type="datetime1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FA1D-8038-B110-7035-48232E48D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1AF4E-24B4-93C5-A966-DEC52D7B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01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54920-4B0E-0BF2-6788-397E1EB6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FACF1-7249-ABD7-FD7A-923C35382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8B585-BDA3-C9B1-C2BA-512DD11B95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3768C-DD3B-2A40-AF10-0EFC28DED6AB}" type="datetime1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A012F-4C81-44F6-F78D-28C261DAC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411A4-CB77-A53A-D675-7A6609DB6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11C8FE-6982-B849-AC24-E6900E349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8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tiff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0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00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91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0C406E-5381-7676-FAC3-23D2538C8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86539"/>
            <a:ext cx="12192000" cy="11832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29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Research Updates on GNN Species Discovery </a:t>
            </a:r>
            <a:br>
              <a:rPr lang="en-GB" sz="29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</a:br>
            <a:endParaRPr lang="en-GB" sz="29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FD5BD63-C5E7-ED49-10F7-79782BC8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311522"/>
            <a:ext cx="12192000" cy="1259939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Boyuan Yu, Rui Xu</a:t>
            </a:r>
          </a:p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University of Southern California</a:t>
            </a:r>
          </a:p>
          <a:p>
            <a:pPr marL="0" indent="0" eaLnBrk="1" hangingPunct="1"/>
            <a:r>
              <a:rPr lang="en-GB" sz="2000" b="1" noProof="0" dirty="0">
                <a:solidFill>
                  <a:srgbClr val="2E2C28"/>
                </a:solidFill>
                <a:latin typeface="Garamond" panose="02020404030301010803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July 22, 2026</a:t>
            </a:r>
          </a:p>
        </p:txBody>
      </p:sp>
    </p:spTree>
    <p:extLst>
      <p:ext uri="{BB962C8B-B14F-4D97-AF65-F5344CB8AC3E}">
        <p14:creationId xmlns:p14="http://schemas.microsoft.com/office/powerpoint/2010/main" val="725083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914C2-7049-F831-315C-B6A31C973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DD5FD4-B863-8F97-E33E-F6DDC98A48D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C7775F1-DC6F-01A5-E1A1-7A9DD4F96977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From last time</a:t>
            </a:r>
          </a:p>
        </p:txBody>
      </p:sp>
      <p:sp>
        <p:nvSpPr>
          <p:cNvPr id="63" name="Slide Number Placeholder 15">
            <a:extLst>
              <a:ext uri="{FF2B5EF4-FFF2-40B4-BE49-F238E27FC236}">
                <a16:creationId xmlns:a16="http://schemas.microsoft.com/office/drawing/2014/main" id="{41AC4868-9E6A-EC00-E7E9-23797259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A27102-AD20-AA1E-A371-7FFF2E4D0E87}"/>
              </a:ext>
            </a:extLst>
          </p:cNvPr>
          <p:cNvSpPr txBox="1"/>
          <p:nvPr/>
        </p:nvSpPr>
        <p:spPr>
          <a:xfrm>
            <a:off x="358698" y="941049"/>
            <a:ext cx="10995102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Achieved: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eight H</a:t>
            </a:r>
            <a:r>
              <a:rPr lang="en-US" b="1" baseline="-250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/O</a:t>
            </a:r>
            <a:r>
              <a:rPr lang="en-US" b="1" baseline="-2500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species can be discovered using the updated framework.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Invalid species such as hydroperoxyl chain (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HO</a:t>
            </a:r>
            <a:r>
              <a:rPr lang="en-US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HO</a:t>
            </a:r>
            <a:r>
              <a:rPr lang="en-US" b="1" baseline="-25000" dirty="0" err="1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, x &gt; 3) can still be discovered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292147-FF9D-2BBE-E08E-DDECC7CAB8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773"/>
          <a:stretch>
            <a:fillRect/>
          </a:stretch>
        </p:blipFill>
        <p:spPr>
          <a:xfrm>
            <a:off x="579442" y="1830343"/>
            <a:ext cx="5265742" cy="4707091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05886EF3-EEA4-151E-1F06-49BE2C6C5C76}"/>
              </a:ext>
            </a:extLst>
          </p:cNvPr>
          <p:cNvSpPr/>
          <p:nvPr/>
        </p:nvSpPr>
        <p:spPr>
          <a:xfrm>
            <a:off x="492262" y="2259149"/>
            <a:ext cx="457200" cy="457200"/>
          </a:xfrm>
          <a:prstGeom prst="ellipse">
            <a:avLst/>
          </a:prstGeom>
          <a:solidFill>
            <a:srgbClr val="A5C7F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214C6A6-B401-7D07-5145-E005E5CCB3EB}"/>
              </a:ext>
            </a:extLst>
          </p:cNvPr>
          <p:cNvSpPr/>
          <p:nvPr/>
        </p:nvSpPr>
        <p:spPr>
          <a:xfrm>
            <a:off x="492262" y="2873751"/>
            <a:ext cx="457200" cy="457200"/>
          </a:xfrm>
          <a:prstGeom prst="ellipse">
            <a:avLst/>
          </a:prstGeom>
          <a:solidFill>
            <a:srgbClr val="FF4D4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2A9F07-CE2A-ED2B-883F-AA848F2CE8AF}"/>
              </a:ext>
            </a:extLst>
          </p:cNvPr>
          <p:cNvSpPr txBox="1"/>
          <p:nvPr/>
        </p:nvSpPr>
        <p:spPr>
          <a:xfrm>
            <a:off x="981682" y="230308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A6C2E-E3B3-47B5-3932-8BE22945F710}"/>
              </a:ext>
            </a:extLst>
          </p:cNvPr>
          <p:cNvSpPr txBox="1"/>
          <p:nvPr/>
        </p:nvSpPr>
        <p:spPr>
          <a:xfrm>
            <a:off x="981682" y="2917685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21E794C-6A99-D2E6-DD68-5843AA12CD78}"/>
              </a:ext>
            </a:extLst>
          </p:cNvPr>
          <p:cNvSpPr/>
          <p:nvPr/>
        </p:nvSpPr>
        <p:spPr>
          <a:xfrm>
            <a:off x="1513415" y="1772551"/>
            <a:ext cx="3284825" cy="4916988"/>
          </a:xfrm>
          <a:prstGeom prst="roundRect">
            <a:avLst>
              <a:gd name="adj" fmla="val 9143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786DFF-F41E-D426-5385-A618BC64FA22}"/>
              </a:ext>
            </a:extLst>
          </p:cNvPr>
          <p:cNvSpPr txBox="1"/>
          <p:nvPr/>
        </p:nvSpPr>
        <p:spPr>
          <a:xfrm>
            <a:off x="2079264" y="2423961"/>
            <a:ext cx="2049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 valid species “H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”, give +1.0 reward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B55D26-7E90-5A39-DE02-EDFA52436431}"/>
              </a:ext>
            </a:extLst>
          </p:cNvPr>
          <p:cNvSpPr txBox="1"/>
          <p:nvPr/>
        </p:nvSpPr>
        <p:spPr>
          <a:xfrm>
            <a:off x="2079263" y="3817821"/>
            <a:ext cx="2370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An invalid species “H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”, give –1.0 reward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1AA1F1C-54C7-656C-51B8-EFA36FC6E8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726"/>
          <a:stretch>
            <a:fillRect/>
          </a:stretch>
        </p:blipFill>
        <p:spPr>
          <a:xfrm>
            <a:off x="5141961" y="1830343"/>
            <a:ext cx="5248305" cy="4859196"/>
          </a:xfrm>
          <a:prstGeom prst="rect">
            <a:avLst/>
          </a:prstGeom>
        </p:spPr>
      </p:pic>
      <p:sp>
        <p:nvSpPr>
          <p:cNvPr id="29" name="Right Arrow 28">
            <a:extLst>
              <a:ext uri="{FF2B5EF4-FFF2-40B4-BE49-F238E27FC236}">
                <a16:creationId xmlns:a16="http://schemas.microsoft.com/office/drawing/2014/main" id="{75289FA5-4D97-8DF4-161C-7CCDEBB6689A}"/>
              </a:ext>
            </a:extLst>
          </p:cNvPr>
          <p:cNvSpPr/>
          <p:nvPr/>
        </p:nvSpPr>
        <p:spPr>
          <a:xfrm>
            <a:off x="5028936" y="4084219"/>
            <a:ext cx="868112" cy="61107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8434974-86D2-6658-1AA4-D55BFF9C3E55}"/>
              </a:ext>
            </a:extLst>
          </p:cNvPr>
          <p:cNvSpPr/>
          <p:nvPr/>
        </p:nvSpPr>
        <p:spPr>
          <a:xfrm>
            <a:off x="5999128" y="1784913"/>
            <a:ext cx="3832223" cy="4916988"/>
          </a:xfrm>
          <a:prstGeom prst="roundRect">
            <a:avLst>
              <a:gd name="adj" fmla="val 9143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95ECB5-93D4-A3F9-F5D8-04C645C49801}"/>
              </a:ext>
            </a:extLst>
          </p:cNvPr>
          <p:cNvSpPr txBox="1"/>
          <p:nvPr/>
        </p:nvSpPr>
        <p:spPr>
          <a:xfrm>
            <a:off x="7339754" y="5990245"/>
            <a:ext cx="2049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 valid species “H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6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”, give +1.0 reward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E53D7B-AFA9-0A94-C59F-CF45747D0AAC}"/>
              </a:ext>
            </a:extLst>
          </p:cNvPr>
          <p:cNvSpPr txBox="1"/>
          <p:nvPr/>
        </p:nvSpPr>
        <p:spPr>
          <a:xfrm>
            <a:off x="6132438" y="2809963"/>
            <a:ext cx="20497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A valid species “O”, give +1.0 reward</a:t>
            </a:r>
          </a:p>
        </p:txBody>
      </p:sp>
    </p:spTree>
    <p:extLst>
      <p:ext uri="{BB962C8B-B14F-4D97-AF65-F5344CB8AC3E}">
        <p14:creationId xmlns:p14="http://schemas.microsoft.com/office/powerpoint/2010/main" val="387881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1400-ACF4-C199-D246-4548F30E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160A95-B89E-6E8F-3594-94E0FA1F79DD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104752-1781-D879-0912-4CAC2F524A7B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“Invalid species” examples – HO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4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and H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F6A0299-F168-1D05-D7B5-B4F90AC4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3</a:t>
            </a:fld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E8392EC-F662-7ACC-0B2D-C2710F3B6DB0}"/>
              </a:ext>
            </a:extLst>
          </p:cNvPr>
          <p:cNvSpPr/>
          <p:nvPr/>
        </p:nvSpPr>
        <p:spPr>
          <a:xfrm>
            <a:off x="418690" y="1444742"/>
            <a:ext cx="457200" cy="457200"/>
          </a:xfrm>
          <a:prstGeom prst="ellipse">
            <a:avLst/>
          </a:prstGeom>
          <a:solidFill>
            <a:srgbClr val="A5C7F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C2569F6-CC3A-30B5-A5A7-9258BE9F5CA1}"/>
              </a:ext>
            </a:extLst>
          </p:cNvPr>
          <p:cNvSpPr/>
          <p:nvPr/>
        </p:nvSpPr>
        <p:spPr>
          <a:xfrm>
            <a:off x="418690" y="2059344"/>
            <a:ext cx="457200" cy="457200"/>
          </a:xfrm>
          <a:prstGeom prst="ellipse">
            <a:avLst/>
          </a:prstGeom>
          <a:solidFill>
            <a:srgbClr val="FF4D4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BD5822-B544-A872-A1B9-17FB08710BF2}"/>
              </a:ext>
            </a:extLst>
          </p:cNvPr>
          <p:cNvSpPr txBox="1"/>
          <p:nvPr/>
        </p:nvSpPr>
        <p:spPr>
          <a:xfrm>
            <a:off x="908110" y="148867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F4881A-DEA0-1CD4-0211-3DD072F1AEED}"/>
              </a:ext>
            </a:extLst>
          </p:cNvPr>
          <p:cNvSpPr txBox="1"/>
          <p:nvPr/>
        </p:nvSpPr>
        <p:spPr>
          <a:xfrm>
            <a:off x="908110" y="210327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52683-A499-D5FE-6140-5667DC8F0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07" r="13984" b="19429"/>
          <a:stretch>
            <a:fillRect/>
          </a:stretch>
        </p:blipFill>
        <p:spPr>
          <a:xfrm>
            <a:off x="1625599" y="1150900"/>
            <a:ext cx="4346223" cy="50102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1EEC6D-5E37-D1AD-141D-5382FE5CBE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99" r="17904" b="17573"/>
          <a:stretch>
            <a:fillRect/>
          </a:stretch>
        </p:blipFill>
        <p:spPr>
          <a:xfrm>
            <a:off x="6543424" y="1150901"/>
            <a:ext cx="3776555" cy="512572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0BFCCBA-77FA-89CB-00A9-10E579D82584}"/>
              </a:ext>
            </a:extLst>
          </p:cNvPr>
          <p:cNvSpPr/>
          <p:nvPr/>
        </p:nvSpPr>
        <p:spPr>
          <a:xfrm>
            <a:off x="1388533" y="2516544"/>
            <a:ext cx="2743200" cy="3839806"/>
          </a:xfrm>
          <a:prstGeom prst="ellipse">
            <a:avLst/>
          </a:prstGeom>
          <a:noFill/>
          <a:ln>
            <a:solidFill>
              <a:srgbClr val="9F6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4E239-DD9D-B89D-E52E-5415015DB847}"/>
              </a:ext>
            </a:extLst>
          </p:cNvPr>
          <p:cNvSpPr txBox="1"/>
          <p:nvPr/>
        </p:nvSpPr>
        <p:spPr>
          <a:xfrm>
            <a:off x="1797359" y="1703456"/>
            <a:ext cx="256015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An 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radical – valid based on the valence rule but invalid as a combustion species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566C1-18D1-0890-B7A3-3FB39E8EB444}"/>
              </a:ext>
            </a:extLst>
          </p:cNvPr>
          <p:cNvSpPr txBox="1"/>
          <p:nvPr/>
        </p:nvSpPr>
        <p:spPr>
          <a:xfrm>
            <a:off x="7251925" y="1788649"/>
            <a:ext cx="271735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An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molecule – also valid based on the valence rule but invalid as a combustion species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37FD477-782F-993C-4C67-88486B817743}"/>
              </a:ext>
            </a:extLst>
          </p:cNvPr>
          <p:cNvSpPr/>
          <p:nvPr/>
        </p:nvSpPr>
        <p:spPr>
          <a:xfrm>
            <a:off x="6468678" y="2613342"/>
            <a:ext cx="3982011" cy="3839806"/>
          </a:xfrm>
          <a:prstGeom prst="ellipse">
            <a:avLst/>
          </a:prstGeom>
          <a:noFill/>
          <a:ln>
            <a:solidFill>
              <a:srgbClr val="9F6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9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2ACA-4C54-53CF-A6E5-B39A52DE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EF2592-3E08-826F-5D09-34405A2C7C2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EAFA5A-66CD-43DC-C902-048C7593F5EC}"/>
              </a:ext>
            </a:extLst>
          </p:cNvPr>
          <p:cNvSpPr txBox="1"/>
          <p:nvPr/>
        </p:nvSpPr>
        <p:spPr>
          <a:xfrm>
            <a:off x="271250" y="136525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“Invalid species” examples – HO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3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 and H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2</a:t>
            </a:r>
            <a:r>
              <a:rPr lang="en-US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O</a:t>
            </a:r>
            <a:r>
              <a:rPr lang="en-US" sz="2600" b="1" baseline="-2500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8F397AB-BF56-EC4B-7878-7389B848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8CF7D-2046-C245-B30D-A7832F828C2B}" type="slidenum">
              <a:rPr lang="en-US" smtClean="0"/>
              <a:t>4</a:t>
            </a:fld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EBC886C-D093-B815-5127-D6D2EDD40C7C}"/>
              </a:ext>
            </a:extLst>
          </p:cNvPr>
          <p:cNvSpPr/>
          <p:nvPr/>
        </p:nvSpPr>
        <p:spPr>
          <a:xfrm>
            <a:off x="418690" y="1444742"/>
            <a:ext cx="457200" cy="457200"/>
          </a:xfrm>
          <a:prstGeom prst="ellipse">
            <a:avLst/>
          </a:prstGeom>
          <a:solidFill>
            <a:srgbClr val="A5C7F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0AFD6A0-46F6-5E91-7B4F-8D86D4FAE8A5}"/>
              </a:ext>
            </a:extLst>
          </p:cNvPr>
          <p:cNvSpPr/>
          <p:nvPr/>
        </p:nvSpPr>
        <p:spPr>
          <a:xfrm>
            <a:off x="418690" y="2059344"/>
            <a:ext cx="457200" cy="457200"/>
          </a:xfrm>
          <a:prstGeom prst="ellipse">
            <a:avLst/>
          </a:prstGeom>
          <a:solidFill>
            <a:srgbClr val="FF4D4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541FFF7-382A-4682-1300-0F5E88986C96}"/>
              </a:ext>
            </a:extLst>
          </p:cNvPr>
          <p:cNvSpPr txBox="1"/>
          <p:nvPr/>
        </p:nvSpPr>
        <p:spPr>
          <a:xfrm>
            <a:off x="908110" y="148867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D8984CA-E65F-3115-0615-99CE0D111BD4}"/>
              </a:ext>
            </a:extLst>
          </p:cNvPr>
          <p:cNvSpPr txBox="1"/>
          <p:nvPr/>
        </p:nvSpPr>
        <p:spPr>
          <a:xfrm>
            <a:off x="908110" y="2103278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C51BC6-7A9A-27E0-B77F-6E7C6B4358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15" r="21625" b="20395"/>
          <a:stretch>
            <a:fillRect/>
          </a:stretch>
        </p:blipFill>
        <p:spPr>
          <a:xfrm>
            <a:off x="1919110" y="1114232"/>
            <a:ext cx="3488268" cy="5242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572232-F3B2-7AC4-8B1A-C18096E1CD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568" r="13695" b="13601"/>
          <a:stretch>
            <a:fillRect/>
          </a:stretch>
        </p:blipFill>
        <p:spPr>
          <a:xfrm>
            <a:off x="6185127" y="1105765"/>
            <a:ext cx="4323644" cy="5386642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66D9B5E-CAC7-DF31-7D2A-20F1E54EEB70}"/>
              </a:ext>
            </a:extLst>
          </p:cNvPr>
          <p:cNvSpPr/>
          <p:nvPr/>
        </p:nvSpPr>
        <p:spPr>
          <a:xfrm>
            <a:off x="8011222" y="3924001"/>
            <a:ext cx="2611622" cy="2576874"/>
          </a:xfrm>
          <a:prstGeom prst="ellipse">
            <a:avLst/>
          </a:prstGeom>
          <a:noFill/>
          <a:ln>
            <a:solidFill>
              <a:srgbClr val="9F6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A61A6E-CF75-A0CA-F187-9293EDDF4F99}"/>
              </a:ext>
            </a:extLst>
          </p:cNvPr>
          <p:cNvSpPr txBox="1"/>
          <p:nvPr/>
        </p:nvSpPr>
        <p:spPr>
          <a:xfrm>
            <a:off x="8576733" y="3057474"/>
            <a:ext cx="25312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An HO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radical – valid based on the valence rule but invalid as a combustion species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93D32A-75C7-9C1B-ABDE-D7C7004732E8}"/>
              </a:ext>
            </a:extLst>
          </p:cNvPr>
          <p:cNvSpPr txBox="1"/>
          <p:nvPr/>
        </p:nvSpPr>
        <p:spPr>
          <a:xfrm>
            <a:off x="2288282" y="1858008"/>
            <a:ext cx="27174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An H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5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 molecule – also valid based on the valence rule but invalid as a combustion species</a:t>
            </a:r>
            <a:endParaRPr lang="en-US" sz="1500" baseline="-25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4410B1-6152-C56F-5CBB-1D472675FAF0}"/>
              </a:ext>
            </a:extLst>
          </p:cNvPr>
          <p:cNvSpPr/>
          <p:nvPr/>
        </p:nvSpPr>
        <p:spPr>
          <a:xfrm>
            <a:off x="1569156" y="2770744"/>
            <a:ext cx="3982011" cy="3839806"/>
          </a:xfrm>
          <a:prstGeom prst="ellipse">
            <a:avLst/>
          </a:prstGeom>
          <a:noFill/>
          <a:ln>
            <a:solidFill>
              <a:srgbClr val="9F61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2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D7D607-A2E0-AB9A-6011-9FEDABB2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982388-7CE6-9E3F-9139-91F9769178D6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04AD157-B46C-1935-5286-A2C37C90727D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Problem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14D7A-B9C4-198B-4E99-9C91EE0AE7EF}"/>
                  </a:ext>
                </a:extLst>
              </p:cNvPr>
              <p:cNvSpPr txBox="1"/>
              <p:nvPr/>
            </p:nvSpPr>
            <p:spPr>
              <a:xfrm>
                <a:off x="271249" y="1041836"/>
                <a:ext cx="11243418" cy="1919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300"/>
                  </a:lnSpc>
                  <a:spcAft>
                    <a:spcPts val="250"/>
                  </a:spcAft>
                  <a:buFont typeface="Courier New" panose="02070309020205020404" pitchFamily="49" charset="0"/>
                  <a:buChar char="o"/>
                </a:pPr>
                <a:r>
                  <a:rPr lang="en-GB" sz="1600" noProof="0" dirty="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Problem:</a:t>
                </a:r>
                <a:r>
                  <a:rPr lang="en-GB" sz="1600" noProof="0" dirty="0">
                    <a:solidFill>
                      <a:srgbClr val="2E2C28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previous </a:t>
                </a:r>
                <a:r>
                  <a:rPr lang="en-GB" sz="1600" b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GNN–reinforcement learning architecture </a:t>
                </a: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generated long-chain hydroperoxyl species,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6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sSub>
                      <m:sSubPr>
                        <m:ctrlP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O</m:t>
                        </m:r>
                      </m:e>
                      <m:sub>
                        <m: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4</m:t>
                        </m:r>
                      </m:sub>
                    </m:sSub>
                    <m:r>
                      <a:rPr lang="en-GB" sz="16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GB" sz="16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sSub>
                      <m:sSubPr>
                        <m:ctrlP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O</m:t>
                        </m:r>
                      </m:e>
                      <m:sub>
                        <m: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sub>
                    </m:sSub>
                    <m:r>
                      <a:rPr lang="en-GB" sz="16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GB" sz="1600" noProof="0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H</m:t>
                    </m:r>
                    <m:sSub>
                      <m:sSubPr>
                        <m:ctrlP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O</m:t>
                        </m:r>
                      </m:e>
                      <m:sub>
                        <m:r>
                          <a:rPr lang="en-GB" sz="1600" noProof="0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etc., that are unlikely to occur under combustion conditions.</a:t>
                </a:r>
              </a:p>
              <a:p>
                <a:pPr marL="285750" indent="-285750">
                  <a:lnSpc>
                    <a:spcPts val="2300"/>
                  </a:lnSpc>
                  <a:spcAft>
                    <a:spcPts val="250"/>
                  </a:spcAft>
                  <a:buFont typeface="Courier New" panose="02070309020205020404" pitchFamily="49" charset="0"/>
                  <a:buChar char="o"/>
                </a:pPr>
                <a:r>
                  <a:rPr lang="en-GB" sz="1600" noProof="0" dirty="0">
                    <a:solidFill>
                      <a:srgbClr val="17803C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Proposed Solution: </a:t>
                </a: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Develop and train a mathematical penalty function that discourages the formation of unrealistically long carbon or hydroperoxyl chains.</a:t>
                </a:r>
              </a:p>
              <a:p>
                <a:pPr marL="285750" indent="-285750">
                  <a:lnSpc>
                    <a:spcPts val="2300"/>
                  </a:lnSpc>
                  <a:spcAft>
                    <a:spcPts val="250"/>
                  </a:spcAft>
                  <a:buFont typeface="Courier New" panose="02070309020205020404" pitchFamily="49" charset="0"/>
                  <a:buChar char="o"/>
                </a:pPr>
                <a:r>
                  <a:rPr lang="en-GB" sz="1600" noProof="0" dirty="0">
                    <a:solidFill>
                      <a:srgbClr val="0057D9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Challenge: </a:t>
                </a: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Existing, providing limited guidance for identifying or penalizing implausible hydroperoxyl chain. combustion kinetic models contain only known species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9814D7A-B9C4-198B-4E99-9C91EE0AE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249" y="1041836"/>
                <a:ext cx="11243418" cy="1919436"/>
              </a:xfrm>
              <a:prstGeom prst="rect">
                <a:avLst/>
              </a:prstGeom>
              <a:blipFill>
                <a:blip r:embed="rId3"/>
                <a:stretch>
                  <a:fillRect l="-226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D66A698-34D7-F44B-2773-5A552365E4F2}"/>
              </a:ext>
            </a:extLst>
          </p:cNvPr>
          <p:cNvGrpSpPr/>
          <p:nvPr/>
        </p:nvGrpSpPr>
        <p:grpSpPr>
          <a:xfrm>
            <a:off x="8210144" y="3389695"/>
            <a:ext cx="3304523" cy="2868505"/>
            <a:chOff x="6389810" y="3269828"/>
            <a:chExt cx="3304523" cy="286850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B0E61D67-359D-B6CB-6265-3F11A6B3B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59" t="23423" r="14477" b="16043"/>
            <a:stretch>
              <a:fillRect/>
            </a:stretch>
          </p:blipFill>
          <p:spPr>
            <a:xfrm>
              <a:off x="6852087" y="3799475"/>
              <a:ext cx="2481386" cy="2192294"/>
            </a:xfrm>
            <a:prstGeom prst="rect">
              <a:avLst/>
            </a:prstGeom>
          </p:spPr>
        </p:pic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E48259D1-CE6F-334A-2FA0-4BD2D9308707}"/>
                </a:ext>
              </a:extLst>
            </p:cNvPr>
            <p:cNvSpPr/>
            <p:nvPr/>
          </p:nvSpPr>
          <p:spPr>
            <a:xfrm>
              <a:off x="6389810" y="3269828"/>
              <a:ext cx="3304523" cy="2868505"/>
            </a:xfrm>
            <a:prstGeom prst="roundRect">
              <a:avLst>
                <a:gd name="adj" fmla="val 12438"/>
              </a:avLst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166971-0B9E-908D-A602-57D288847D95}"/>
                </a:ext>
              </a:extLst>
            </p:cNvPr>
            <p:cNvSpPr txBox="1"/>
            <p:nvPr/>
          </p:nvSpPr>
          <p:spPr>
            <a:xfrm>
              <a:off x="7286144" y="3422339"/>
              <a:ext cx="17409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i="1" noProof="0" dirty="0"/>
                <a:t>GNN architecture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6873C6B-4F83-6876-A340-52512EB8B573}"/>
              </a:ext>
            </a:extLst>
          </p:cNvPr>
          <p:cNvGrpSpPr/>
          <p:nvPr/>
        </p:nvGrpSpPr>
        <p:grpSpPr>
          <a:xfrm>
            <a:off x="409818" y="3389695"/>
            <a:ext cx="3425581" cy="2861733"/>
            <a:chOff x="409818" y="3505200"/>
            <a:chExt cx="3425581" cy="2861733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C03E4EA-E6E7-5567-01D3-A83DB3B96E5A}"/>
                </a:ext>
              </a:extLst>
            </p:cNvPr>
            <p:cNvGrpSpPr/>
            <p:nvPr/>
          </p:nvGrpSpPr>
          <p:grpSpPr>
            <a:xfrm>
              <a:off x="409818" y="3505200"/>
              <a:ext cx="3425581" cy="2861733"/>
              <a:chOff x="333618" y="3784599"/>
              <a:chExt cx="3425581" cy="2861733"/>
            </a:xfrm>
          </p:grpSpPr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3663DC0-8D0D-0A7B-8323-7585EAEAE9B0}"/>
                  </a:ext>
                </a:extLst>
              </p:cNvPr>
              <p:cNvSpPr/>
              <p:nvPr/>
            </p:nvSpPr>
            <p:spPr>
              <a:xfrm>
                <a:off x="333618" y="3784599"/>
                <a:ext cx="3425581" cy="2861733"/>
              </a:xfrm>
              <a:prstGeom prst="roundRect">
                <a:avLst>
                  <a:gd name="adj" fmla="val 12438"/>
                </a:avLst>
              </a:prstGeom>
              <a:noFill/>
              <a:ln w="28575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43A0897-D784-66BC-8BDF-7F4888F2A376}"/>
                  </a:ext>
                </a:extLst>
              </p:cNvPr>
              <p:cNvSpPr txBox="1"/>
              <p:nvPr/>
            </p:nvSpPr>
            <p:spPr>
              <a:xfrm>
                <a:off x="597927" y="3906768"/>
                <a:ext cx="2438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i="1" noProof="0" dirty="0"/>
                  <a:t>Existing kinetic models</a:t>
                </a:r>
              </a:p>
            </p:txBody>
          </p:sp>
        </p:grp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8FFDD3B-D8C9-013F-27AC-A8A461F9F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4133" y="4026928"/>
              <a:ext cx="1419194" cy="1916039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6421D43E-37E8-6546-64DD-6FB97E19F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22608" y="4026928"/>
              <a:ext cx="1430547" cy="1931367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6EBC00B-4A23-A6AD-BD08-18E6FEAC4008}"/>
                </a:ext>
              </a:extLst>
            </p:cNvPr>
            <p:cNvSpPr txBox="1"/>
            <p:nvPr/>
          </p:nvSpPr>
          <p:spPr>
            <a:xfrm>
              <a:off x="1693333" y="5958295"/>
              <a:ext cx="6142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noProof="0" dirty="0"/>
                <a:t>.  .  . </a:t>
              </a:r>
            </a:p>
          </p:txBody>
        </p:sp>
      </p:grpSp>
      <p:sp>
        <p:nvSpPr>
          <p:cNvPr id="63" name="Slide Number Placeholder 15">
            <a:extLst>
              <a:ext uri="{FF2B5EF4-FFF2-40B4-BE49-F238E27FC236}">
                <a16:creationId xmlns:a16="http://schemas.microsoft.com/office/drawing/2014/main" id="{E5DE2D79-28F0-9223-AC27-63AA664B4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noProof="0" dirty="0"/>
              <a:t>5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B2A0245-B682-2040-47F3-842A919AFF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9797" y="4307400"/>
            <a:ext cx="1026322" cy="1026322"/>
          </a:xfrm>
          <a:prstGeom prst="rect">
            <a:avLst/>
          </a:prstGeom>
        </p:spPr>
      </p:pic>
      <p:sp>
        <p:nvSpPr>
          <p:cNvPr id="85" name="Right Arrow 84">
            <a:extLst>
              <a:ext uri="{FF2B5EF4-FFF2-40B4-BE49-F238E27FC236}">
                <a16:creationId xmlns:a16="http://schemas.microsoft.com/office/drawing/2014/main" id="{DDBE0C12-1600-C9AE-7BB5-579085355A46}"/>
              </a:ext>
            </a:extLst>
          </p:cNvPr>
          <p:cNvSpPr/>
          <p:nvPr/>
        </p:nvSpPr>
        <p:spPr>
          <a:xfrm>
            <a:off x="4058482" y="4642258"/>
            <a:ext cx="10982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6" name="Right Arrow 85">
            <a:extLst>
              <a:ext uri="{FF2B5EF4-FFF2-40B4-BE49-F238E27FC236}">
                <a16:creationId xmlns:a16="http://schemas.microsoft.com/office/drawing/2014/main" id="{E48F1126-23E1-3775-6364-4B7F38DDD774}"/>
              </a:ext>
            </a:extLst>
          </p:cNvPr>
          <p:cNvSpPr/>
          <p:nvPr/>
        </p:nvSpPr>
        <p:spPr>
          <a:xfrm>
            <a:off x="6759015" y="4698803"/>
            <a:ext cx="1098232" cy="356605"/>
          </a:xfrm>
          <a:prstGeom prst="rightArrow">
            <a:avLst>
              <a:gd name="adj1" fmla="val 62160"/>
              <a:gd name="adj2" fmla="val 55164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4DC540D-3807-6AFF-B101-979D95202E7B}"/>
              </a:ext>
            </a:extLst>
          </p:cNvPr>
          <p:cNvSpPr txBox="1"/>
          <p:nvPr/>
        </p:nvSpPr>
        <p:spPr>
          <a:xfrm>
            <a:off x="4188296" y="4261233"/>
            <a:ext cx="7586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i="1" noProof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E5CDC20-900A-D2B3-EC88-4A4745B517F3}"/>
              </a:ext>
            </a:extLst>
          </p:cNvPr>
          <p:cNvSpPr txBox="1"/>
          <p:nvPr/>
        </p:nvSpPr>
        <p:spPr>
          <a:xfrm>
            <a:off x="6838951" y="4307400"/>
            <a:ext cx="8892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b="1" i="1" noProof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Penalize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51968996-548B-A52C-F743-C6631B479A9B}"/>
                  </a:ext>
                </a:extLst>
              </p:cNvPr>
              <p:cNvSpPr/>
              <p:nvPr/>
            </p:nvSpPr>
            <p:spPr>
              <a:xfrm>
                <a:off x="5397820" y="5442681"/>
                <a:ext cx="1073197" cy="584775"/>
              </a:xfrm>
              <a:prstGeom prst="roundRect">
                <a:avLst/>
              </a:prstGeom>
              <a:solidFill>
                <a:srgbClr val="7030A0">
                  <a:alpha val="63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𝑓𝑢𝑛𝑐𝑡𝑖𝑜𝑛</m:t>
                      </m:r>
                    </m:oMath>
                  </m:oMathPara>
                </a14:m>
                <a:endParaRPr lang="en-GB" noProof="0" dirty="0"/>
              </a:p>
            </p:txBody>
          </p:sp>
        </mc:Choice>
        <mc:Fallback xmlns=""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51968996-548B-A52C-F743-C6631B479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820" y="5442681"/>
                <a:ext cx="1073197" cy="584775"/>
              </a:xfrm>
              <a:prstGeom prst="roundRect">
                <a:avLst/>
              </a:prstGeom>
              <a:blipFill>
                <a:blip r:embed="rId8"/>
                <a:stretch>
                  <a:fillRect l="-45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83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AFCBA-698C-38C8-63D0-BC7380B3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724F00-0AFF-E580-E233-412050590502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C37B95A-00BE-A934-C398-8DFC29AFF752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Approach: a simplified mathematical model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F68807B-4229-DF2A-4EA2-823E352D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7A7967-061D-7DAE-DF30-023CBB14C76A}"/>
                  </a:ext>
                </a:extLst>
              </p:cNvPr>
              <p:cNvSpPr txBox="1"/>
              <p:nvPr/>
            </p:nvSpPr>
            <p:spPr>
              <a:xfrm>
                <a:off x="370644" y="1217201"/>
                <a:ext cx="11348392" cy="1662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ts val="2300"/>
                  </a:lnSpc>
                  <a:spcAft>
                    <a:spcPts val="250"/>
                  </a:spcAft>
                  <a:buFont typeface="Courier New" panose="02070309020205020404" pitchFamily="49" charset="0"/>
                  <a:buChar char="o"/>
                </a:pP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Bonds connecting the same pair of atom types with the same bond order are treated as equivalent, regardless of their position in the molecule. For example, a terminal C–C bond in </a:t>
                </a:r>
                <a:r>
                  <a:rPr lang="en-GB" sz="16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-dodecane is considered equivalent to a C–C bond near the </a:t>
                </a:r>
                <a:r>
                  <a:rPr lang="en-GB" sz="1600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center</a:t>
                </a: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of the chain.</a:t>
                </a:r>
              </a:p>
              <a:p>
                <a:pPr marL="285750" indent="-285750">
                  <a:lnSpc>
                    <a:spcPts val="2300"/>
                  </a:lnSpc>
                  <a:spcAft>
                    <a:spcPts val="250"/>
                  </a:spcAft>
                  <a:buFont typeface="Courier New" panose="02070309020205020404" pitchFamily="49" charset="0"/>
                  <a:buChar char="o"/>
                </a:pP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molecule survival probability is the product of the probabilities that each bond does not break.</a:t>
                </a:r>
              </a:p>
              <a:p>
                <a:pPr marL="742950" lvl="1" indent="-285750">
                  <a:lnSpc>
                    <a:spcPts val="2300"/>
                  </a:lnSpc>
                  <a:spcAft>
                    <a:spcPts val="250"/>
                  </a:spcAft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𝑚𝑜𝑙𝑒𝑐𝑢𝑙𝑒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𝑠𝑢𝑟𝑣𝑖𝑣𝑒</m:t>
                        </m:r>
                      </m:sub>
                    </m:sSub>
                    <m:r>
                      <a:rPr lang="en-GB" sz="1600" b="0" i="1" noProof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limLoc m:val="undOvr"/>
                        <m:supHide m:val="on"/>
                        <m:ctrlPr>
                          <a:rPr lang="en-GB" sz="1600" b="0" i="1" noProof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1600" b="0" i="1" noProof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GB" sz="16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noProof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  <m:t>𝑏𝑜𝑛𝑑</m:t>
                                </m:r>
                                <m: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  <m:t>𝑏𝑟𝑒𝑎𝑘𝑖𝑛𝑔</m:t>
                                </m:r>
                                <m: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GB" sz="1600" b="0" i="1" noProof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GB" sz="1600" b="0" i="1" noProof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sz="1600" b="0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indent="-285750">
                  <a:lnSpc>
                    <a:spcPts val="2300"/>
                  </a:lnSpc>
                  <a:spcAft>
                    <a:spcPts val="250"/>
                  </a:spcAft>
                  <a:buFont typeface="Courier New" panose="02070309020205020404" pitchFamily="49" charset="0"/>
                  <a:buChar char="o"/>
                </a:pPr>
                <a:r>
                  <a:rPr lang="en-GB" sz="1600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bond dissociation energy can be mapped to bond breaking probability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7A7967-061D-7DAE-DF30-023CBB14C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44" y="1217201"/>
                <a:ext cx="11348392" cy="1662956"/>
              </a:xfrm>
              <a:prstGeom prst="rect">
                <a:avLst/>
              </a:prstGeom>
              <a:blipFill>
                <a:blip r:embed="rId3"/>
                <a:stretch>
                  <a:fillRect l="-224" b="-16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E9CABB8F-5688-7210-E779-6BE273669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14" y="2880157"/>
            <a:ext cx="6169574" cy="382339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CAA85C-06C0-70A0-9BEC-9B4C3D135EA7}"/>
              </a:ext>
            </a:extLst>
          </p:cNvPr>
          <p:cNvSpPr txBox="1"/>
          <p:nvPr/>
        </p:nvSpPr>
        <p:spPr>
          <a:xfrm>
            <a:off x="349624" y="861445"/>
            <a:ext cx="6099586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250"/>
              </a:spcAft>
            </a:pPr>
            <a:r>
              <a:rPr lang="en-GB" sz="2000" b="1" i="1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Assumptions:</a:t>
            </a:r>
            <a:endParaRPr lang="en-GB" sz="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9DF340-3232-F6E1-0BCC-6E2C02278D59}"/>
              </a:ext>
            </a:extLst>
          </p:cNvPr>
          <p:cNvSpPr txBox="1"/>
          <p:nvPr/>
        </p:nvSpPr>
        <p:spPr>
          <a:xfrm>
            <a:off x="7115504" y="4163022"/>
            <a:ext cx="460353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noProof="0" dirty="0">
                <a:latin typeface="Calibri" panose="020F0502020204030204" pitchFamily="34" charset="0"/>
                <a:cs typeface="Calibri" panose="020F0502020204030204" pitchFamily="34" charset="0"/>
              </a:rPr>
              <a:t>Schematic for the mapping bond dissociation energy (B.D.E) to the probability of single bond breaking: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i="1" noProof="0" dirty="0">
                <a:latin typeface="Calibri" panose="020F0502020204030204" pitchFamily="34" charset="0"/>
                <a:cs typeface="Calibri" panose="020F0502020204030204" pitchFamily="34" charset="0"/>
              </a:rPr>
              <a:t>As B.D.E. increases, the probability of single bond breaking drops.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i="1" noProof="0" dirty="0">
                <a:latin typeface="Calibri" panose="020F0502020204030204" pitchFamily="34" charset="0"/>
                <a:cs typeface="Calibri" panose="020F0502020204030204" pitchFamily="34" charset="0"/>
              </a:rPr>
              <a:t>For low B.D.E., the probability should close to 1.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1600" i="1" noProof="0" dirty="0">
                <a:latin typeface="Calibri" panose="020F0502020204030204" pitchFamily="34" charset="0"/>
                <a:cs typeface="Calibri" panose="020F0502020204030204" pitchFamily="34" charset="0"/>
              </a:rPr>
              <a:t>For high B.D.E., the probability should close to 0.</a:t>
            </a:r>
            <a:endParaRPr lang="en-GB" i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026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70B2-7B05-C61F-1D66-207B36F1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663772-0AAC-8884-EA1E-802CD72ECBC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4A3C488-FBD4-97C9-3D1F-D04CFADB8BD5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Mathematical model: available mathematical </a:t>
            </a:r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t</a:t>
            </a:r>
            <a:r>
              <a:rPr lang="en-GB" sz="2600" b="1" noProof="0" dirty="0" err="1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ools</a:t>
            </a:r>
            <a:endParaRPr lang="en-GB" sz="26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9CFAA1A3-A458-0C86-7205-F817D334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15840-A2FE-6F71-6617-54C2DA795ADF}"/>
              </a:ext>
            </a:extLst>
          </p:cNvPr>
          <p:cNvSpPr txBox="1"/>
          <p:nvPr/>
        </p:nvSpPr>
        <p:spPr>
          <a:xfrm>
            <a:off x="373230" y="1162660"/>
            <a:ext cx="3340249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250"/>
              </a:spcAft>
            </a:pPr>
            <a:r>
              <a:rPr lang="en-GB" sz="2000" b="1" i="1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Eq. 1: Arrhenius-like Equation</a:t>
            </a:r>
            <a:endParaRPr lang="en-GB" sz="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2B9C6A-D070-1FFD-8F59-E4B79CFE660A}"/>
              </a:ext>
            </a:extLst>
          </p:cNvPr>
          <p:cNvSpPr txBox="1"/>
          <p:nvPr/>
        </p:nvSpPr>
        <p:spPr>
          <a:xfrm>
            <a:off x="6160190" y="1162660"/>
            <a:ext cx="3340249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250"/>
              </a:spcAft>
            </a:pPr>
            <a:r>
              <a:rPr lang="en-GB" sz="2000" b="1" i="1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Eq. 2: Sigmoid Function</a:t>
            </a:r>
            <a:endParaRPr lang="en-GB" sz="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D21217-0849-FBA5-6877-EA3690C21783}"/>
                  </a:ext>
                </a:extLst>
              </p:cNvPr>
              <p:cNvSpPr txBox="1"/>
              <p:nvPr/>
            </p:nvSpPr>
            <p:spPr>
              <a:xfrm>
                <a:off x="1042193" y="2006301"/>
                <a:ext cx="2345129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300" b="0" i="1" noProof="0" smtClean="0">
                          <a:latin typeface="Cambria Math" panose="02040503050406030204" pitchFamily="18" charset="0"/>
                        </a:rPr>
                        <m:t>𝐴𝑟𝑟</m:t>
                      </m:r>
                      <m:r>
                        <a:rPr lang="en-GB" sz="23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3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sty m:val="p"/>
                                </m:rP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sub>
                          </m:sSub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lang="en-GB" sz="2300" noProof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D21217-0849-FBA5-6877-EA3690C21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193" y="2006301"/>
                <a:ext cx="2345129" cy="370614"/>
              </a:xfrm>
              <a:prstGeom prst="rect">
                <a:avLst/>
              </a:prstGeom>
              <a:blipFill>
                <a:blip r:embed="rId3"/>
                <a:stretch>
                  <a:fillRect l="-3243" t="-3226" r="-2162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398D50-5EF7-C630-7E8F-18BD9147EBC4}"/>
                  </a:ext>
                </a:extLst>
              </p:cNvPr>
              <p:cNvSpPr txBox="1"/>
              <p:nvPr/>
            </p:nvSpPr>
            <p:spPr>
              <a:xfrm>
                <a:off x="6397214" y="1859401"/>
                <a:ext cx="1979453" cy="670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300" b="0" i="1" noProof="0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3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3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2300" b="0" i="1" noProof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300" noProof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398D50-5EF7-C630-7E8F-18BD9147E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214" y="1859401"/>
                <a:ext cx="1979453" cy="670825"/>
              </a:xfrm>
              <a:prstGeom prst="rect">
                <a:avLst/>
              </a:prstGeom>
              <a:blipFill>
                <a:blip r:embed="rId4"/>
                <a:stretch>
                  <a:fillRect l="-1274" t="-1852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96910194-1D02-1D07-EE0E-2779B4B998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294"/>
          <a:stretch>
            <a:fillRect/>
          </a:stretch>
        </p:blipFill>
        <p:spPr>
          <a:xfrm>
            <a:off x="6139409" y="2780807"/>
            <a:ext cx="5525546" cy="33818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EF85C5-6714-B607-6FFB-EE1CD1949DF6}"/>
              </a:ext>
            </a:extLst>
          </p:cNvPr>
          <p:cNvSpPr txBox="1"/>
          <p:nvPr/>
        </p:nvSpPr>
        <p:spPr>
          <a:xfrm>
            <a:off x="815386" y="6187073"/>
            <a:ext cx="4299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 noProof="0" dirty="0">
                <a:latin typeface="Calibri" panose="020F0502020204030204" pitchFamily="34" charset="0"/>
                <a:cs typeface="Calibri" panose="020F0502020204030204" pitchFamily="34" charset="0"/>
              </a:rPr>
              <a:t>As bond dissociation energy increase, the Arr term drops.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3E05597-6CCA-7B0C-5612-B267523D4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78" y="2761897"/>
            <a:ext cx="5509143" cy="3303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873ADE-4339-5FF1-51FC-83F5046AF6F1}"/>
                  </a:ext>
                </a:extLst>
              </p:cNvPr>
              <p:cNvSpPr txBox="1"/>
              <p:nvPr/>
            </p:nvSpPr>
            <p:spPr>
              <a:xfrm>
                <a:off x="6631194" y="6187073"/>
                <a:ext cx="42995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4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Sigmoid function maps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−∞, </m:t>
                        </m:r>
                        <m:r>
                          <a:rPr lang="en-GB" sz="1400" b="0" i="1" noProof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lang="en-GB" sz="14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GB" sz="1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GB" sz="1400" b="0" i="1" noProof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GB" sz="14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noProof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GB" sz="1400" i="1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873ADE-4339-5FF1-51FC-83F5046AF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194" y="6187073"/>
                <a:ext cx="4299565" cy="307777"/>
              </a:xfrm>
              <a:prstGeom prst="rect">
                <a:avLst/>
              </a:prstGeom>
              <a:blipFill>
                <a:blip r:embed="rId7"/>
                <a:stretch>
                  <a:fillRect l="-59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6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F940-2B5A-4898-C15C-12D19110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F19CBF-6E4A-AD08-A7AA-8FBCD28F923B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22CDF31-FDC9-2615-88B2-97BD9727C3A2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Mathematical model: final form</a:t>
            </a:r>
            <a:endParaRPr lang="en-GB" sz="2600" b="1" noProof="0" dirty="0">
              <a:solidFill>
                <a:srgbClr val="2E2C28"/>
              </a:solidFill>
              <a:latin typeface="Garamond" panose="02020404030301010803" pitchFamily="18" charset="0"/>
              <a:cs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408F71B-A3C3-1E1D-1BB3-DE10211A9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8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4B5BDF9-5955-01E4-71A2-6743AC063A54}"/>
              </a:ext>
            </a:extLst>
          </p:cNvPr>
          <p:cNvGrpSpPr/>
          <p:nvPr/>
        </p:nvGrpSpPr>
        <p:grpSpPr>
          <a:xfrm>
            <a:off x="1013469" y="1771319"/>
            <a:ext cx="10797683" cy="4767593"/>
            <a:chOff x="536814" y="1953882"/>
            <a:chExt cx="10797683" cy="476759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B164F5D-56C0-D377-2E62-5AA0417BF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814" y="1953882"/>
              <a:ext cx="9710765" cy="4767593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906CFA8-BF20-DC32-41B1-FEA8A04EB607}"/>
                </a:ext>
              </a:extLst>
            </p:cNvPr>
            <p:cNvSpPr/>
            <p:nvPr/>
          </p:nvSpPr>
          <p:spPr>
            <a:xfrm>
              <a:off x="2538805" y="4410635"/>
              <a:ext cx="236668" cy="268941"/>
            </a:xfrm>
            <a:prstGeom prst="ellipse">
              <a:avLst/>
            </a:prstGeom>
            <a:noFill/>
            <a:ln w="317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70CA6C3-D443-BF2B-F5FB-2DFD9D540F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75473" y="4077148"/>
              <a:ext cx="1344706" cy="419548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67E4D5B-E621-F99F-0819-812F968EC24C}"/>
                </a:ext>
              </a:extLst>
            </p:cNvPr>
            <p:cNvSpPr txBox="1"/>
            <p:nvPr/>
          </p:nvSpPr>
          <p:spPr>
            <a:xfrm>
              <a:off x="4120179" y="3683734"/>
              <a:ext cx="271687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i="1" noProof="0" dirty="0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probability for O-O bond breaking is much higher.</a:t>
              </a:r>
              <a:endParaRPr lang="en-GB" i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D6257B29-E335-2241-0C58-4683BF0526BE}"/>
                </a:ext>
              </a:extLst>
            </p:cNvPr>
            <p:cNvSpPr/>
            <p:nvPr/>
          </p:nvSpPr>
          <p:spPr>
            <a:xfrm>
              <a:off x="4309357" y="5457221"/>
              <a:ext cx="797663" cy="580052"/>
            </a:xfrm>
            <a:prstGeom prst="roundRect">
              <a:avLst/>
            </a:prstGeom>
            <a:noFill/>
            <a:ln w="31750">
              <a:solidFill>
                <a:srgbClr val="0057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D7CACF1-C82A-13DF-3A5D-A19E6586E940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4683874" y="5145828"/>
              <a:ext cx="24315" cy="311393"/>
            </a:xfrm>
            <a:prstGeom prst="straightConnector1">
              <a:avLst/>
            </a:prstGeom>
            <a:ln>
              <a:solidFill>
                <a:srgbClr val="0057D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FB767D-CB84-4B89-3284-ADAFB36C6F58}"/>
                </a:ext>
              </a:extLst>
            </p:cNvPr>
            <p:cNvSpPr txBox="1"/>
            <p:nvPr/>
          </p:nvSpPr>
          <p:spPr>
            <a:xfrm>
              <a:off x="3582579" y="4565891"/>
              <a:ext cx="400772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i="1" noProof="0" dirty="0">
                  <a:solidFill>
                    <a:srgbClr val="0057D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Lower bond breaking probability compared with skeletal bonds </a:t>
              </a:r>
              <a:r>
                <a:rPr lang="en-GB" sz="1200" i="1" noProof="0" dirty="0">
                  <a:solidFill>
                    <a:srgbClr val="0057D9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(Assumption II)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7D4C630D-D109-2E4C-6962-460EC26C5E3A}"/>
                </a:ext>
              </a:extLst>
            </p:cNvPr>
            <p:cNvSpPr/>
            <p:nvPr/>
          </p:nvSpPr>
          <p:spPr>
            <a:xfrm>
              <a:off x="6692630" y="5476677"/>
              <a:ext cx="2960565" cy="645342"/>
            </a:xfrm>
            <a:prstGeom prst="roundRect">
              <a:avLst/>
            </a:prstGeom>
            <a:noFill/>
            <a:ln w="31750">
              <a:solidFill>
                <a:srgbClr val="17803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C12883B-03AA-30D3-78EC-DA4B5F4DB3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0962" y="5058383"/>
              <a:ext cx="192970" cy="418294"/>
            </a:xfrm>
            <a:prstGeom prst="straightConnector1">
              <a:avLst/>
            </a:prstGeom>
            <a:ln>
              <a:solidFill>
                <a:srgbClr val="17803C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D7E259D-446E-AEEC-A5E6-AC8478A8D02A}"/>
                </a:ext>
              </a:extLst>
            </p:cNvPr>
            <p:cNvSpPr txBox="1"/>
            <p:nvPr/>
          </p:nvSpPr>
          <p:spPr>
            <a:xfrm>
              <a:off x="8373932" y="4560545"/>
              <a:ext cx="296056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600" i="1" noProof="0" dirty="0">
                  <a:solidFill>
                    <a:srgbClr val="17803C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Very unlike to break but are constrained by valence rule. </a:t>
              </a:r>
              <a:endParaRPr lang="en-GB" i="1" noProof="0" dirty="0">
                <a:solidFill>
                  <a:srgbClr val="17803C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2E59B9-B076-A3E4-BFC3-FCCDB905F44B}"/>
                  </a:ext>
                </a:extLst>
              </p:cNvPr>
              <p:cNvSpPr txBox="1"/>
              <p:nvPr/>
            </p:nvSpPr>
            <p:spPr>
              <a:xfrm>
                <a:off x="3383281" y="963574"/>
                <a:ext cx="4017830" cy="889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8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GB" sz="2800" b="0" i="0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sz="2800" b="0" i="1" noProof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GB" sz="2800" b="0" i="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8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i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800" i="0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280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GB" sz="28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8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GB" sz="28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2800" b="0" i="1" noProof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GB" sz="28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8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sub>
                                  </m:sSub>
                                  <m:r>
                                    <a:rPr lang="en-GB" sz="2800" b="0" i="1" noProof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GB" sz="28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</m:oMath>
                  </m:oMathPara>
                </a14:m>
                <a:endParaRPr lang="en-GB" sz="28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2E59B9-B076-A3E4-BFC3-FCCDB905F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1" y="963574"/>
                <a:ext cx="4017830" cy="889282"/>
              </a:xfrm>
              <a:prstGeom prst="rect">
                <a:avLst/>
              </a:prstGeom>
              <a:blipFill>
                <a:blip r:embed="rId4"/>
                <a:stretch>
                  <a:fillRect l="-1577" t="-1408" r="-631" b="-12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ECFFD4C-29DC-DE5D-B10D-EB0515839CEB}"/>
              </a:ext>
            </a:extLst>
          </p:cNvPr>
          <p:cNvSpPr txBox="1"/>
          <p:nvPr/>
        </p:nvSpPr>
        <p:spPr>
          <a:xfrm>
            <a:off x="4264322" y="2086484"/>
            <a:ext cx="418236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GB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Schematic demonstration of the function</a:t>
            </a:r>
          </a:p>
        </p:txBody>
      </p:sp>
    </p:spTree>
    <p:extLst>
      <p:ext uri="{BB962C8B-B14F-4D97-AF65-F5344CB8AC3E}">
        <p14:creationId xmlns:p14="http://schemas.microsoft.com/office/powerpoint/2010/main" val="509727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1BFB0-40E5-020C-6394-E45B552D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C5AB67-8836-E9FE-2710-C3246674B89A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CDDFBA1-30F8-F962-D75E-711EE7E5EAFA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Fitting/Adjustable parameters (graphlet information)  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B7CEDC7-877E-618E-AD03-C8A847FBC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9B5E94-2F6F-D565-1880-DE98DC30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289" y="1853969"/>
            <a:ext cx="2949966" cy="26080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A3AD6A-FDFA-2EE9-EBC6-5086AE80676C}"/>
              </a:ext>
            </a:extLst>
          </p:cNvPr>
          <p:cNvSpPr txBox="1"/>
          <p:nvPr/>
        </p:nvSpPr>
        <p:spPr>
          <a:xfrm>
            <a:off x="2172677" y="4524252"/>
            <a:ext cx="12426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TC3H6OCHO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9FAEB9-0734-9F44-7119-2791CC3C5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771" y="1930261"/>
            <a:ext cx="3312258" cy="1068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9ABE2E-4980-D24C-304A-315ABFF6CF94}"/>
              </a:ext>
            </a:extLst>
          </p:cNvPr>
          <p:cNvSpPr txBox="1"/>
          <p:nvPr/>
        </p:nvSpPr>
        <p:spPr>
          <a:xfrm>
            <a:off x="7182624" y="3084963"/>
            <a:ext cx="8538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hexanal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6E9E03C-1434-5156-8AED-FC4A162DDA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909" y="3498152"/>
            <a:ext cx="2746129" cy="127619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AAF8B05-7511-58D0-5D72-9D93219707B4}"/>
              </a:ext>
            </a:extLst>
          </p:cNvPr>
          <p:cNvSpPr txBox="1"/>
          <p:nvPr/>
        </p:nvSpPr>
        <p:spPr>
          <a:xfrm>
            <a:off x="1831071" y="5556431"/>
            <a:ext cx="2193852" cy="83099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Graphlet feature:</a:t>
            </a:r>
          </a:p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	C-C	3</a:t>
            </a:r>
          </a:p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	C=O	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248888-4649-4C24-474F-714ACE80E2AB}"/>
              </a:ext>
            </a:extLst>
          </p:cNvPr>
          <p:cNvSpPr txBox="1"/>
          <p:nvPr/>
        </p:nvSpPr>
        <p:spPr>
          <a:xfrm>
            <a:off x="9745156" y="3069374"/>
            <a:ext cx="2145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noProof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 degeneracies since they share same </a:t>
            </a:r>
            <a:r>
              <a:rPr lang="en-GB" sz="1600" b="1" i="1" noProof="0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graphlet features</a:t>
            </a:r>
            <a:endParaRPr lang="en-GB" sz="1600" b="1" i="1" noProof="0" dirty="0">
              <a:solidFill>
                <a:srgbClr val="7030A0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1891CE6-FA63-0BAC-C903-38E1C5559D50}"/>
              </a:ext>
            </a:extLst>
          </p:cNvPr>
          <p:cNvSpPr/>
          <p:nvPr/>
        </p:nvSpPr>
        <p:spPr>
          <a:xfrm>
            <a:off x="5895771" y="1773685"/>
            <a:ext cx="3304523" cy="3444180"/>
          </a:xfrm>
          <a:prstGeom prst="roundRect">
            <a:avLst>
              <a:gd name="adj" fmla="val 12438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2-hexanone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D5D01-84E2-E5B2-CD0F-542A8C8225BE}"/>
              </a:ext>
            </a:extLst>
          </p:cNvPr>
          <p:cNvSpPr txBox="1"/>
          <p:nvPr/>
        </p:nvSpPr>
        <p:spPr>
          <a:xfrm>
            <a:off x="7000392" y="4754130"/>
            <a:ext cx="12182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2-hexanone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67D1B57-3A36-26FB-9441-8BC3D9E26FA7}"/>
              </a:ext>
            </a:extLst>
          </p:cNvPr>
          <p:cNvSpPr/>
          <p:nvPr/>
        </p:nvSpPr>
        <p:spPr>
          <a:xfrm>
            <a:off x="1522859" y="1853969"/>
            <a:ext cx="2949967" cy="3179135"/>
          </a:xfrm>
          <a:prstGeom prst="roundRect">
            <a:avLst>
              <a:gd name="adj" fmla="val 12438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1B510F-F447-DDD8-1EAF-8C410E2F0243}"/>
              </a:ext>
            </a:extLst>
          </p:cNvPr>
          <p:cNvSpPr txBox="1"/>
          <p:nvPr/>
        </p:nvSpPr>
        <p:spPr>
          <a:xfrm>
            <a:off x="6600047" y="5496272"/>
            <a:ext cx="2193852" cy="83099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Graphlet feature:</a:t>
            </a:r>
          </a:p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	C-C	5</a:t>
            </a:r>
          </a:p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	C=O	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A4DDBE0-5F06-6FB0-B98A-BE1A02E69643}"/>
              </a:ext>
            </a:extLst>
          </p:cNvPr>
          <p:cNvSpPr txBox="1"/>
          <p:nvPr/>
        </p:nvSpPr>
        <p:spPr>
          <a:xfrm>
            <a:off x="6600047" y="1376212"/>
            <a:ext cx="25016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GB" sz="1600" baseline="-25000" noProof="0" dirty="0">
                <a:latin typeface="Calibri" panose="020F0502020204030204" pitchFamily="34" charset="0"/>
                <a:cs typeface="Calibri" panose="020F0502020204030204" pitchFamily="34" charset="0"/>
              </a:rPr>
              <a:t>6</a:t>
            </a: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GB" sz="1600" baseline="-25000" noProof="0" dirty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O degeneracy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52A6AB-D837-CD27-F743-9989308EB134}"/>
              </a:ext>
            </a:extLst>
          </p:cNvPr>
          <p:cNvSpPr txBox="1"/>
          <p:nvPr/>
        </p:nvSpPr>
        <p:spPr>
          <a:xfrm>
            <a:off x="2110154" y="1376212"/>
            <a:ext cx="21570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GB" sz="1600" baseline="-25000" noProof="0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GB" sz="1600" baseline="-25000" noProof="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O degeneracy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0FE795-A1F1-9093-AC40-F0B38C473EEC}"/>
              </a:ext>
            </a:extLst>
          </p:cNvPr>
          <p:cNvCxnSpPr/>
          <p:nvPr/>
        </p:nvCxnSpPr>
        <p:spPr>
          <a:xfrm>
            <a:off x="9070038" y="2464658"/>
            <a:ext cx="609990" cy="877632"/>
          </a:xfrm>
          <a:prstGeom prst="line">
            <a:avLst/>
          </a:prstGeom>
          <a:ln>
            <a:solidFill>
              <a:srgbClr val="702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D170D4-B54F-E1B9-580F-EAE5773BE650}"/>
              </a:ext>
            </a:extLst>
          </p:cNvPr>
          <p:cNvCxnSpPr>
            <a:cxnSpLocks/>
          </p:cNvCxnSpPr>
          <p:nvPr/>
        </p:nvCxnSpPr>
        <p:spPr>
          <a:xfrm flipV="1">
            <a:off x="9135166" y="3443536"/>
            <a:ext cx="544862" cy="692712"/>
          </a:xfrm>
          <a:prstGeom prst="line">
            <a:avLst/>
          </a:prstGeom>
          <a:ln>
            <a:solidFill>
              <a:srgbClr val="702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89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1DB1-CC42-8C25-FA7C-4C8E6A300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6F3AF7-1467-EDB6-68BF-3DBBB0E7623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8869E1-DF45-9BBD-7F38-BAB5A87CD4B6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Fitting/Adjustable parameters </a:t>
            </a:r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(existing [positive] Data)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7B8CE06-0A6D-B67C-9985-0AF19C2A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10</a:t>
            </a:r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4BC745-7BDB-4AC1-D1D0-DDCB75913353}"/>
                  </a:ext>
                </a:extLst>
              </p:cNvPr>
              <p:cNvSpPr txBox="1"/>
              <p:nvPr/>
            </p:nvSpPr>
            <p:spPr>
              <a:xfrm>
                <a:off x="560000" y="1099761"/>
                <a:ext cx="2875466" cy="635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0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GB" sz="2000" b="0" i="0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GB" sz="2000" b="0" i="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0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0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200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sub>
                                  </m:sSub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</m:oMath>
                  </m:oMathPara>
                </a14:m>
                <a:endParaRPr lang="en-GB" sz="20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4BC745-7BDB-4AC1-D1D0-DDCB75913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00" y="1099761"/>
                <a:ext cx="2875466" cy="635302"/>
              </a:xfrm>
              <a:prstGeom prst="rect">
                <a:avLst/>
              </a:prstGeom>
              <a:blipFill>
                <a:blip r:embed="rId3"/>
                <a:stretch>
                  <a:fillRect l="-1762" r="-441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882518-0E76-984D-EB40-2B1013FDCCB0}"/>
                  </a:ext>
                </a:extLst>
              </p:cNvPr>
              <p:cNvSpPr txBox="1"/>
              <p:nvPr/>
            </p:nvSpPr>
            <p:spPr>
              <a:xfrm>
                <a:off x="5917414" y="1223769"/>
                <a:ext cx="6099586" cy="387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300"/>
                  </a:lnSpc>
                  <a:spcAft>
                    <a:spcPts val="250"/>
                  </a:spcAft>
                </a:pPr>
                <a:r>
                  <a:rPr lang="en-GB" sz="2000" b="1" i="1" u="sng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Tunable</a:t>
                </a:r>
                <a:r>
                  <a:rPr lang="en-GB" sz="2000" b="1" i="1" u="sng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Parameters:</a:t>
                </a:r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2000" b="1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endParaRPr lang="en-GB" sz="2000" i="1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882518-0E76-984D-EB40-2B1013FDC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414" y="1223769"/>
                <a:ext cx="6099586" cy="387286"/>
              </a:xfrm>
              <a:prstGeom prst="rect">
                <a:avLst/>
              </a:prstGeom>
              <a:blipFill>
                <a:blip r:embed="rId4"/>
                <a:stretch>
                  <a:fillRect l="-1247" t="-12903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BC5D401-B087-C208-649A-7B1E0CA84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2" y="1842982"/>
            <a:ext cx="5691572" cy="487849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60963EA-333C-551A-B9AB-5557D4374995}"/>
              </a:ext>
            </a:extLst>
          </p:cNvPr>
          <p:cNvSpPr/>
          <p:nvPr/>
        </p:nvSpPr>
        <p:spPr>
          <a:xfrm>
            <a:off x="3667225" y="2820202"/>
            <a:ext cx="885524" cy="26950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2489A4-9B29-30F1-8CAF-BF8A029E6204}"/>
              </a:ext>
            </a:extLst>
          </p:cNvPr>
          <p:cNvCxnSpPr>
            <a:cxnSpLocks/>
          </p:cNvCxnSpPr>
          <p:nvPr/>
        </p:nvCxnSpPr>
        <p:spPr>
          <a:xfrm flipH="1">
            <a:off x="4552749" y="2377440"/>
            <a:ext cx="2040556" cy="58714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E6F6B0C-30CE-53EE-E19A-93887DAC9501}"/>
              </a:ext>
            </a:extLst>
          </p:cNvPr>
          <p:cNvSpPr txBox="1"/>
          <p:nvPr/>
        </p:nvSpPr>
        <p:spPr>
          <a:xfrm>
            <a:off x="6593305" y="2208163"/>
            <a:ext cx="462123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We chose two LLNL models as positive data pool: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LLNL C</a:t>
            </a:r>
            <a:r>
              <a:rPr lang="en-GB" sz="1600" baseline="-25000" noProof="0" dirty="0"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-C</a:t>
            </a:r>
            <a:r>
              <a:rPr lang="en-GB" sz="1600" baseline="-25000" noProof="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 detailed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LLNL n-heptane detailed models</a:t>
            </a:r>
          </a:p>
          <a:p>
            <a:endParaRPr lang="en-GB" sz="16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Then identifying each species backbones’ structure.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A15CACB-0775-70B3-99CD-CB8C87BD0368}"/>
              </a:ext>
            </a:extLst>
          </p:cNvPr>
          <p:cNvCxnSpPr>
            <a:cxnSpLocks/>
            <a:endCxn id="22" idx="6"/>
          </p:cNvCxnSpPr>
          <p:nvPr/>
        </p:nvCxnSpPr>
        <p:spPr>
          <a:xfrm flipH="1">
            <a:off x="4793380" y="2377440"/>
            <a:ext cx="1799925" cy="13732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396E9546-FC74-886D-974C-29DFAFA44BAD}"/>
              </a:ext>
            </a:extLst>
          </p:cNvPr>
          <p:cNvSpPr/>
          <p:nvPr/>
        </p:nvSpPr>
        <p:spPr>
          <a:xfrm>
            <a:off x="3461335" y="3615921"/>
            <a:ext cx="1332045" cy="269507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21B246-BED7-346F-8C9A-1999844974AE}"/>
                  </a:ext>
                </a:extLst>
              </p:cNvPr>
              <p:cNvSpPr txBox="1"/>
              <p:nvPr/>
            </p:nvSpPr>
            <p:spPr>
              <a:xfrm>
                <a:off x="5917414" y="1641141"/>
                <a:ext cx="6099586" cy="387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300"/>
                  </a:lnSpc>
                  <a:spcAft>
                    <a:spcPts val="250"/>
                  </a:spcAft>
                </a:pPr>
                <a:r>
                  <a:rPr lang="en-GB" sz="2000" b="1" i="1" u="sng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Constant:</a:t>
                </a:r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(bond dissociation energy)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21B246-BED7-346F-8C9A-199984497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414" y="1641141"/>
                <a:ext cx="6099586" cy="387286"/>
              </a:xfrm>
              <a:prstGeom prst="rect">
                <a:avLst/>
              </a:prstGeom>
              <a:blipFill>
                <a:blip r:embed="rId6"/>
                <a:stretch>
                  <a:fillRect l="-1247" t="-12903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28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65B5A-8894-D174-6852-F198B247C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61EE9C-771B-17EF-B222-3BB4F6E5A79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3A88F05-09C5-1597-C588-70C3CC63AE9B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Fitting/Adjustable parameters </a:t>
            </a:r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(pseudo [negative] data)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86EBBAE-D593-FF88-D1BB-7C288E98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A16C4E-3127-0B2C-C09B-CDFECF8A8522}"/>
                  </a:ext>
                </a:extLst>
              </p:cNvPr>
              <p:cNvSpPr txBox="1"/>
              <p:nvPr/>
            </p:nvSpPr>
            <p:spPr>
              <a:xfrm>
                <a:off x="560000" y="1099761"/>
                <a:ext cx="2875466" cy="6353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sz="2000" b="0" i="0" noProof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GB" sz="2000" b="0" i="0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GB" sz="2000" b="0" i="1" noProof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sub>
                      </m:sSub>
                      <m:r>
                        <a:rPr lang="en-GB" sz="2000" b="0" i="0" noProof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GB" sz="20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i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i="0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GB" sz="2000" i="1" noProof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p>
                              <m:r>
                                <a:rPr lang="en-GB" sz="2000" b="0" i="1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0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e</m:t>
                                  </m:r>
                                </m:e>
                                <m:sup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E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GB" sz="2000" b="0" i="1" noProof="0" smtClean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sub>
                                  </m:sSub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GB" sz="2000" b="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</m:oMath>
                  </m:oMathPara>
                </a14:m>
                <a:endParaRPr lang="en-GB" sz="2000" noProof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A16C4E-3127-0B2C-C09B-CDFECF8A8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000" y="1099761"/>
                <a:ext cx="2875466" cy="635302"/>
              </a:xfrm>
              <a:prstGeom prst="rect">
                <a:avLst/>
              </a:prstGeom>
              <a:blipFill>
                <a:blip r:embed="rId3"/>
                <a:stretch>
                  <a:fillRect l="-1762" r="-441"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034297-0873-4F92-989C-FBEF7332BE96}"/>
                  </a:ext>
                </a:extLst>
              </p:cNvPr>
              <p:cNvSpPr txBox="1"/>
              <p:nvPr/>
            </p:nvSpPr>
            <p:spPr>
              <a:xfrm>
                <a:off x="5917414" y="1223769"/>
                <a:ext cx="6099586" cy="387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300"/>
                  </a:lnSpc>
                  <a:spcAft>
                    <a:spcPts val="250"/>
                  </a:spcAft>
                </a:pPr>
                <a:r>
                  <a:rPr lang="en-GB" sz="2000" b="1" i="1" u="sng" noProof="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Tunable</a:t>
                </a:r>
                <a:r>
                  <a:rPr lang="en-GB" sz="2000" b="1" i="1" u="sng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Parameters:</a:t>
                </a:r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GB" sz="2000" b="1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noProof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𝛼</m:t>
                    </m:r>
                  </m:oMath>
                </a14:m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GB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𝛽</m:t>
                    </m:r>
                  </m:oMath>
                </a14:m>
                <a:endParaRPr lang="en-GB" sz="2000" i="1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C034297-0873-4F92-989C-FBEF7332B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414" y="1223769"/>
                <a:ext cx="6099586" cy="387286"/>
              </a:xfrm>
              <a:prstGeom prst="rect">
                <a:avLst/>
              </a:prstGeom>
              <a:blipFill>
                <a:blip r:embed="rId4"/>
                <a:stretch>
                  <a:fillRect l="-1247" t="-12903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385CF12-F7A0-24BF-9119-20393CDE4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31" y="2722845"/>
            <a:ext cx="4310159" cy="828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66E5A2-EE91-2701-015A-A640DFA723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16" y="4989642"/>
            <a:ext cx="3101955" cy="5685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141758A-A0A3-2179-E3FE-56F2435D3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816" y="2114084"/>
            <a:ext cx="3199207" cy="18764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791A4F-A4E4-56A7-1929-1DA64812D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6983" y="4249133"/>
            <a:ext cx="2101774" cy="195331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92E9A55-9168-C4D8-7DEA-6247787746D7}"/>
              </a:ext>
            </a:extLst>
          </p:cNvPr>
          <p:cNvSpPr txBox="1"/>
          <p:nvPr/>
        </p:nvSpPr>
        <p:spPr>
          <a:xfrm>
            <a:off x="2288326" y="3651988"/>
            <a:ext cx="21017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Long chain alkane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EA8199-0514-0DBF-F5C4-7B10AFBE11FD}"/>
              </a:ext>
            </a:extLst>
          </p:cNvPr>
          <p:cNvSpPr txBox="1"/>
          <p:nvPr/>
        </p:nvSpPr>
        <p:spPr>
          <a:xfrm>
            <a:off x="7428960" y="4079856"/>
            <a:ext cx="2363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Long branched alkane</a:t>
            </a: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1047D-D487-1F78-6B9D-9246626C7CC9}"/>
              </a:ext>
            </a:extLst>
          </p:cNvPr>
          <p:cNvSpPr txBox="1"/>
          <p:nvPr/>
        </p:nvSpPr>
        <p:spPr>
          <a:xfrm>
            <a:off x="7409029" y="5759205"/>
            <a:ext cx="2743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Long chain hydroperoxyl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1E540E-60F0-28C6-053A-40CE0900200D}"/>
              </a:ext>
            </a:extLst>
          </p:cNvPr>
          <p:cNvSpPr txBox="1"/>
          <p:nvPr/>
        </p:nvSpPr>
        <p:spPr>
          <a:xfrm>
            <a:off x="4138811" y="5787816"/>
            <a:ext cx="1778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Large carbon 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4044D7-70F2-0C0F-DF9E-41B0A9F86D24}"/>
                  </a:ext>
                </a:extLst>
              </p:cNvPr>
              <p:cNvSpPr txBox="1"/>
              <p:nvPr/>
            </p:nvSpPr>
            <p:spPr>
              <a:xfrm>
                <a:off x="5917414" y="1641141"/>
                <a:ext cx="6099586" cy="387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2300"/>
                  </a:lnSpc>
                  <a:spcAft>
                    <a:spcPts val="250"/>
                  </a:spcAft>
                </a:pPr>
                <a:r>
                  <a:rPr lang="en-GB" sz="2000" b="1" i="1" u="sng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Constant:</a:t>
                </a:r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i="1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GB" sz="2000" i="1" noProof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(bond dissociation energy)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24044D7-70F2-0C0F-DF9E-41B0A9F86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7414" y="1641141"/>
                <a:ext cx="6099586" cy="387286"/>
              </a:xfrm>
              <a:prstGeom prst="rect">
                <a:avLst/>
              </a:prstGeom>
              <a:blipFill>
                <a:blip r:embed="rId9"/>
                <a:stretch>
                  <a:fillRect l="-1247" t="-12903" b="-25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0260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2C0C4-6306-7364-18FA-397DE015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7850254-A665-1DA0-B1CC-DA08F2B31DF5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C250A72-D752-6A87-4A43-A15E25E2DC38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Fitting/Adjustable parameters </a:t>
            </a:r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(data summary &amp; loss function)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3DC0F20-808F-CA0C-0138-C5A94C577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12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F003F50-F737-EC99-FE20-D83D03DA8893}"/>
              </a:ext>
            </a:extLst>
          </p:cNvPr>
          <p:cNvGrpSpPr/>
          <p:nvPr/>
        </p:nvGrpSpPr>
        <p:grpSpPr>
          <a:xfrm>
            <a:off x="1487291" y="1073131"/>
            <a:ext cx="7484770" cy="1607543"/>
            <a:chOff x="651045" y="1346669"/>
            <a:chExt cx="7484770" cy="160754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AA6D5782-50D1-4942-01C8-2A4B9A0B67DB}"/>
                </a:ext>
              </a:extLst>
            </p:cNvPr>
            <p:cNvSpPr/>
            <p:nvPr/>
          </p:nvSpPr>
          <p:spPr>
            <a:xfrm>
              <a:off x="1135043" y="1497407"/>
              <a:ext cx="7000772" cy="1456805"/>
            </a:xfrm>
            <a:prstGeom prst="roundRect">
              <a:avLst>
                <a:gd name="adj" fmla="val 9143"/>
              </a:avLst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5C4E5C7-9DEB-1F4E-65EE-7DA78B8EA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1045" y="1346669"/>
              <a:ext cx="1091785" cy="109178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98AEB3-709A-267D-6848-CF5D09E0BE7D}"/>
                </a:ext>
              </a:extLst>
            </p:cNvPr>
            <p:cNvSpPr txBox="1"/>
            <p:nvPr/>
          </p:nvSpPr>
          <p:spPr>
            <a:xfrm>
              <a:off x="3971955" y="1606753"/>
              <a:ext cx="1842764" cy="3872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ts val="2300"/>
                </a:lnSpc>
                <a:spcAft>
                  <a:spcPts val="250"/>
                </a:spcAft>
              </a:pPr>
              <a:r>
                <a:rPr lang="en-GB" sz="2000" b="1" i="1" u="sng" noProof="0" dirty="0">
                  <a:latin typeface="Calibri" panose="020F0502020204030204" pitchFamily="34" charset="0"/>
                  <a:cs typeface="Calibri" panose="020F0502020204030204" pitchFamily="34" charset="0"/>
                </a:rPr>
                <a:t>Data for Fitting</a:t>
              </a:r>
              <a:endParaRPr lang="en-GB" sz="5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806936-A24F-DDE7-2C32-38C3D98C5E11}"/>
                </a:ext>
              </a:extLst>
            </p:cNvPr>
            <p:cNvSpPr txBox="1"/>
            <p:nvPr/>
          </p:nvSpPr>
          <p:spPr>
            <a:xfrm>
              <a:off x="1570893" y="2226500"/>
              <a:ext cx="635507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noProof="0" dirty="0"/>
                <a:t>Positive species from LLNL detail models	</a:t>
              </a:r>
              <a:r>
                <a:rPr lang="en-GB" sz="1600" noProof="0" dirty="0">
                  <a:solidFill>
                    <a:srgbClr val="7030A0"/>
                  </a:solidFill>
                </a:rPr>
                <a:t>267 degeneracies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sz="1600" noProof="0" dirty="0"/>
                <a:t>Synthesized pseudo negative species		</a:t>
              </a:r>
              <a:r>
                <a:rPr lang="en-GB" sz="1600" noProof="0" dirty="0">
                  <a:solidFill>
                    <a:srgbClr val="7030A0"/>
                  </a:solidFill>
                </a:rPr>
                <a:t>569 degeneracies</a:t>
              </a: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6D6B29-EFE7-089F-50C1-3A24E5799B21}"/>
              </a:ext>
            </a:extLst>
          </p:cNvPr>
          <p:cNvSpPr/>
          <p:nvPr/>
        </p:nvSpPr>
        <p:spPr>
          <a:xfrm>
            <a:off x="2076797" y="3375290"/>
            <a:ext cx="7000772" cy="1456805"/>
          </a:xfrm>
          <a:prstGeom prst="roundRect">
            <a:avLst>
              <a:gd name="adj" fmla="val 9143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60112-919D-1B44-CA76-4B6984F9C099}"/>
              </a:ext>
            </a:extLst>
          </p:cNvPr>
          <p:cNvSpPr txBox="1"/>
          <p:nvPr/>
        </p:nvSpPr>
        <p:spPr>
          <a:xfrm>
            <a:off x="4243576" y="3429000"/>
            <a:ext cx="2972014" cy="387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250"/>
              </a:spcAft>
            </a:pPr>
            <a:r>
              <a:rPr lang="en-GB" sz="2000" b="1" i="1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Loss Function Construction</a:t>
            </a:r>
            <a:endParaRPr lang="en-GB" sz="5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B0CE12-DE94-038E-C71B-6A1622313A01}"/>
                  </a:ext>
                </a:extLst>
              </p:cNvPr>
              <p:cNvSpPr txBox="1"/>
              <p:nvPr/>
            </p:nvSpPr>
            <p:spPr>
              <a:xfrm>
                <a:off x="-680432" y="3891386"/>
                <a:ext cx="12805933" cy="1073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GB" b="0" i="1" noProof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𝜁</m:t>
                      </m:r>
                      <m:f>
                        <m:fPr>
                          <m:ctrlPr>
                            <a:rPr lang="en-GB" i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0" noProof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sup>
                          </m:sSup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GB" i="0" noProof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GB" i="0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GB" i="0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0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 noProof="0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GB" i="0" noProof="0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GB" i="0" noProof="0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 noProof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sub>
                        <m:sup/>
                        <m:e>
                          <m:sSub>
                            <m:sSubPr>
                              <m:ctrlP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ℓ</m:t>
                              </m:r>
                            </m:e>
                            <m:sub>
                              <m:r>
                                <a:rPr lang="en-GB" i="0" noProof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GB" i="0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i="0" noProof="0" smtClean="0">
                              <a:latin typeface="Cambria Math" panose="02040503050406030204" pitchFamily="18" charset="0"/>
                            </a:rPr>
                            <m:t>reg</m:t>
                          </m:r>
                        </m:sub>
                      </m:sSub>
                    </m:oMath>
                  </m:oMathPara>
                </a14:m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B0CE12-DE94-038E-C71B-6A1622313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0432" y="3891386"/>
                <a:ext cx="12805933" cy="1073114"/>
              </a:xfrm>
              <a:prstGeom prst="rect">
                <a:avLst/>
              </a:prstGeom>
              <a:blipFill>
                <a:blip r:embed="rId4"/>
                <a:stretch>
                  <a:fillRect t="-88235" b="-9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61BB0131-E9B6-ECBC-0415-36386B2B3976}"/>
              </a:ext>
            </a:extLst>
          </p:cNvPr>
          <p:cNvSpPr/>
          <p:nvPr/>
        </p:nvSpPr>
        <p:spPr>
          <a:xfrm>
            <a:off x="4712683" y="4009292"/>
            <a:ext cx="695570" cy="492370"/>
          </a:xfrm>
          <a:prstGeom prst="ellipse">
            <a:avLst/>
          </a:prstGeom>
          <a:noFill/>
          <a:ln w="31750">
            <a:solidFill>
              <a:srgbClr val="0057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>
              <a:solidFill>
                <a:srgbClr val="0057D9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A316A7-66FC-BD7A-96C3-2DC032BAEFE9}"/>
              </a:ext>
            </a:extLst>
          </p:cNvPr>
          <p:cNvSpPr/>
          <p:nvPr/>
        </p:nvSpPr>
        <p:spPr>
          <a:xfrm>
            <a:off x="6676298" y="4002902"/>
            <a:ext cx="695570" cy="492370"/>
          </a:xfrm>
          <a:prstGeom prst="ellipse">
            <a:avLst/>
          </a:prstGeom>
          <a:noFill/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28BE9A4-FC2C-2E56-A925-4E80583D230A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4432643" y="4501662"/>
            <a:ext cx="627825" cy="635882"/>
          </a:xfrm>
          <a:prstGeom prst="straightConnector1">
            <a:avLst/>
          </a:prstGeom>
          <a:ln w="25400">
            <a:solidFill>
              <a:srgbClr val="0057D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623FFC-A63C-7DF1-7412-FA627362E36C}"/>
                  </a:ext>
                </a:extLst>
              </p:cNvPr>
              <p:cNvSpPr txBox="1"/>
              <p:nvPr/>
            </p:nvSpPr>
            <p:spPr>
              <a:xfrm>
                <a:off x="2994878" y="5223712"/>
                <a:ext cx="275133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GB" i="0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d>
                        <m:dPr>
                          <m:ctrlPr>
                            <a:rPr lang="en-GB" i="1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GB" i="0" noProof="0" smtClean="0">
                          <a:solidFill>
                            <a:srgbClr val="0057D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0" noProof="0" smtClean="0">
                                  <a:solidFill>
                                    <a:srgbClr val="0057D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0" noProof="0" smtClean="0">
                                  <a:solidFill>
                                    <a:srgbClr val="0057D9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GB" i="1" noProof="0" smtClean="0">
                                  <a:solidFill>
                                    <a:srgbClr val="0057D9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lang="en-GB" i="0" noProof="0" smtClean="0">
                                  <a:solidFill>
                                    <a:srgbClr val="0057D9"/>
                                  </a:solidFill>
                                  <a:latin typeface="Cambria Math" panose="02040503050406030204" pitchFamily="18" charset="0"/>
                                </a:rPr>
                                <m:t>exist</m:t>
                              </m:r>
                              <m:d>
                                <m:dPr>
                                  <m:ctrlPr>
                                    <a:rPr lang="en-GB" i="1" noProof="0" smtClean="0">
                                      <a:solidFill>
                                        <a:srgbClr val="0057D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i="1" noProof="0" smtClean="0">
                                      <a:solidFill>
                                        <a:srgbClr val="0057D9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GB" i="0" noProof="0" smtClean="0">
                              <a:solidFill>
                                <a:srgbClr val="0057D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noProof="0" dirty="0">
                  <a:solidFill>
                    <a:srgbClr val="0057D9"/>
                  </a:solidFill>
                </a:endParaRPr>
              </a:p>
              <a:p>
                <a:endParaRPr lang="en-GB" noProof="0" dirty="0">
                  <a:solidFill>
                    <a:srgbClr val="0057D9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9623FFC-A63C-7DF1-7412-FA627362E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878" y="5223712"/>
                <a:ext cx="2751331" cy="553998"/>
              </a:xfrm>
              <a:prstGeom prst="rect">
                <a:avLst/>
              </a:prstGeom>
              <a:blipFill>
                <a:blip r:embed="rId5"/>
                <a:stretch>
                  <a:fillRect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C18E2D-BCC5-36C4-D30C-4D67FB2080AF}"/>
              </a:ext>
            </a:extLst>
          </p:cNvPr>
          <p:cNvCxnSpPr>
            <a:cxnSpLocks/>
            <a:endCxn id="22" idx="4"/>
          </p:cNvCxnSpPr>
          <p:nvPr/>
        </p:nvCxnSpPr>
        <p:spPr>
          <a:xfrm flipH="1" flipV="1">
            <a:off x="7024083" y="4495272"/>
            <a:ext cx="622743" cy="580744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41EE78-66F3-584A-51BB-F47FABBD7E90}"/>
                  </a:ext>
                </a:extLst>
              </p:cNvPr>
              <p:cNvSpPr txBox="1"/>
              <p:nvPr/>
            </p:nvSpPr>
            <p:spPr>
              <a:xfrm>
                <a:off x="6321592" y="5223712"/>
                <a:ext cx="265046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GB" i="1" noProof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m:rPr>
                              <m:sty m:val="p"/>
                            </m:rP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exist</m:t>
                          </m:r>
                          <m:d>
                            <m:dPr>
                              <m:ctrlPr>
                                <a:rPr lang="en-GB" i="1" noProof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 noProof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e>
                        <m:sup>
                          <m:r>
                            <a:rPr lang="en-GB" i="1" noProof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noProof="0" dirty="0"/>
              </a:p>
              <a:p>
                <a:endParaRPr lang="en-GB" noProof="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41EE78-66F3-584A-51BB-F47FABBD7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92" y="5223712"/>
                <a:ext cx="2650469" cy="553998"/>
              </a:xfrm>
              <a:prstGeom prst="rect">
                <a:avLst/>
              </a:prstGeom>
              <a:blipFill>
                <a:blip r:embed="rId6"/>
                <a:stretch>
                  <a:fillRect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" name="Picture 39">
            <a:extLst>
              <a:ext uri="{FF2B5EF4-FFF2-40B4-BE49-F238E27FC236}">
                <a16:creationId xmlns:a16="http://schemas.microsoft.com/office/drawing/2014/main" id="{DA1AE655-6EB1-5B6F-F83D-1A0A5646B5F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506" t="42478" r="11123" b="4957"/>
          <a:stretch>
            <a:fillRect/>
          </a:stretch>
        </p:blipFill>
        <p:spPr>
          <a:xfrm>
            <a:off x="1579820" y="3069841"/>
            <a:ext cx="1250376" cy="860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7064D-DE37-9447-BBB0-0BA0EF8C4E6D}"/>
              </a:ext>
            </a:extLst>
          </p:cNvPr>
          <p:cNvSpPr txBox="1"/>
          <p:nvPr/>
        </p:nvSpPr>
        <p:spPr>
          <a:xfrm>
            <a:off x="5060468" y="6094785"/>
            <a:ext cx="18448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noProof="0" dirty="0">
                <a:latin typeface="Calibri" panose="020F0502020204030204" pitchFamily="34" charset="0"/>
                <a:cs typeface="Calibri" panose="020F0502020204030204" pitchFamily="34" charset="0"/>
              </a:rPr>
              <a:t>Penalising L2 norms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CD01F12A-5209-7F32-1BD1-A03DD9FFD3B8}"/>
              </a:ext>
            </a:extLst>
          </p:cNvPr>
          <p:cNvSpPr/>
          <p:nvPr/>
        </p:nvSpPr>
        <p:spPr>
          <a:xfrm rot="5400000">
            <a:off x="5695530" y="4491538"/>
            <a:ext cx="391469" cy="2648652"/>
          </a:xfrm>
          <a:prstGeom prst="rightBrace">
            <a:avLst>
              <a:gd name="adj1" fmla="val 53975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8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CA9E7-14B9-DDBA-F76F-DB36B1B8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AA6AA9-AB91-D15D-DF4B-EA8E952FAF31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A6CE4C2-2D46-DD29-9B7D-485BA2A99AD9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Fitting/Adjustable parameters </a:t>
            </a:r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(random search &amp; Powell refinement)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76B2BCD-DEA3-7A89-270E-C3CB30B3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13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CC34F8-BF8D-9C17-164F-AE6242BC2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50" y="820194"/>
            <a:ext cx="3984357" cy="300428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86CB13-12DB-96AC-C20A-552001D9F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568" y="3850320"/>
            <a:ext cx="3988864" cy="300768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56CF70-4432-C1D9-317B-9F9538027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8193" y="820194"/>
            <a:ext cx="3984357" cy="3004282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E97353A-09A4-9895-194D-CFE902F92069}"/>
              </a:ext>
            </a:extLst>
          </p:cNvPr>
          <p:cNvSpPr txBox="1"/>
          <p:nvPr/>
        </p:nvSpPr>
        <p:spPr>
          <a:xfrm>
            <a:off x="0" y="3850320"/>
            <a:ext cx="3984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i="1" u="sng" noProof="0" dirty="0">
                <a:solidFill>
                  <a:srgbClr val="7030A0"/>
                </a:solidFill>
              </a:rPr>
              <a:t>Step 1</a:t>
            </a:r>
            <a:r>
              <a:rPr lang="en-GB" sz="1600" i="1" noProof="0" dirty="0"/>
              <a:t>: Randomly select 20,000 candidates in the parameter space.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4BCBB2-84E0-5825-220B-C2BBB3920565}"/>
              </a:ext>
            </a:extLst>
          </p:cNvPr>
          <p:cNvSpPr txBox="1"/>
          <p:nvPr/>
        </p:nvSpPr>
        <p:spPr>
          <a:xfrm>
            <a:off x="4168011" y="3265545"/>
            <a:ext cx="3984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i="1" u="sng" noProof="0" dirty="0">
                <a:solidFill>
                  <a:srgbClr val="7030A0"/>
                </a:solidFill>
              </a:rPr>
              <a:t>Step 2</a:t>
            </a:r>
            <a:r>
              <a:rPr lang="en-GB" sz="1600" i="1" noProof="0" dirty="0"/>
              <a:t>: Preserve the best 20 candidates for Powell Refinement Starting point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A10D23-2E7B-4EA5-1B0B-DAFED182E2BD}"/>
              </a:ext>
            </a:extLst>
          </p:cNvPr>
          <p:cNvSpPr txBox="1"/>
          <p:nvPr/>
        </p:nvSpPr>
        <p:spPr>
          <a:xfrm>
            <a:off x="8274086" y="3824476"/>
            <a:ext cx="3984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i="1" u="sng" noProof="0" dirty="0">
                <a:solidFill>
                  <a:srgbClr val="7030A0"/>
                </a:solidFill>
              </a:rPr>
              <a:t>Step 3</a:t>
            </a:r>
            <a:r>
              <a:rPr lang="en-GB" sz="1600" i="1" noProof="0" dirty="0"/>
              <a:t>: Conduct Powell Refinement and yield the converged parameter set.</a:t>
            </a:r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EBED4C25-1ED0-6BBB-882E-99D10A9D599B}"/>
              </a:ext>
            </a:extLst>
          </p:cNvPr>
          <p:cNvSpPr/>
          <p:nvPr/>
        </p:nvSpPr>
        <p:spPr>
          <a:xfrm>
            <a:off x="9456615" y="2250831"/>
            <a:ext cx="148493" cy="156308"/>
          </a:xfrm>
          <a:prstGeom prst="star5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26C810F-BA65-AE46-DCC4-897CAC1B39AC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9175262" y="2063449"/>
            <a:ext cx="281353" cy="24708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03FE215-5453-D6C1-BD5B-DDCDEC761189}"/>
              </a:ext>
            </a:extLst>
          </p:cNvPr>
          <p:cNvSpPr txBox="1"/>
          <p:nvPr/>
        </p:nvSpPr>
        <p:spPr>
          <a:xfrm>
            <a:off x="8398271" y="1730078"/>
            <a:ext cx="2413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rgbClr val="7030A0"/>
                </a:solidFill>
              </a:rPr>
              <a:t>Converged parameter set</a:t>
            </a:r>
          </a:p>
        </p:txBody>
      </p:sp>
    </p:spTree>
    <p:extLst>
      <p:ext uri="{BB962C8B-B14F-4D97-AF65-F5344CB8AC3E}">
        <p14:creationId xmlns:p14="http://schemas.microsoft.com/office/powerpoint/2010/main" val="2504812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6E57B-735A-21D1-25B9-C86AA71D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6F59D8F-0447-67C3-D898-63140B3F9CC1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Fitting/Adjustable parameters </a:t>
            </a:r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(current output, need improvement)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5D0C775-2C5C-315D-B325-C2C27E27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14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68BF2F1-F8B2-EB8F-712D-E2086579324D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7AA1B8F-0A2C-54EC-1433-D56B68D70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82650"/>
            <a:ext cx="10210800" cy="43017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2B96B76-2043-0B1B-8C2C-02D351A68B45}"/>
              </a:ext>
            </a:extLst>
          </p:cNvPr>
          <p:cNvSpPr/>
          <p:nvPr/>
        </p:nvSpPr>
        <p:spPr>
          <a:xfrm>
            <a:off x="5877170" y="1023872"/>
            <a:ext cx="4673600" cy="1546361"/>
          </a:xfrm>
          <a:prstGeom prst="ellipse">
            <a:avLst/>
          </a:prstGeom>
          <a:noFill/>
          <a:ln w="38100">
            <a:solidFill>
              <a:srgbClr val="1780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E4F081-4E95-2968-3522-5A110A1064AF}"/>
              </a:ext>
            </a:extLst>
          </p:cNvPr>
          <p:cNvSpPr txBox="1"/>
          <p:nvPr/>
        </p:nvSpPr>
        <p:spPr>
          <a:xfrm>
            <a:off x="6408615" y="260046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noProof="0" dirty="0">
                <a:solidFill>
                  <a:srgbClr val="17803C"/>
                </a:solidFill>
              </a:rPr>
              <a:t>Positive results generally yields higher scores</a:t>
            </a:r>
            <a:endParaRPr lang="en-GB" noProof="0" dirty="0">
              <a:solidFill>
                <a:srgbClr val="17803C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B215909-B17B-CA28-4469-0BEB4653A917}"/>
              </a:ext>
            </a:extLst>
          </p:cNvPr>
          <p:cNvSpPr/>
          <p:nvPr/>
        </p:nvSpPr>
        <p:spPr>
          <a:xfrm>
            <a:off x="3899877" y="3102707"/>
            <a:ext cx="4532923" cy="1367043"/>
          </a:xfrm>
          <a:prstGeom prst="ellipse">
            <a:avLst/>
          </a:prstGeom>
          <a:noFill/>
          <a:ln w="38100">
            <a:solidFill>
              <a:srgbClr val="0057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00E3F9-29A1-8A19-10F7-9EC0501996F4}"/>
              </a:ext>
            </a:extLst>
          </p:cNvPr>
          <p:cNvSpPr txBox="1"/>
          <p:nvPr/>
        </p:nvSpPr>
        <p:spPr>
          <a:xfrm>
            <a:off x="4083538" y="500955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noProof="0" dirty="0">
                <a:solidFill>
                  <a:srgbClr val="0057D9"/>
                </a:solidFill>
              </a:rPr>
              <a:t>Negative results generally yields lower scores</a:t>
            </a:r>
            <a:endParaRPr lang="en-GB" noProof="0" dirty="0">
              <a:solidFill>
                <a:srgbClr val="0057D9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B1529B-ADC1-3DE9-951A-81F8C8B7784E}"/>
              </a:ext>
            </a:extLst>
          </p:cNvPr>
          <p:cNvSpPr/>
          <p:nvPr/>
        </p:nvSpPr>
        <p:spPr>
          <a:xfrm>
            <a:off x="10089662" y="3346547"/>
            <a:ext cx="461108" cy="94306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C7D090-90EA-5EEB-669A-282D80E2BF37}"/>
              </a:ext>
            </a:extLst>
          </p:cNvPr>
          <p:cNvSpPr txBox="1"/>
          <p:nvPr/>
        </p:nvSpPr>
        <p:spPr>
          <a:xfrm>
            <a:off x="9795396" y="475843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noProof="0" dirty="0"/>
              <a:t>Bugs, fixing needed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70656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D676C-494B-3284-A7F6-CB1F11B08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D8B25C-7EB7-47F0-940B-FD46721503C0}"/>
              </a:ext>
            </a:extLst>
          </p:cNvPr>
          <p:cNvCxnSpPr>
            <a:cxnSpLocks/>
          </p:cNvCxnSpPr>
          <p:nvPr/>
        </p:nvCxnSpPr>
        <p:spPr>
          <a:xfrm>
            <a:off x="89452" y="794349"/>
            <a:ext cx="11959678" cy="0"/>
          </a:xfrm>
          <a:prstGeom prst="line">
            <a:avLst/>
          </a:prstGeom>
          <a:ln w="57150">
            <a:gradFill flip="none" rotWithShape="1">
              <a:gsLst>
                <a:gs pos="0">
                  <a:schemeClr val="bg1"/>
                </a:gs>
                <a:gs pos="100000">
                  <a:srgbClr val="00BFF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DD16916-F493-F1AE-2B45-F3F55456A805}"/>
              </a:ext>
            </a:extLst>
          </p:cNvPr>
          <p:cNvSpPr txBox="1"/>
          <p:nvPr/>
        </p:nvSpPr>
        <p:spPr>
          <a:xfrm>
            <a:off x="271250" y="132682"/>
            <a:ext cx="117778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600" b="1" noProof="0" dirty="0">
                <a:solidFill>
                  <a:srgbClr val="2E2C28"/>
                </a:solidFill>
                <a:latin typeface="Garamond" panose="02020404030301010803" pitchFamily="18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18A0318-D0F3-91E6-C425-13B70005E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 dirty="0"/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2FF95-1F7A-6135-204E-1A0CFFE337F4}"/>
              </a:ext>
            </a:extLst>
          </p:cNvPr>
          <p:cNvSpPr txBox="1"/>
          <p:nvPr/>
        </p:nvSpPr>
        <p:spPr>
          <a:xfrm>
            <a:off x="358698" y="1088191"/>
            <a:ext cx="10995102" cy="4316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b="1" noProof="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Achieved:</a:t>
            </a:r>
            <a:r>
              <a:rPr lang="en-GB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noProof="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Established a mathematical penalty function based on bond dissociation energy information, which is expected to penalize the formation of long-chain hydroperoxyl (</a:t>
            </a:r>
            <a:r>
              <a:rPr lang="en-GB" b="1" noProof="0" dirty="0" err="1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HOx</a:t>
            </a:r>
            <a:r>
              <a:rPr lang="en-GB" b="1" noProof="0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and long-chain carbon alkyl molecules</a:t>
            </a:r>
            <a:endParaRPr lang="en-GB" b="1" u="sng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endParaRPr lang="en-GB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300"/>
              </a:spcAft>
            </a:pP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Next steps:</a:t>
            </a:r>
            <a:endParaRPr lang="en-GB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Further improve the </a:t>
            </a:r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mathematical penalty function parameters</a:t>
            </a:r>
            <a:endParaRPr lang="en-GB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The current algorithm for searching the parameter still needs improvement. A few pseudo-negative cases did not yield low existence scores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Implementing the pretrained reward/penalty into the loss function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By now we have node, edge level loss function for the </a:t>
            </a:r>
            <a:r>
              <a:rPr lang="en-GB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GNN–reinforcement learning architecture</a:t>
            </a: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. We will incorporate this subgraph/graphlet level loss function into the architecture, starting from the H/O system.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Repeat training with the addition of the graphlet level information from the GNN-RL architecture when new, “invalid” species are found.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Incorporate C/H/O system and observe polymer (e.g., polyethylene) or aromatic ring growth </a:t>
            </a:r>
            <a:r>
              <a:rPr lang="en-GB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noProof="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Font typeface="Wingdings" pitchFamily="2" charset="2"/>
              <a:buChar char="q"/>
            </a:pPr>
            <a:endParaRPr lang="en-GB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22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4197</TotalTime>
  <Words>1014</Words>
  <Application>Microsoft Macintosh PowerPoint</Application>
  <PresentationFormat>Widescreen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Cambria Math</vt:lpstr>
      <vt:lpstr>Courier New</vt:lpstr>
      <vt:lpstr>Garamond</vt:lpstr>
      <vt:lpstr>Helvetica</vt:lpstr>
      <vt:lpstr>Wingdings</vt:lpstr>
      <vt:lpstr>Office Theme</vt:lpstr>
      <vt:lpstr>Research Updates on GNN Species Discovery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Rui Xu</dc:creator>
  <cp:lastModifiedBy>Boyuan Yu</cp:lastModifiedBy>
  <cp:revision>3850</cp:revision>
  <dcterms:created xsi:type="dcterms:W3CDTF">2025-01-30T21:03:05Z</dcterms:created>
  <dcterms:modified xsi:type="dcterms:W3CDTF">2026-08-24T06:59:20Z</dcterms:modified>
</cp:coreProperties>
</file>