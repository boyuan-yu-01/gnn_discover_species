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1"/>
  </p:notesMasterIdLst>
  <p:sldIdLst>
    <p:sldId id="477" r:id="rId2"/>
    <p:sldId id="548" r:id="rId3"/>
    <p:sldId id="549" r:id="rId4"/>
    <p:sldId id="530" r:id="rId5"/>
    <p:sldId id="550" r:id="rId6"/>
    <p:sldId id="551" r:id="rId7"/>
    <p:sldId id="552" r:id="rId8"/>
    <p:sldId id="553" r:id="rId9"/>
    <p:sldId id="50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803C"/>
    <a:srgbClr val="0000FF"/>
    <a:srgbClr val="8DC2D8"/>
    <a:srgbClr val="0057D9"/>
    <a:srgbClr val="702FA1"/>
    <a:srgbClr val="7030A0"/>
    <a:srgbClr val="14532D"/>
    <a:srgbClr val="FF4D4D"/>
    <a:srgbClr val="A5C7FD"/>
    <a:srgbClr val="9F6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89"/>
    <p:restoredTop sz="95166"/>
  </p:normalViewPr>
  <p:slideViewPr>
    <p:cSldViewPr snapToGrid="0">
      <p:cViewPr>
        <p:scale>
          <a:sx n="190" d="100"/>
          <a:sy n="190" d="100"/>
        </p:scale>
        <p:origin x="1432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055514-7F84-8A44-BF0D-F67E421A0CC6}" type="datetimeFigureOut">
              <a:rPr lang="en-US" smtClean="0"/>
              <a:t>9/18/26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03BFEB-DD89-0645-80CB-A8799B564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144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1921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C6644-5B86-52F8-473E-9AC9E7CC2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C9E205-891E-E9BD-EAA1-8E96D8FC59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67C817-A48F-1F9D-0D26-C1087C57F9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853C5D-1108-F589-FD7C-817DA457DB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0481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3CA28-23DE-69DB-AC0D-1E0029EB5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AF2C09-A568-D4EA-83D5-5E791D1D63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053614-5F49-D0DD-C9F6-7BE0F693E6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4D802-431A-E6EE-A87C-CB3ED46672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548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B8BCC-C9BF-34AC-2CA8-111B6F470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4D74A7-C86C-9706-ED1F-EF491A19B6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6745F7-4765-2B2E-8C96-67B8D16DB5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1339AA-4DF5-FF74-EC17-E6D884CE75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7357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63296-882F-D41A-1BCF-04C1B1D83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294840-0DC7-585A-35C1-BC09655886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D6841C-A56E-9407-B060-D24F25CC33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E2FA1B-6F46-9893-409B-C0D86884EB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5157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45A36-0748-39B3-055E-51385804D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0DC74B-BC5A-A6D2-A102-1D0DB853A0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446F7F-0EBD-DB5D-CF0D-23CCEE883B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1F7B69-327F-C9F6-3CAF-A69B38E73C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3854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7CFB2-F3CA-3D3D-7B78-E342E6A31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1D0260-6CF4-71A3-2F9B-348301B714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FC658A-3F3E-CD2D-D123-05CEFD42E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ABAE99-53D7-D977-AEBB-4B0E8E3B23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8297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135C7-B762-65FD-2018-C66A3759D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AE96B3-7BF9-7D87-E2C5-3432738520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40D52E-D832-DE48-AC29-272A667239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2DB504-58C5-ACEB-A9C0-86D00FEB6A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3380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64495-5C4E-A4EA-0D5D-0261D58F0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32FD33-DACB-CDC3-8647-8630D37095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80B807-FE18-BCE2-C7FA-B94EEF8CD2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F070F3-F898-8F7F-2E49-D1EB1E3603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350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81828-A740-60EF-5F7D-328A01908A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46C149-91B5-D709-D604-9584F6DFE2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FDA84-C123-C8B7-BB16-2325D9498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7CEC8-9C94-5D4A-BDC3-A40FED9179B1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50313-7C58-E4B7-4FDA-E25E1610F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85CB0-9FEC-6A9E-4CFF-4FD3D472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C8FE-6982-B849-AC24-E6900E349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094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E4662-E4D8-8CA7-3779-B91513EC8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E77A2-E909-B688-AD08-534C18F19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D6EE6-E4D8-C434-F684-7BDECD3CC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EBB2E-142D-B74B-9399-40F03EC43A94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F72FF9-1EF4-47A4-648E-A8B6E547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33235-18F6-14B7-3F3C-1B310D36A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C8FE-6982-B849-AC24-E6900E349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338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F5017-3F85-C2E6-5223-EDEBE5345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BA6AA-4581-665D-E86C-3B9112C72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0D9C1-1EC7-0095-9E10-CD587E796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71EC9-59E5-E747-A114-45701F6348E1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838B0-8D46-6591-E13B-B62AEEEB6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77FE6-EC81-455E-9B35-2EA59EF01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C8FE-6982-B849-AC24-E6900E349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24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C6101-F797-E64D-FA54-3D9EDC352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F29BB-B08E-A6A3-E23C-8249FDD738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4D1720-80A5-C549-E427-D6E34CBF95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DADA3F-5BC8-33B1-4189-E3B09EB1F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AB9A4-E352-8A49-AF8F-257AD10A1F2E}" type="datetime1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97241D-8BA1-7634-9F0F-3CCDC159B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A0BD1-5FBC-D461-C10C-FD6A8E54B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C8FE-6982-B849-AC24-E6900E349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648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BA313-CE77-5A6F-1076-DC07B8319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7E2FB0-868C-4E75-F108-B0F0E94C59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69C154-890B-3905-BC3B-27FD1AFA1B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10E697-7659-F2D9-2650-1DD2EA5669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AFD821-CAF0-78FE-A714-AD8C47EF8E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4367DF-F1FB-0BD2-EE43-8377FA841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CF664-7136-1043-972E-DDC35FD0CC48}" type="datetime1">
              <a:rPr lang="en-US" smtClean="0"/>
              <a:t>9/18/26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B73405-8153-057C-F0B3-7FC449CFC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8C04F8-2DA2-2DD7-383C-E6AA0DF25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C8FE-6982-B849-AC24-E6900E349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162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1579D-6958-9DCD-FEFD-E33A46F31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BBD8C7-08C9-A825-2CF0-885111CCB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9DDAD-17E3-7B4E-8819-8AFCE57411CF}" type="datetime1">
              <a:rPr lang="en-US" smtClean="0"/>
              <a:t>9/18/26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A69594-A820-57FA-D7BB-E26473D5B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4ED3E-D1F4-1DBA-E6B3-FC786A145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C8FE-6982-B849-AC24-E6900E349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129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F0074D-7F29-ED97-3C6F-3A85EF565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540D-7B6C-724B-A93E-5D4733CE3F95}" type="datetime1">
              <a:rPr lang="en-US" smtClean="0"/>
              <a:t>9/18/26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4F0620-8F1B-8A53-1AA7-3F2ECFA6A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1A3951-4F2E-6F10-D7C5-3037B0E47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C8FE-6982-B849-AC24-E6900E349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202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DAF97-852E-02ED-58F0-6309FCC54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7C630-AAD8-151F-C40F-443103545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E3E170-27A4-7FD2-FF3B-B51326F676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D54BD4-BEEC-BCF8-4D36-777CFE173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5DA6F-F1D2-D34E-A317-99B8EDD7C888}" type="datetime1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46C24B-DF94-73BC-5F4C-21A8A9400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036ACD-6277-85CF-B58A-A31A9364E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C8FE-6982-B849-AC24-E6900E349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61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44D50-EFC2-B2BE-11C7-360A75B8A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827050-819B-F6C2-CFC4-B0B3D535C9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438D2B-D60F-7B7A-D18A-F983C72EAB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B2680E-AD25-2C7E-002C-25AC17811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9D098-CF73-674B-9BB3-3738976B525D}" type="datetime1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A238F8-806A-352D-6E2F-9CDA90035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2A7ECD-6F0E-1D20-7002-5A4DA8D7D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C8FE-6982-B849-AC24-E6900E349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543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40CEB-0EAD-DA96-C068-9A26670CE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E67B2C-1552-E19F-82EE-6C3023C855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81990-6543-EB05-FA47-7676CD81D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E1A24-4C5A-254A-9E96-CB06335422F3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242A2-92D9-3B84-F52F-717CD05B7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747D2-4730-FD71-2257-B2B678CA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C8FE-6982-B849-AC24-E6900E349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499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874F61-394E-0423-441D-64174FCBBD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68D413-7F7E-1F7D-CC3B-29D83AB514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64D48-917A-F0BF-397C-D0DFC133F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90F1F-AF19-7C4A-AD81-0C60A4619494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6FA1D-8038-B110-7035-48232E48D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1AF4E-24B4-93C5-A966-DEC52D7B8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C8FE-6982-B849-AC24-E6900E349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01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654920-4B0E-0BF2-6788-397E1EB6A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FFACF1-7249-ABD7-FD7A-923C353828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8B585-BDA3-C9B1-C2BA-512DD11B95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33768C-DD3B-2A40-AF10-0EFC28DED6AB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EA012F-4C81-44F6-F78D-28C261DAC5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411A4-CB77-A53A-D675-7A6609DB66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11C8FE-6982-B849-AC24-E6900E349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987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4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70C406E-5381-7676-FAC3-23D2538C83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286539"/>
            <a:ext cx="12192000" cy="118320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2900" b="1" noProof="0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Research Updates on GNN Species Discovery </a:t>
            </a:r>
            <a:br>
              <a:rPr lang="en-GB" sz="2900" b="1" noProof="0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</a:br>
            <a:endParaRPr lang="en-GB" sz="2900" b="1" noProof="0" dirty="0">
              <a:solidFill>
                <a:srgbClr val="2E2C28"/>
              </a:solidFill>
              <a:latin typeface="Garamond" panose="02020404030301010803" pitchFamily="18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FD5BD63-C5E7-ED49-10F7-79782BC8C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311522"/>
            <a:ext cx="12192000" cy="1259939"/>
          </a:xfrm>
        </p:spPr>
        <p:txBody>
          <a:bodyPr>
            <a:noAutofit/>
          </a:bodyPr>
          <a:lstStyle/>
          <a:p>
            <a:pPr marL="0" indent="0" eaLnBrk="1" hangingPunct="1"/>
            <a:r>
              <a:rPr lang="en-GB" sz="2000" b="1" noProof="0" dirty="0">
                <a:solidFill>
                  <a:srgbClr val="2E2C28"/>
                </a:solidFill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Boyuan Yu, Rui Xu</a:t>
            </a:r>
          </a:p>
          <a:p>
            <a:pPr marL="0" indent="0" eaLnBrk="1" hangingPunct="1"/>
            <a:r>
              <a:rPr lang="en-GB" sz="2000" b="1" noProof="0" dirty="0">
                <a:solidFill>
                  <a:srgbClr val="2E2C28"/>
                </a:solidFill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University of Southern California</a:t>
            </a:r>
          </a:p>
          <a:p>
            <a:pPr marL="0" indent="0" eaLnBrk="1" hangingPunct="1"/>
            <a:r>
              <a:rPr lang="en-GB" sz="2000" b="1" dirty="0">
                <a:solidFill>
                  <a:srgbClr val="2E2C28"/>
                </a:solidFill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Sep.</a:t>
            </a:r>
            <a:r>
              <a:rPr lang="en-GB" sz="2000" b="1" noProof="0" dirty="0">
                <a:solidFill>
                  <a:srgbClr val="2E2C28"/>
                </a:solidFill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 18, 2026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5DE126-872C-962A-2DD0-F3A2DDC665DC}"/>
              </a:ext>
            </a:extLst>
          </p:cNvPr>
          <p:cNvSpPr txBox="1"/>
          <p:nvPr/>
        </p:nvSpPr>
        <p:spPr>
          <a:xfrm>
            <a:off x="4744121" y="2952121"/>
            <a:ext cx="28780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i="1" dirty="0">
                <a:latin typeface="Garamond" panose="02020404030301010803" pitchFamily="18" charset="0"/>
              </a:rPr>
              <a:t>Two Stage Training Protocol:</a:t>
            </a:r>
          </a:p>
          <a:p>
            <a:pPr algn="ctr"/>
            <a:r>
              <a:rPr lang="en-US" b="1" i="1" dirty="0">
                <a:latin typeface="Garamond" panose="02020404030301010803" pitchFamily="18" charset="0"/>
              </a:rPr>
              <a:t>Stage I: Exploitation</a:t>
            </a:r>
          </a:p>
          <a:p>
            <a:pPr algn="ctr"/>
            <a:r>
              <a:rPr lang="en-US" b="1" i="1" dirty="0">
                <a:latin typeface="Garamond" panose="02020404030301010803" pitchFamily="18" charset="0"/>
              </a:rPr>
              <a:t>Stage II: Exploration</a:t>
            </a:r>
          </a:p>
        </p:txBody>
      </p:sp>
    </p:spTree>
    <p:extLst>
      <p:ext uri="{BB962C8B-B14F-4D97-AF65-F5344CB8AC3E}">
        <p14:creationId xmlns:p14="http://schemas.microsoft.com/office/powerpoint/2010/main" val="725083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914C2-7049-F831-315C-B6A31C973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EDD5FD4-B863-8F97-E33E-F6DDC98A48D5}"/>
              </a:ext>
            </a:extLst>
          </p:cNvPr>
          <p:cNvCxnSpPr>
            <a:cxnSpLocks/>
          </p:cNvCxnSpPr>
          <p:nvPr/>
        </p:nvCxnSpPr>
        <p:spPr>
          <a:xfrm>
            <a:off x="89452" y="794349"/>
            <a:ext cx="11959678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100000">
                  <a:srgbClr val="00BFF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C7775F1-DC6F-01A5-E1A1-7A9DD4F96977}"/>
              </a:ext>
            </a:extLst>
          </p:cNvPr>
          <p:cNvSpPr txBox="1"/>
          <p:nvPr/>
        </p:nvSpPr>
        <p:spPr>
          <a:xfrm>
            <a:off x="271250" y="157003"/>
            <a:ext cx="11777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Previously Addressed Problems: Exploration Using Monte Carlo Tree Search</a:t>
            </a:r>
            <a:endParaRPr lang="en-GB" sz="2600" b="1" noProof="0" dirty="0">
              <a:solidFill>
                <a:srgbClr val="2E2C28"/>
              </a:solidFill>
              <a:latin typeface="Garamond" panose="02020404030301010803" pitchFamily="18" charset="0"/>
              <a:cs typeface="Arial" panose="020B0604020202020204" pitchFamily="34" charset="0"/>
            </a:endParaRPr>
          </a:p>
        </p:txBody>
      </p:sp>
      <p:sp>
        <p:nvSpPr>
          <p:cNvPr id="63" name="Slide Number Placeholder 15">
            <a:extLst>
              <a:ext uri="{FF2B5EF4-FFF2-40B4-BE49-F238E27FC236}">
                <a16:creationId xmlns:a16="http://schemas.microsoft.com/office/drawing/2014/main" id="{41AC4868-9E6A-EC00-E7E9-237972592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en-GB" dirty="0"/>
              <a:t>1</a:t>
            </a:r>
            <a:endParaRPr lang="en-GB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A27102-AD20-AA1E-A371-7FFF2E4D0E87}"/>
              </a:ext>
            </a:extLst>
          </p:cNvPr>
          <p:cNvSpPr txBox="1"/>
          <p:nvPr/>
        </p:nvSpPr>
        <p:spPr>
          <a:xfrm>
            <a:off x="358698" y="1019312"/>
            <a:ext cx="10995102" cy="3054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300"/>
              </a:spcAft>
              <a:buFont typeface="Wingdings" pitchFamily="2" charset="2"/>
              <a:buChar char="q"/>
            </a:pPr>
            <a:r>
              <a:rPr lang="en-US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Previously: Implement Monte Carlo Tree Search (MCTS) for graph level evolution.</a:t>
            </a:r>
          </a:p>
          <a:p>
            <a:pPr marL="285750" indent="-285750">
              <a:spcAft>
                <a:spcPts val="300"/>
              </a:spcAft>
              <a:buFont typeface="Wingdings" pitchFamily="2" charset="2"/>
              <a:buChar char="q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Monte Carlo Tree Search, together with PUCT (Polynomial Upper Confidence Bound applied to Trees), explore the graph evolution </a:t>
            </a:r>
            <a:r>
              <a:rPr lang="en-US" b="1" i="1" dirty="0">
                <a:solidFill>
                  <a:srgbClr val="17803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biased by </a:t>
            </a:r>
            <a:r>
              <a:rPr lang="en-US" b="1" i="1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b="1" i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neural network </a:t>
            </a:r>
            <a:r>
              <a:rPr lang="en-US" b="1" i="1" dirty="0">
                <a:latin typeface="Calibri" panose="020F0502020204030204" pitchFamily="34" charset="0"/>
                <a:cs typeface="Calibri" panose="020F0502020204030204" pitchFamily="34" charset="0"/>
              </a:rPr>
              <a:t>(as a result of exploitation) and </a:t>
            </a:r>
            <a:r>
              <a:rPr lang="en-US" b="1" i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number of exploration(s) </a:t>
            </a:r>
            <a:r>
              <a:rPr lang="en-US" b="1" i="1" dirty="0">
                <a:latin typeface="Calibri" panose="020F0502020204030204" pitchFamily="34" charset="0"/>
                <a:cs typeface="Calibri" panose="020F0502020204030204" pitchFamily="34" charset="0"/>
              </a:rPr>
              <a:t>of any individual state. </a:t>
            </a:r>
          </a:p>
          <a:p>
            <a:pPr marL="285750" indent="-285750">
              <a:spcAft>
                <a:spcPts val="300"/>
              </a:spcAft>
              <a:buFont typeface="Wingdings" pitchFamily="2" charset="2"/>
              <a:buChar char="q"/>
            </a:pPr>
            <a:r>
              <a:rPr lang="en-US" b="1" dirty="0">
                <a:solidFill>
                  <a:srgbClr val="17803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Bias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in a nutshell: </a:t>
            </a:r>
          </a:p>
          <a:p>
            <a:pPr marL="742950" lvl="1" indent="-285750">
              <a:spcAft>
                <a:spcPts val="300"/>
              </a:spcAft>
              <a:buFont typeface="Wingdings" pitchFamily="2" charset="2"/>
              <a:buChar char="q"/>
            </a:pPr>
            <a:r>
              <a:rPr lang="en-US" b="1" i="1" u="sng" dirty="0">
                <a:latin typeface="Calibri" panose="020F0502020204030204" pitchFamily="34" charset="0"/>
                <a:cs typeface="Calibri" panose="020F0502020204030204" pitchFamily="34" charset="0"/>
              </a:rPr>
              <a:t>Neural Network bias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: The higher value the state evaluated, the higher likelihood the state will be revisited during the exploration.</a:t>
            </a:r>
          </a:p>
          <a:p>
            <a:pPr marL="742950" lvl="1" indent="-285750">
              <a:spcAft>
                <a:spcPts val="300"/>
              </a:spcAft>
              <a:buFont typeface="Wingdings" pitchFamily="2" charset="2"/>
              <a:buChar char="q"/>
            </a:pPr>
            <a:r>
              <a:rPr lang="en-US" b="1" i="1" u="sng" dirty="0">
                <a:latin typeface="Calibri" panose="020F0502020204030204" pitchFamily="34" charset="0"/>
                <a:cs typeface="Calibri" panose="020F0502020204030204" pitchFamily="34" charset="0"/>
              </a:rPr>
              <a:t>Exploration bias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: The more visiting a state received during an exploration batch, the less likely the state will be revisited in the same exploration batch.</a:t>
            </a:r>
          </a:p>
          <a:p>
            <a:pPr marL="285750" indent="-285750">
              <a:spcAft>
                <a:spcPts val="300"/>
              </a:spcAft>
              <a:buFont typeface="Wingdings" pitchFamily="2" charset="2"/>
              <a:buChar char="q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Procedure wise, the neural network is retrained after each round of exploration with updated state values.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A03A00-5629-718D-114C-FF4394DE4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941" y="4203553"/>
            <a:ext cx="5325004" cy="236325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AEE2BAC-612C-205C-F159-0A75A2B250E9}"/>
              </a:ext>
            </a:extLst>
          </p:cNvPr>
          <p:cNvGrpSpPr/>
          <p:nvPr/>
        </p:nvGrpSpPr>
        <p:grpSpPr>
          <a:xfrm>
            <a:off x="7097441" y="4194409"/>
            <a:ext cx="3330083" cy="2182283"/>
            <a:chOff x="6982317" y="3542376"/>
            <a:chExt cx="4125954" cy="279704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4866889-E78E-B689-ACB8-A55817C6F5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63321" y="3542376"/>
              <a:ext cx="4044950" cy="279704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25AF72E-4EF2-37C1-9DB3-07F98070AC4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82317" y="4520006"/>
              <a:ext cx="1374283" cy="9161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78818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75C05-0D45-EDB6-B1F1-667A5F927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896DD37-C61D-4910-A6F3-6DB95A66DAD1}"/>
              </a:ext>
            </a:extLst>
          </p:cNvPr>
          <p:cNvCxnSpPr>
            <a:cxnSpLocks/>
          </p:cNvCxnSpPr>
          <p:nvPr/>
        </p:nvCxnSpPr>
        <p:spPr>
          <a:xfrm>
            <a:off x="89452" y="794349"/>
            <a:ext cx="11959678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100000">
                  <a:srgbClr val="00BFF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73119B0-2979-80BE-DD14-AADAD71EF7CC}"/>
              </a:ext>
            </a:extLst>
          </p:cNvPr>
          <p:cNvSpPr txBox="1"/>
          <p:nvPr/>
        </p:nvSpPr>
        <p:spPr>
          <a:xfrm>
            <a:off x="271250" y="132682"/>
            <a:ext cx="11777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Objective: Train and Explore Species Given CH</a:t>
            </a:r>
            <a:r>
              <a:rPr lang="en-GB" sz="2600" b="1" baseline="-25000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4</a:t>
            </a:r>
            <a:r>
              <a:rPr lang="en-GB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 Reaction Intermediates</a:t>
            </a:r>
            <a:endParaRPr lang="en-GB" sz="2600" b="1" noProof="0" dirty="0">
              <a:solidFill>
                <a:srgbClr val="2E2C28"/>
              </a:solidFill>
              <a:latin typeface="Garamond" panose="02020404030301010803" pitchFamily="18" charset="0"/>
              <a:cs typeface="Arial" panose="020B0604020202020204" pitchFamily="34" charset="0"/>
            </a:endParaRPr>
          </a:p>
        </p:txBody>
      </p:sp>
      <p:sp>
        <p:nvSpPr>
          <p:cNvPr id="63" name="Slide Number Placeholder 15">
            <a:extLst>
              <a:ext uri="{FF2B5EF4-FFF2-40B4-BE49-F238E27FC236}">
                <a16:creationId xmlns:a16="http://schemas.microsoft.com/office/drawing/2014/main" id="{DC9ED09B-2DA0-1640-D6FA-8687D8CFC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en-GB" noProof="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DC1F8F-81BE-47C8-6ED1-62F1347C1169}"/>
              </a:ext>
            </a:extLst>
          </p:cNvPr>
          <p:cNvSpPr txBox="1"/>
          <p:nvPr/>
        </p:nvSpPr>
        <p:spPr>
          <a:xfrm>
            <a:off x="358698" y="941049"/>
            <a:ext cx="10995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300"/>
              </a:spcAft>
              <a:buFont typeface="Wingdings" pitchFamily="2" charset="2"/>
              <a:buChar char="q"/>
            </a:pP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E274DA-663E-4A5F-CEF4-2CE44DE3D0B4}"/>
              </a:ext>
            </a:extLst>
          </p:cNvPr>
          <p:cNvSpPr txBox="1"/>
          <p:nvPr/>
        </p:nvSpPr>
        <p:spPr>
          <a:xfrm>
            <a:off x="358698" y="1088191"/>
            <a:ext cx="10995102" cy="5732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Objectives:</a:t>
            </a:r>
          </a:p>
          <a:p>
            <a:pPr marL="285750" indent="-285750">
              <a:spcAft>
                <a:spcPts val="300"/>
              </a:spcAft>
              <a:buFont typeface="Wingdings" pitchFamily="2" charset="2"/>
              <a:buChar char="q"/>
            </a:pPr>
            <a:r>
              <a:rPr lang="en-US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Step I: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Exploit the domain knowledge from a given species set.</a:t>
            </a:r>
          </a:p>
          <a:p>
            <a:pPr marL="285750" indent="-285750">
              <a:spcAft>
                <a:spcPts val="300"/>
              </a:spcAft>
              <a:buFont typeface="Wingdings" pitchFamily="2" charset="2"/>
              <a:buChar char="q"/>
            </a:pPr>
            <a:r>
              <a:rPr lang="en-US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Step II: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Explore possible unknown species given the domain knowledge (acquired by neural network)</a:t>
            </a:r>
          </a:p>
          <a:p>
            <a:pPr marL="285750" indent="-285750">
              <a:spcAft>
                <a:spcPts val="300"/>
              </a:spcAft>
              <a:buFont typeface="Wingdings" pitchFamily="2" charset="2"/>
              <a:buChar char="q"/>
            </a:pPr>
            <a:endParaRPr lang="en-US" b="1" dirty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300"/>
              </a:spcAft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Test System Given Species:</a:t>
            </a:r>
          </a:p>
          <a:p>
            <a:pPr marL="285750" indent="-285750">
              <a:spcAft>
                <a:spcPts val="300"/>
              </a:spcAft>
              <a:buFont typeface="Wingdings" pitchFamily="2" charset="2"/>
              <a:buChar char="q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US" b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/O</a:t>
            </a:r>
            <a:r>
              <a:rPr lang="en-US" b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  <a:p>
            <a:pPr marL="742950" lvl="1" indent="-2857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O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H, O, OH, H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O,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HO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H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  <a:p>
            <a:pPr marL="285750" indent="-285750">
              <a:spcAft>
                <a:spcPts val="300"/>
              </a:spcAft>
              <a:buFont typeface="Wingdings" pitchFamily="2" charset="2"/>
              <a:buChar char="q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CO/CO</a:t>
            </a:r>
            <a:r>
              <a:rPr lang="en-US" b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  <a:p>
            <a:pPr marL="742950" lvl="1" indent="-2857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CO, CO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HCO, CH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</a:p>
          <a:p>
            <a:pPr marL="285750" indent="-285750">
              <a:spcAft>
                <a:spcPts val="300"/>
              </a:spcAft>
              <a:buFont typeface="Wingdings" pitchFamily="2" charset="2"/>
              <a:buChar char="q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  <a:p>
            <a:pPr marL="742950" lvl="1" indent="-2857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CH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CH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CH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  <a:p>
            <a:pPr marL="742950" lvl="1" indent="-2857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CH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CH, C</a:t>
            </a:r>
          </a:p>
          <a:p>
            <a:pPr marL="742950" lvl="1" indent="-2857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CH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O, CH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OH, CH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OH</a:t>
            </a:r>
          </a:p>
          <a:p>
            <a:pPr marL="285750" indent="-285750">
              <a:spcAft>
                <a:spcPts val="300"/>
              </a:spcAft>
              <a:buFont typeface="Wingdings" pitchFamily="2" charset="2"/>
              <a:buChar char="q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  <a:p>
            <a:pPr marL="742950" lvl="1" indent="-2857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C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C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C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C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C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</a:p>
          <a:p>
            <a:pPr marL="742950" lvl="1" indent="-2857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HCCO, CH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CO, CH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CHO, CH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CHO, CH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</a:t>
            </a:r>
          </a:p>
          <a:p>
            <a:pPr marL="742950" lvl="1" indent="-285750">
              <a:spcAft>
                <a:spcPts val="300"/>
              </a:spcAft>
              <a:buFont typeface="Courier New" panose="02070309020205020404" pitchFamily="49" charset="0"/>
              <a:buChar char="o"/>
            </a:pP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Aft>
                <a:spcPts val="300"/>
              </a:spcAft>
              <a:buFont typeface="Wingdings" pitchFamily="2" charset="2"/>
              <a:buChar char="q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846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508F0-497D-83F6-6579-9382313B9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2D50360-9B51-8201-F34A-F878F1D9AA8D}"/>
              </a:ext>
            </a:extLst>
          </p:cNvPr>
          <p:cNvCxnSpPr>
            <a:cxnSpLocks/>
          </p:cNvCxnSpPr>
          <p:nvPr/>
        </p:nvCxnSpPr>
        <p:spPr>
          <a:xfrm>
            <a:off x="89452" y="794349"/>
            <a:ext cx="11959678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100000">
                  <a:srgbClr val="00BFF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0070377-6B70-3E03-8C72-9D71F9EA5269}"/>
              </a:ext>
            </a:extLst>
          </p:cNvPr>
          <p:cNvSpPr txBox="1"/>
          <p:nvPr/>
        </p:nvSpPr>
        <p:spPr>
          <a:xfrm>
            <a:off x="271250" y="132682"/>
            <a:ext cx="11777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Stage I: Exploit Known Domain Knowledge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9CDAC1C-C5D8-BDC5-17F9-4AC086C113F4}"/>
                  </a:ext>
                </a:extLst>
              </p:cNvPr>
              <p:cNvSpPr txBox="1"/>
              <p:nvPr/>
            </p:nvSpPr>
            <p:spPr>
              <a:xfrm>
                <a:off x="271250" y="1125715"/>
                <a:ext cx="10796554" cy="9917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spcAft>
                    <a:spcPts val="300"/>
                  </a:spcAft>
                  <a:buFont typeface="Courier New" panose="02070309020205020404" pitchFamily="49" charset="0"/>
                  <a:buChar char="o"/>
                </a:pPr>
                <a:r>
                  <a:rPr lang="en-US" sz="1600" dirty="0">
                    <a:solidFill>
                      <a:srgbClr val="2E2C28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For a given species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 err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 err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600" i="1" dirty="0" err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2E2C28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, there 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 err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 err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600" i="1" dirty="0" err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0000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600" dirty="0">
                    <a:solidFill>
                      <a:srgbClr val="2E2C28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approaches to reach to final molecule.</a:t>
                </a:r>
              </a:p>
              <a:p>
                <a:pPr marL="285750" indent="-285750">
                  <a:spcAft>
                    <a:spcPts val="300"/>
                  </a:spcAft>
                  <a:buFont typeface="Courier New" panose="02070309020205020404" pitchFamily="49" charset="0"/>
                  <a:buChar char="o"/>
                </a:pPr>
                <a:r>
                  <a:rPr lang="en-US" sz="1600" dirty="0">
                    <a:solidFill>
                      <a:srgbClr val="2E2C28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For example, CH</a:t>
                </a:r>
                <a:r>
                  <a:rPr lang="en-US" sz="1600" baseline="-25000" dirty="0">
                    <a:solidFill>
                      <a:srgbClr val="2E2C28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  <a:r>
                  <a:rPr lang="en-US" sz="1600" dirty="0">
                    <a:solidFill>
                      <a:srgbClr val="2E2C28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O has</a:t>
                </a:r>
                <a:r>
                  <a:rPr lang="zh-CN" altLang="en-US" sz="1600" dirty="0">
                    <a:solidFill>
                      <a:srgbClr val="2E2C28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600" b="0" i="1" smtClean="0">
                            <a:solidFill>
                              <a:srgbClr val="2E2C28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1600" b="0" i="1" smtClean="0">
                                <a:solidFill>
                                  <a:srgbClr val="2E2C28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fPr>
                          <m:num>
                            <m:r>
                              <a:rPr lang="en-US" altLang="zh-CN" sz="1600" b="0" i="1" smtClean="0">
                                <a:solidFill>
                                  <a:srgbClr val="2E2C28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US" altLang="zh-CN" sz="1600" b="0" i="1" smtClean="0">
                                <a:solidFill>
                                  <a:srgbClr val="2E2C28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1,3,1</m:t>
                            </m:r>
                          </m:den>
                        </m:f>
                      </m:e>
                    </m:d>
                    <m:r>
                      <a:rPr lang="en-US" altLang="zh-CN" sz="1600" b="0" i="1" smtClean="0">
                        <a:solidFill>
                          <a:srgbClr val="2E2C28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solidFill>
                              <a:srgbClr val="2E2C28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solidFill>
                              <a:srgbClr val="2E2C28"/>
                            </a:solidFill>
                            <a:latin typeface="Cambria Math" panose="02040503050406030204" pitchFamily="18" charset="0"/>
                          </a:rPr>
                          <m:t>5!</m:t>
                        </m:r>
                      </m:num>
                      <m:den>
                        <m:r>
                          <a:rPr lang="en-US" altLang="zh-CN" sz="1600" b="0" i="1" smtClean="0">
                            <a:solidFill>
                              <a:srgbClr val="2E2C28"/>
                            </a:solidFill>
                            <a:latin typeface="Cambria Math" panose="02040503050406030204" pitchFamily="18" charset="0"/>
                          </a:rPr>
                          <m:t>1!⋅3!⋅1!</m:t>
                        </m:r>
                      </m:den>
                    </m:f>
                    <m:r>
                      <a:rPr lang="en-US" altLang="zh-CN" sz="1600" b="0" i="1" smtClean="0">
                        <a:solidFill>
                          <a:srgbClr val="2E2C28"/>
                        </a:solidFill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lang="en-US" sz="1600" dirty="0">
                    <a:solidFill>
                      <a:srgbClr val="2E2C28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600" u="sng" dirty="0">
                    <a:solidFill>
                      <a:srgbClr val="2E2C28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construction approaches</a:t>
                </a:r>
                <a:r>
                  <a:rPr lang="en-US" sz="1600" i="1" dirty="0">
                    <a:solidFill>
                      <a:srgbClr val="2E2C28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600" i="1" dirty="0">
                    <a:solidFill>
                      <a:srgbClr val="0000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considering</a:t>
                </a:r>
                <a:r>
                  <a:rPr lang="en-US" sz="1600" dirty="0">
                    <a:solidFill>
                      <a:srgbClr val="0000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isomorphism</a:t>
                </a:r>
                <a:r>
                  <a:rPr lang="en-US" sz="1600" dirty="0">
                    <a:solidFill>
                      <a:srgbClr val="2E2C28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(i.e. same type of atom are fundamentally the same with respect to the graph structure)</a:t>
                </a:r>
                <a:endParaRPr lang="en-US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9CDAC1C-C5D8-BDC5-17F9-4AC086C113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250" y="1125715"/>
                <a:ext cx="10796554" cy="991746"/>
              </a:xfrm>
              <a:prstGeom prst="rect">
                <a:avLst/>
              </a:prstGeom>
              <a:blipFill>
                <a:blip r:embed="rId3"/>
                <a:stretch>
                  <a:fillRect l="-235" t="-1266" b="-63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Slide Number Placeholder 15">
            <a:extLst>
              <a:ext uri="{FF2B5EF4-FFF2-40B4-BE49-F238E27FC236}">
                <a16:creationId xmlns:a16="http://schemas.microsoft.com/office/drawing/2014/main" id="{05F570D2-5742-4D34-DF59-0A7069197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en-GB" dirty="0"/>
              <a:t>3</a:t>
            </a:r>
            <a:endParaRPr lang="en-GB" noProof="0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A8AB4FB-A836-0C59-F3C8-226FC700677E}"/>
              </a:ext>
            </a:extLst>
          </p:cNvPr>
          <p:cNvGrpSpPr/>
          <p:nvPr/>
        </p:nvGrpSpPr>
        <p:grpSpPr>
          <a:xfrm>
            <a:off x="210422" y="2117461"/>
            <a:ext cx="7211290" cy="4074563"/>
            <a:chOff x="4682837" y="2448827"/>
            <a:chExt cx="7211290" cy="4074563"/>
          </a:xfrm>
        </p:grpSpPr>
        <p:sp>
          <p:nvSpPr>
            <p:cNvPr id="46" name="Right Arrow 45">
              <a:extLst>
                <a:ext uri="{FF2B5EF4-FFF2-40B4-BE49-F238E27FC236}">
                  <a16:creationId xmlns:a16="http://schemas.microsoft.com/office/drawing/2014/main" id="{246D1E0A-2309-023D-D75F-22A0CC6FB4AE}"/>
                </a:ext>
              </a:extLst>
            </p:cNvPr>
            <p:cNvSpPr/>
            <p:nvPr/>
          </p:nvSpPr>
          <p:spPr>
            <a:xfrm rot="10800000" flipV="1">
              <a:off x="6102902" y="5050112"/>
              <a:ext cx="1054928" cy="324076"/>
            </a:xfrm>
            <a:prstGeom prst="rightArrow">
              <a:avLst>
                <a:gd name="adj1" fmla="val 50000"/>
                <a:gd name="adj2" fmla="val 121703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1E70495-9B61-E7F2-00DD-1C34EC312C11}"/>
                </a:ext>
              </a:extLst>
            </p:cNvPr>
            <p:cNvSpPr/>
            <p:nvPr/>
          </p:nvSpPr>
          <p:spPr>
            <a:xfrm>
              <a:off x="5188488" y="4858236"/>
              <a:ext cx="831519" cy="741219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STOP</a:t>
              </a:r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3F81D0B2-C9B6-C20F-A738-B1A2F642F6A7}"/>
                </a:ext>
              </a:extLst>
            </p:cNvPr>
            <p:cNvGrpSpPr/>
            <p:nvPr/>
          </p:nvGrpSpPr>
          <p:grpSpPr>
            <a:xfrm>
              <a:off x="4682837" y="2448827"/>
              <a:ext cx="7211290" cy="4074563"/>
              <a:chOff x="4682837" y="2448827"/>
              <a:chExt cx="7211290" cy="4074563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43CC5EF9-9C80-FC73-C0C5-1954291AA5AC}"/>
                  </a:ext>
                </a:extLst>
              </p:cNvPr>
              <p:cNvGrpSpPr/>
              <p:nvPr/>
            </p:nvGrpSpPr>
            <p:grpSpPr>
              <a:xfrm>
                <a:off x="4682837" y="2448827"/>
                <a:ext cx="6968836" cy="3614824"/>
                <a:chOff x="173182" y="2281984"/>
                <a:chExt cx="9518385" cy="3987196"/>
              </a:xfrm>
            </p:grpSpPr>
            <p:pic>
              <p:nvPicPr>
                <p:cNvPr id="32" name="Picture 31">
                  <a:extLst>
                    <a:ext uri="{FF2B5EF4-FFF2-40B4-BE49-F238E27FC236}">
                      <a16:creationId xmlns:a16="http://schemas.microsoft.com/office/drawing/2014/main" id="{40190989-CDF8-B9D5-229D-D944DCBFDF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73182" y="2281984"/>
                  <a:ext cx="2334916" cy="1835727"/>
                </a:xfrm>
                <a:prstGeom prst="rect">
                  <a:avLst/>
                </a:prstGeom>
                <a:ln>
                  <a:noFill/>
                </a:ln>
                <a:effectLst>
                  <a:softEdge rad="112500"/>
                </a:effectLst>
              </p:spPr>
            </p:pic>
            <p:pic>
              <p:nvPicPr>
                <p:cNvPr id="34" name="Picture 33">
                  <a:extLst>
                    <a:ext uri="{FF2B5EF4-FFF2-40B4-BE49-F238E27FC236}">
                      <a16:creationId xmlns:a16="http://schemas.microsoft.com/office/drawing/2014/main" id="{8632C14B-2A84-7C9E-C70F-5798B8B1E1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336408" y="2281986"/>
                  <a:ext cx="2334916" cy="1835727"/>
                </a:xfrm>
                <a:prstGeom prst="rect">
                  <a:avLst/>
                </a:prstGeom>
                <a:ln>
                  <a:noFill/>
                </a:ln>
                <a:effectLst>
                  <a:softEdge rad="112500"/>
                </a:effectLst>
              </p:spPr>
            </p:pic>
            <p:pic>
              <p:nvPicPr>
                <p:cNvPr id="36" name="Picture 35">
                  <a:extLst>
                    <a:ext uri="{FF2B5EF4-FFF2-40B4-BE49-F238E27FC236}">
                      <a16:creationId xmlns:a16="http://schemas.microsoft.com/office/drawing/2014/main" id="{B210D834-14F3-2F89-14B6-0281DEAE651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568904" y="2281984"/>
                  <a:ext cx="2334916" cy="1835727"/>
                </a:xfrm>
                <a:prstGeom prst="rect">
                  <a:avLst/>
                </a:prstGeom>
                <a:ln>
                  <a:noFill/>
                </a:ln>
                <a:effectLst>
                  <a:softEdge rad="112500"/>
                </a:effectLst>
              </p:spPr>
            </p:pic>
            <p:pic>
              <p:nvPicPr>
                <p:cNvPr id="38" name="Picture 37">
                  <a:extLst>
                    <a:ext uri="{FF2B5EF4-FFF2-40B4-BE49-F238E27FC236}">
                      <a16:creationId xmlns:a16="http://schemas.microsoft.com/office/drawing/2014/main" id="{A441AEA0-59E9-EB9E-96E2-E0D8FE9BB6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707446" y="4427579"/>
                  <a:ext cx="2342387" cy="1841601"/>
                </a:xfrm>
                <a:prstGeom prst="rect">
                  <a:avLst/>
                </a:prstGeom>
                <a:ln>
                  <a:noFill/>
                </a:ln>
                <a:effectLst>
                  <a:softEdge rad="112500"/>
                </a:effectLst>
              </p:spPr>
            </p:pic>
            <p:pic>
              <p:nvPicPr>
                <p:cNvPr id="40" name="Picture 39">
                  <a:extLst>
                    <a:ext uri="{FF2B5EF4-FFF2-40B4-BE49-F238E27FC236}">
                      <a16:creationId xmlns:a16="http://schemas.microsoft.com/office/drawing/2014/main" id="{53F0A251-BB1F-46CD-EE01-567E4CF3E17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474950" y="4433453"/>
                  <a:ext cx="2334916" cy="1835727"/>
                </a:xfrm>
                <a:prstGeom prst="rect">
                  <a:avLst/>
                </a:prstGeom>
                <a:ln>
                  <a:noFill/>
                </a:ln>
                <a:effectLst>
                  <a:softEdge rad="112500"/>
                </a:effectLst>
              </p:spPr>
            </p:pic>
            <p:sp>
              <p:nvSpPr>
                <p:cNvPr id="41" name="Right Arrow 40">
                  <a:extLst>
                    <a:ext uri="{FF2B5EF4-FFF2-40B4-BE49-F238E27FC236}">
                      <a16:creationId xmlns:a16="http://schemas.microsoft.com/office/drawing/2014/main" id="{40778DD8-29FB-99E2-2F83-588DDFC24982}"/>
                    </a:ext>
                  </a:extLst>
                </p:cNvPr>
                <p:cNvSpPr/>
                <p:nvPr/>
              </p:nvSpPr>
              <p:spPr>
                <a:xfrm flipV="1">
                  <a:off x="2034077" y="3073008"/>
                  <a:ext cx="1440873" cy="357460"/>
                </a:xfrm>
                <a:prstGeom prst="rightArrow">
                  <a:avLst>
                    <a:gd name="adj1" fmla="val 50000"/>
                    <a:gd name="adj2" fmla="val 121703"/>
                  </a:avLst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2" name="Right Arrow 41">
                  <a:extLst>
                    <a:ext uri="{FF2B5EF4-FFF2-40B4-BE49-F238E27FC236}">
                      <a16:creationId xmlns:a16="http://schemas.microsoft.com/office/drawing/2014/main" id="{11B11C9A-5C6B-1B7D-7EE5-B9057FCA7B2F}"/>
                    </a:ext>
                  </a:extLst>
                </p:cNvPr>
                <p:cNvSpPr/>
                <p:nvPr/>
              </p:nvSpPr>
              <p:spPr>
                <a:xfrm flipV="1">
                  <a:off x="5399678" y="3093790"/>
                  <a:ext cx="1440873" cy="357460"/>
                </a:xfrm>
                <a:prstGeom prst="rightArrow">
                  <a:avLst>
                    <a:gd name="adj1" fmla="val 50000"/>
                    <a:gd name="adj2" fmla="val 121703"/>
                  </a:avLst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3" name="Right Arrow 42">
                  <a:extLst>
                    <a:ext uri="{FF2B5EF4-FFF2-40B4-BE49-F238E27FC236}">
                      <a16:creationId xmlns:a16="http://schemas.microsoft.com/office/drawing/2014/main" id="{4437CBFD-57B4-CE45-5486-79371E767C65}"/>
                    </a:ext>
                  </a:extLst>
                </p:cNvPr>
                <p:cNvSpPr/>
                <p:nvPr/>
              </p:nvSpPr>
              <p:spPr>
                <a:xfrm rot="10800000" flipV="1">
                  <a:off x="5581121" y="5237658"/>
                  <a:ext cx="1440873" cy="357460"/>
                </a:xfrm>
                <a:prstGeom prst="rightArrow">
                  <a:avLst>
                    <a:gd name="adj1" fmla="val 50000"/>
                    <a:gd name="adj2" fmla="val 121703"/>
                  </a:avLst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4" name="Curved Down Arrow 43">
                  <a:extLst>
                    <a:ext uri="{FF2B5EF4-FFF2-40B4-BE49-F238E27FC236}">
                      <a16:creationId xmlns:a16="http://schemas.microsoft.com/office/drawing/2014/main" id="{C9600513-EBB4-89F4-4783-0FFCF7050CA8}"/>
                    </a:ext>
                  </a:extLst>
                </p:cNvPr>
                <p:cNvSpPr/>
                <p:nvPr/>
              </p:nvSpPr>
              <p:spPr>
                <a:xfrm rot="5400000">
                  <a:off x="8208415" y="4094869"/>
                  <a:ext cx="2234783" cy="731520"/>
                </a:xfrm>
                <a:prstGeom prst="curvedDownArrow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145417DE-EC97-ED4E-8C30-557AEDC214DF}"/>
                  </a:ext>
                </a:extLst>
              </p:cNvPr>
              <p:cNvSpPr/>
              <p:nvPr/>
            </p:nvSpPr>
            <p:spPr>
              <a:xfrm>
                <a:off x="4682837" y="2687779"/>
                <a:ext cx="7211290" cy="3782294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536B88A-A1D4-F681-2D72-FBAAD2975475}"/>
                  </a:ext>
                </a:extLst>
              </p:cNvPr>
              <p:cNvSpPr txBox="1"/>
              <p:nvPr/>
            </p:nvSpPr>
            <p:spPr>
              <a:xfrm>
                <a:off x="5464625" y="3927766"/>
                <a:ext cx="27924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O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E3CAA7B-9C6C-2AF3-EA04-A044F0055441}"/>
                  </a:ext>
                </a:extLst>
              </p:cNvPr>
              <p:cNvSpPr txBox="1"/>
              <p:nvPr/>
            </p:nvSpPr>
            <p:spPr>
              <a:xfrm>
                <a:off x="7716083" y="3972822"/>
                <a:ext cx="53732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C — O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37A1328-CF76-3EC5-F318-129325FFF5D6}"/>
                  </a:ext>
                </a:extLst>
              </p:cNvPr>
              <p:cNvSpPr txBox="1"/>
              <p:nvPr/>
            </p:nvSpPr>
            <p:spPr>
              <a:xfrm>
                <a:off x="10114487" y="3770973"/>
                <a:ext cx="486030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H</a:t>
                </a:r>
              </a:p>
              <a:p>
                <a:r>
                  <a:rPr lang="en-US" sz="1000" dirty="0"/>
                  <a:t> |</a:t>
                </a:r>
              </a:p>
              <a:p>
                <a:r>
                  <a:rPr lang="en-US" sz="1000" dirty="0"/>
                  <a:t>C—O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E101130-6DC0-4324-B73B-7BF862CA868C}"/>
                  </a:ext>
                </a:extLst>
              </p:cNvPr>
              <p:cNvSpPr txBox="1"/>
              <p:nvPr/>
            </p:nvSpPr>
            <p:spPr>
              <a:xfrm>
                <a:off x="10000951" y="5836311"/>
                <a:ext cx="1226127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000" dirty="0"/>
                  <a:t>         H</a:t>
                </a:r>
              </a:p>
              <a:p>
                <a:r>
                  <a:rPr lang="en-US" sz="1000" dirty="0"/>
                  <a:t>          |</a:t>
                </a:r>
              </a:p>
              <a:p>
                <a:r>
                  <a:rPr lang="en-US" sz="1000" dirty="0"/>
                  <a:t>H— C—O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55B07E9-BDF0-9EAD-6AC3-000BA4E0D0EA}"/>
                  </a:ext>
                </a:extLst>
              </p:cNvPr>
              <p:cNvSpPr txBox="1"/>
              <p:nvPr/>
            </p:nvSpPr>
            <p:spPr>
              <a:xfrm>
                <a:off x="7770894" y="5661616"/>
                <a:ext cx="1226127" cy="861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000" dirty="0"/>
                  <a:t>         H</a:t>
                </a:r>
              </a:p>
              <a:p>
                <a:r>
                  <a:rPr lang="en-US" sz="1000" dirty="0"/>
                  <a:t>          |</a:t>
                </a:r>
              </a:p>
              <a:p>
                <a:r>
                  <a:rPr lang="en-US" sz="1000" dirty="0"/>
                  <a:t>H— C—O</a:t>
                </a:r>
              </a:p>
              <a:p>
                <a:r>
                  <a:rPr lang="en-US" sz="1000" dirty="0"/>
                  <a:t>          |</a:t>
                </a:r>
              </a:p>
              <a:p>
                <a:r>
                  <a:rPr lang="en-US" sz="1000" dirty="0"/>
                  <a:t>         H</a:t>
                </a:r>
              </a:p>
            </p:txBody>
          </p:sp>
        </p:grp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21C4060C-F2C9-249E-601B-F77D44AB6453}"/>
              </a:ext>
            </a:extLst>
          </p:cNvPr>
          <p:cNvSpPr txBox="1"/>
          <p:nvPr/>
        </p:nvSpPr>
        <p:spPr>
          <a:xfrm>
            <a:off x="7452812" y="3269542"/>
            <a:ext cx="468825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i="1" u="sng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 example of forming CH</a:t>
            </a:r>
            <a:r>
              <a:rPr lang="en-US" sz="1600" i="1" u="sng" baseline="-25000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1600" i="1" u="sng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US" sz="1600" i="1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Notice that ‘STOP’ is also a part of the procedure.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1600" i="1" dirty="0">
              <a:solidFill>
                <a:srgbClr val="2E2C2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i="1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Incorporating  ‘STOP’ helps the agent to naturally determine when the process will terminate instead of choosing fix number of construction steps.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1600" i="1" dirty="0">
              <a:solidFill>
                <a:srgbClr val="2E2C2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i="1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Neural network will learn the policy from the decision of each step. 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09234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00C45-9C19-85C3-628E-80B036735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DAC1F80-621C-F581-78F4-6F87E1886A55}"/>
              </a:ext>
            </a:extLst>
          </p:cNvPr>
          <p:cNvCxnSpPr>
            <a:cxnSpLocks/>
          </p:cNvCxnSpPr>
          <p:nvPr/>
        </p:nvCxnSpPr>
        <p:spPr>
          <a:xfrm>
            <a:off x="89452" y="794349"/>
            <a:ext cx="11959678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100000">
                  <a:srgbClr val="00BFF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6A2E0A2-67FF-4878-EFFF-58153328DA70}"/>
              </a:ext>
            </a:extLst>
          </p:cNvPr>
          <p:cNvSpPr txBox="1"/>
          <p:nvPr/>
        </p:nvSpPr>
        <p:spPr>
          <a:xfrm>
            <a:off x="271250" y="132682"/>
            <a:ext cx="11777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Stage I: Training Neural Network from Construction Approaches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8E2C94B-1B39-3CDF-C666-2991D13BFF74}"/>
                  </a:ext>
                </a:extLst>
              </p:cNvPr>
              <p:cNvSpPr txBox="1"/>
              <p:nvPr/>
            </p:nvSpPr>
            <p:spPr>
              <a:xfrm>
                <a:off x="271250" y="1125715"/>
                <a:ext cx="10796554" cy="22731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spcAft>
                    <a:spcPts val="300"/>
                  </a:spcAft>
                  <a:buFont typeface="Wingdings" pitchFamily="2" charset="2"/>
                  <a:buChar char="q"/>
                </a:pPr>
                <a:r>
                  <a:rPr lang="en-US" sz="1600" dirty="0">
                    <a:solidFill>
                      <a:srgbClr val="2E2C28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Train the agent (neural network) using the enumerated approaches with a few batches.</a:t>
                </a:r>
              </a:p>
              <a:p>
                <a:pPr marL="285750" indent="-285750">
                  <a:spcAft>
                    <a:spcPts val="300"/>
                  </a:spcAft>
                  <a:buFont typeface="Wingdings" pitchFamily="2" charset="2"/>
                  <a:buChar char="q"/>
                </a:pPr>
                <a:r>
                  <a:rPr lang="en-US" sz="1600" dirty="0">
                    <a:solidFill>
                      <a:srgbClr val="2E2C28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 each batch, choose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sz="1600" b="0" i="1" smtClean="0">
                            <a:solidFill>
                              <a:srgbClr val="2E2C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2E2C2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2E2C28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2E2C28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rgbClr val="2E2C28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sz="1600" b="0" i="1" smtClean="0">
                            <a:solidFill>
                              <a:srgbClr val="2E2C28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</m:oMath>
                </a14:m>
                <a:r>
                  <a:rPr 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number of approaches from every species,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n-US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spcAft>
                    <a:spcPts val="300"/>
                  </a:spcAft>
                  <a:buFont typeface="Wingdings" pitchFamily="2" charset="2"/>
                  <a:buChar char="q"/>
                </a:pPr>
                <a:r>
                  <a:rPr 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To keep each species equally weighted</a:t>
                </a:r>
              </a:p>
              <a:p>
                <a:pPr algn="ctr"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1600" i="0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0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0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m:rPr>
                              <m:brk m:alnAt="23"/>
                            </m:r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  <m:e>
                          <m:f>
                            <m:fPr>
                              <m:ctrlPr>
                                <a:rPr lang="en-US" sz="1600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nary>
                        <m:naryPr>
                          <m:chr m:val="∑"/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m:rPr>
                              <m:brk m:alnAt="23"/>
                            </m:r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sSub>
                            <m:sSubPr>
                              <m:ctrlP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sz="1600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nary>
                        <m:naryPr>
                          <m:chr m:val="∑"/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m:rPr>
                              <m:brk m:alnAt="23"/>
                            </m:r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sSub>
                            <m:sSubPr>
                              <m:ctrlP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sz="1600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dirty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  <m:sub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600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600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600" dirty="0"/>
              </a:p>
              <a:p>
                <a:pPr algn="ctr">
                  <a:spcAft>
                    <a:spcPts val="300"/>
                  </a:spcAft>
                </a:pPr>
                <a:r>
                  <a:rPr lang="en-US" sz="1600" dirty="0"/>
                  <a:t>where,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k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1600" b="0" i="1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nary>
                      <m:naryPr>
                        <m:chr m:val="∑"/>
                        <m:supHide m:val="on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7"/>
                          </m:rPr>
                          <a:rPr lang="en-US" sz="1600" b="0" i="1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brk m:alnAt="7"/>
                          </m:r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k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sub>
                      <m:sup/>
                      <m:e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e>
                    </m:nary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1600" b="0" i="1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US" sz="1600" b="0" i="1" smtClean="0">
                        <a:latin typeface="Cambria Math" panose="02040503050406030204" pitchFamily="18" charset="0"/>
                      </a:rPr>
                      <m:t>graph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1600" b="0" i="1" smtClean="0">
                        <a:latin typeface="Cambria Math" panose="02040503050406030204" pitchFamily="18" charset="0"/>
                      </a:rPr>
                      <m:t>molecule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sz="1600" dirty="0"/>
              </a:p>
              <a:p>
                <a:pPr algn="ctr">
                  <a:spcAft>
                    <a:spcPts val="300"/>
                  </a:spcAft>
                </a:pPr>
                <a:endParaRPr lang="en-US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8E2C94B-1B39-3CDF-C666-2991D13BFF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250" y="1125715"/>
                <a:ext cx="10796554" cy="2273186"/>
              </a:xfrm>
              <a:prstGeom prst="rect">
                <a:avLst/>
              </a:prstGeom>
              <a:blipFill>
                <a:blip r:embed="rId3"/>
                <a:stretch>
                  <a:fillRect l="-235" t="-556" b="-2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Slide Number Placeholder 15">
            <a:extLst>
              <a:ext uri="{FF2B5EF4-FFF2-40B4-BE49-F238E27FC236}">
                <a16:creationId xmlns:a16="http://schemas.microsoft.com/office/drawing/2014/main" id="{70C950E5-EB8F-4384-3154-BBAD70F47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en-GB" noProof="0" dirty="0"/>
              <a:t>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B1117F28-80ED-B31A-753F-F677041BCD6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691377"/>
                  </p:ext>
                </p:extLst>
              </p:nvPr>
            </p:nvGraphicFramePr>
            <p:xfrm>
              <a:off x="190004" y="3324084"/>
              <a:ext cx="8128002" cy="304076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4667">
                      <a:extLst>
                        <a:ext uri="{9D8B030D-6E8A-4147-A177-3AD203B41FA5}">
                          <a16:colId xmlns:a16="http://schemas.microsoft.com/office/drawing/2014/main" val="1727554729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52383032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1857803400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017900053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4045998506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602831726"/>
                        </a:ext>
                      </a:extLst>
                    </a:gridCol>
                  </a:tblGrid>
                  <a:tr h="1373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Species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5"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Construction 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772892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cs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1,1,1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cs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1,1,2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cs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,1,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k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sty m:val="p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STOP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750692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sty m:val="p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STOP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065404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cs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,1,1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cs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,1,2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cs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,1,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k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sty m:val="p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STOP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154260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sty m:val="p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STOP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707894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cs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n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cs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n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cs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n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k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sty m:val="p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STOP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735243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sty m:val="p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STOP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483259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cs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n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31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cs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n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31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cs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n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31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k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31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sty m:val="p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STOP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1620999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B1117F28-80ED-B31A-753F-F677041BCD6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691377"/>
                  </p:ext>
                </p:extLst>
              </p:nvPr>
            </p:nvGraphicFramePr>
            <p:xfrm>
              <a:off x="190004" y="3324084"/>
              <a:ext cx="8128002" cy="304076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4667">
                      <a:extLst>
                        <a:ext uri="{9D8B030D-6E8A-4147-A177-3AD203B41FA5}">
                          <a16:colId xmlns:a16="http://schemas.microsoft.com/office/drawing/2014/main" val="1727554729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52383032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1857803400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017900053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4045998506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602831726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Species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5"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Construction 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77289224"/>
                      </a:ext>
                    </a:extLst>
                  </a:tr>
                  <a:tr h="38931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100000" r="-500935" b="-5870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100000" r="-400935" b="-5870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100000" r="-300935" b="-5870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2830" t="-100000" r="-203774" b="-5870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99065" t="-100000" r="-101869" b="-5870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99065" t="-100000" r="-1869" b="-5870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50692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213793" r="-500935" b="-5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213793" r="-400935" b="-5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213793" r="-300935" b="-5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2830" t="-213793" r="-203774" b="-5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99065" t="-213793" r="-101869" b="-5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99065" t="-213793" r="-1869" b="-5275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6540498"/>
                      </a:ext>
                    </a:extLst>
                  </a:tr>
                  <a:tr h="39128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293548" r="-500935" b="-3935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293548" r="-400935" b="-3935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293548" r="-300935" b="-3935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2830" t="-293548" r="-203774" b="-3935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99065" t="-293548" r="-101869" b="-3935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99065" t="-293548" r="-1869" b="-3935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154260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406667" r="-500935" b="-3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406667" r="-400935" b="-3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406667" r="-300935" b="-3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2830" t="-406667" r="-203774" b="-3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99065" t="-406667" r="-101869" b="-3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99065" t="-406667" r="-1869" b="-3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0789435"/>
                      </a:ext>
                    </a:extLst>
                  </a:tr>
                  <a:tr h="39128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490323" r="-500935" b="-196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490323" r="-400935" b="-196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490323" r="-300935" b="-196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2830" t="-490323" r="-203774" b="-196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99065" t="-490323" r="-101869" b="-196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99065" t="-490323" r="-1869" b="-1967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35243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631034" r="-500935" b="-1103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631034" r="-400935" b="-1103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631034" r="-300935" b="-1103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2830" t="-631034" r="-203774" b="-1103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99065" t="-631034" r="-101869" b="-1103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99065" t="-631034" r="-1869" b="-1103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8325941"/>
                      </a:ext>
                    </a:extLst>
                  </a:tr>
                  <a:tr h="39058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683871" r="-500935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683871" r="-400935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683871" r="-300935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2830" t="-683871" r="-203774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99065" t="-683871" r="-101869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99065" t="-683871" r="-1869" b="-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620999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A08DEF6-EC45-762A-D3F3-C2C58ED29436}"/>
                  </a:ext>
                </a:extLst>
              </p:cNvPr>
              <p:cNvSpPr txBox="1"/>
              <p:nvPr/>
            </p:nvSpPr>
            <p:spPr>
              <a:xfrm>
                <a:off x="8427131" y="3976918"/>
                <a:ext cx="3689238" cy="1815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i="1" dirty="0">
                    <a:solidFill>
                      <a:srgbClr val="2E2C28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The table demonstrates the training samples. In this training example, there are in total 31 species as ‘ground truth’. A species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2E2C28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2E2C28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1600" i="1">
                            <a:solidFill>
                              <a:srgbClr val="2E2C28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i="1" dirty="0">
                    <a:solidFill>
                      <a:srgbClr val="2E2C28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has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2E2C28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2E2C28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</m:e>
                      <m:sub>
                        <m:r>
                          <a:rPr lang="en-US" sz="1600" i="1">
                            <a:solidFill>
                              <a:srgbClr val="2E2C28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i="1" dirty="0">
                    <a:solidFill>
                      <a:srgbClr val="2E2C28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number of construction approaches, and each approach has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2E2C28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 i="1" smtClean="0">
                            <a:solidFill>
                              <a:srgbClr val="2E2C28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k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2E2C28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2E2C28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+1</m:t>
                    </m:r>
                  </m:oMath>
                </a14:m>
                <a:r>
                  <a:rPr lang="en-US" sz="1600" i="1" dirty="0">
                    <a:solidFill>
                      <a:srgbClr val="2E2C28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number of steps,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2E2C28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 i="1" smtClean="0">
                            <a:solidFill>
                              <a:srgbClr val="2E2C28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k</m:t>
                        </m:r>
                      </m:e>
                      <m:sub>
                        <m:r>
                          <a:rPr lang="en-US" sz="1600" i="1">
                            <a:solidFill>
                              <a:srgbClr val="2E2C28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i="1" dirty="0">
                    <a:solidFill>
                      <a:srgbClr val="2E2C28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equivalent to the number of atoms it has.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A08DEF6-EC45-762A-D3F3-C2C58ED294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7131" y="3976918"/>
                <a:ext cx="3689238" cy="1815882"/>
              </a:xfrm>
              <a:prstGeom prst="rect">
                <a:avLst/>
              </a:prstGeom>
              <a:blipFill>
                <a:blip r:embed="rId5"/>
                <a:stretch>
                  <a:fillRect l="-1027" t="-690" r="-342" b="-2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2140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F2F0E-1A58-3E79-25BD-43AD9C0FE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22040DE-8BE7-596A-4C1A-89E626BF50E2}"/>
              </a:ext>
            </a:extLst>
          </p:cNvPr>
          <p:cNvCxnSpPr>
            <a:cxnSpLocks/>
          </p:cNvCxnSpPr>
          <p:nvPr/>
        </p:nvCxnSpPr>
        <p:spPr>
          <a:xfrm>
            <a:off x="89452" y="794349"/>
            <a:ext cx="11959678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100000">
                  <a:srgbClr val="00BFF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A01458B-107F-8300-D72D-ADCEAE8EBE37}"/>
              </a:ext>
            </a:extLst>
          </p:cNvPr>
          <p:cNvSpPr txBox="1"/>
          <p:nvPr/>
        </p:nvSpPr>
        <p:spPr>
          <a:xfrm>
            <a:off x="271250" y="132682"/>
            <a:ext cx="11777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Stage I: Sanity Check</a:t>
            </a:r>
          </a:p>
        </p:txBody>
      </p:sp>
      <p:sp>
        <p:nvSpPr>
          <p:cNvPr id="19" name="Slide Number Placeholder 15">
            <a:extLst>
              <a:ext uri="{FF2B5EF4-FFF2-40B4-BE49-F238E27FC236}">
                <a16:creationId xmlns:a16="http://schemas.microsoft.com/office/drawing/2014/main" id="{1E657D22-B3B1-36A4-8FB4-279AE67FB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en-GB" noProof="0" dirty="0"/>
              <a:t>5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7A17074-E0CA-8D33-6A8A-24D13A0FB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900" y="963574"/>
            <a:ext cx="3096379" cy="56277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CE58B1C-7197-A24F-D72B-0F5503F85E39}"/>
              </a:ext>
            </a:extLst>
          </p:cNvPr>
          <p:cNvSpPr txBox="1"/>
          <p:nvPr/>
        </p:nvSpPr>
        <p:spPr>
          <a:xfrm>
            <a:off x="6160190" y="3315880"/>
            <a:ext cx="81833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✅ All given species are successfully replicated </a:t>
            </a:r>
          </a:p>
          <a:p>
            <a:r>
              <a:rPr lang="en-US" dirty="0"/>
              <a:t>       by agent’s forward propagation.</a:t>
            </a:r>
          </a:p>
        </p:txBody>
      </p:sp>
    </p:spTree>
    <p:extLst>
      <p:ext uri="{BB962C8B-B14F-4D97-AF65-F5344CB8AC3E}">
        <p14:creationId xmlns:p14="http://schemas.microsoft.com/office/powerpoint/2010/main" val="2424968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3F2E2-C5F7-4CE9-68CB-8BB964BFE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70E0516-1135-2C97-A42B-57F73C57CB39}"/>
              </a:ext>
            </a:extLst>
          </p:cNvPr>
          <p:cNvCxnSpPr>
            <a:cxnSpLocks/>
          </p:cNvCxnSpPr>
          <p:nvPr/>
        </p:nvCxnSpPr>
        <p:spPr>
          <a:xfrm>
            <a:off x="89452" y="794349"/>
            <a:ext cx="11959678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100000">
                  <a:srgbClr val="00BFF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D8E4E3-51AD-1AA4-3CB0-16003E589B7C}"/>
              </a:ext>
            </a:extLst>
          </p:cNvPr>
          <p:cNvSpPr txBox="1"/>
          <p:nvPr/>
        </p:nvSpPr>
        <p:spPr>
          <a:xfrm>
            <a:off x="271250" y="132682"/>
            <a:ext cx="11777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Stage II: Exploration with Given Agent </a:t>
            </a:r>
          </a:p>
        </p:txBody>
      </p:sp>
      <p:sp>
        <p:nvSpPr>
          <p:cNvPr id="19" name="Slide Number Placeholder 15">
            <a:extLst>
              <a:ext uri="{FF2B5EF4-FFF2-40B4-BE49-F238E27FC236}">
                <a16:creationId xmlns:a16="http://schemas.microsoft.com/office/drawing/2014/main" id="{16AD9361-FD27-553A-AB66-EDF8580C6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en-GB" noProof="0" dirty="0"/>
              <a:t>6</a:t>
            </a:r>
          </a:p>
        </p:txBody>
      </p:sp>
      <p:pic>
        <p:nvPicPr>
          <p:cNvPr id="2" name="exploration_growth">
            <a:hlinkClick r:id="" action="ppaction://media"/>
            <a:extLst>
              <a:ext uri="{FF2B5EF4-FFF2-40B4-BE49-F238E27FC236}">
                <a16:creationId xmlns:a16="http://schemas.microsoft.com/office/drawing/2014/main" id="{CB0FEE16-7ABD-D76C-7F77-BCC4ABB73B1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312985" y="879231"/>
            <a:ext cx="9566030" cy="5978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501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655DE-AD62-28DC-9006-BDA294F41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9DF40F8-6976-057F-DD5E-DA3F1A91C86B}"/>
              </a:ext>
            </a:extLst>
          </p:cNvPr>
          <p:cNvCxnSpPr>
            <a:cxnSpLocks/>
          </p:cNvCxnSpPr>
          <p:nvPr/>
        </p:nvCxnSpPr>
        <p:spPr>
          <a:xfrm>
            <a:off x="89452" y="794349"/>
            <a:ext cx="11959678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100000">
                  <a:srgbClr val="00BFF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85032B6-F600-04A5-3704-33499FCDF669}"/>
              </a:ext>
            </a:extLst>
          </p:cNvPr>
          <p:cNvSpPr txBox="1"/>
          <p:nvPr/>
        </p:nvSpPr>
        <p:spPr>
          <a:xfrm>
            <a:off x="271250" y="132682"/>
            <a:ext cx="11777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Stage II: Exploration Summary</a:t>
            </a:r>
          </a:p>
        </p:txBody>
      </p:sp>
      <p:sp>
        <p:nvSpPr>
          <p:cNvPr id="19" name="Slide Number Placeholder 15">
            <a:extLst>
              <a:ext uri="{FF2B5EF4-FFF2-40B4-BE49-F238E27FC236}">
                <a16:creationId xmlns:a16="http://schemas.microsoft.com/office/drawing/2014/main" id="{48BD00EE-D3FA-45F1-4E11-2B79881DB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en-GB" noProof="0" dirty="0"/>
              <a:t>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B24CFF-0A8A-D853-929A-95DEA46BDF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250" y="846699"/>
            <a:ext cx="7772400" cy="595110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D3F1B25-695C-FC01-F9A0-B890D49E626F}"/>
              </a:ext>
            </a:extLst>
          </p:cNvPr>
          <p:cNvSpPr/>
          <p:nvPr/>
        </p:nvSpPr>
        <p:spPr>
          <a:xfrm>
            <a:off x="6534443" y="5282418"/>
            <a:ext cx="1667022" cy="15755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6F6639-1C49-CBE8-1443-178659B23A1A}"/>
              </a:ext>
            </a:extLst>
          </p:cNvPr>
          <p:cNvSpPr txBox="1"/>
          <p:nvPr/>
        </p:nvSpPr>
        <p:spPr>
          <a:xfrm>
            <a:off x="8043650" y="2145987"/>
            <a:ext cx="400548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Discovery of Unknown Species: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No </a:t>
            </a:r>
            <a:r>
              <a:rPr lang="en-GB" sz="160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long-chain hydroperoxyl </a:t>
            </a: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is shown in the explored species list without external constraints.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No </a:t>
            </a:r>
            <a:r>
              <a:rPr lang="en-US" sz="160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long-chain hydrocarbon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is shown in the explored species list.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Aforementioned observations proof that with positive example only, the agent is capable to mimic the molecular structure of given species set, and stop at flexible yet reasonable step.</a:t>
            </a:r>
          </a:p>
        </p:txBody>
      </p:sp>
    </p:spTree>
    <p:extLst>
      <p:ext uri="{BB962C8B-B14F-4D97-AF65-F5344CB8AC3E}">
        <p14:creationId xmlns:p14="http://schemas.microsoft.com/office/powerpoint/2010/main" val="678534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D676C-494B-3284-A7F6-CB1F11B08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9D8B25C-7EB7-47F0-940B-FD46721503C0}"/>
              </a:ext>
            </a:extLst>
          </p:cNvPr>
          <p:cNvCxnSpPr>
            <a:cxnSpLocks/>
          </p:cNvCxnSpPr>
          <p:nvPr/>
        </p:nvCxnSpPr>
        <p:spPr>
          <a:xfrm>
            <a:off x="89452" y="794349"/>
            <a:ext cx="11959678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100000">
                  <a:srgbClr val="00BFF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DD16916-F493-F1AE-2B45-F3F55456A805}"/>
              </a:ext>
            </a:extLst>
          </p:cNvPr>
          <p:cNvSpPr txBox="1"/>
          <p:nvPr/>
        </p:nvSpPr>
        <p:spPr>
          <a:xfrm>
            <a:off x="271250" y="132682"/>
            <a:ext cx="11777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Achievement and Further</a:t>
            </a:r>
            <a:r>
              <a:rPr lang="zh-CN" altLang="en-US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 </a:t>
            </a:r>
            <a:r>
              <a:rPr lang="en-US" altLang="zh-CN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Implementation</a:t>
            </a:r>
            <a:r>
              <a:rPr lang="en-US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18A0318-D0F3-91E6-C425-13B70005E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/>
              <a:t>8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D2FF95-1F7A-6135-204E-1A0CFFE337F4}"/>
              </a:ext>
            </a:extLst>
          </p:cNvPr>
          <p:cNvSpPr txBox="1"/>
          <p:nvPr/>
        </p:nvSpPr>
        <p:spPr>
          <a:xfrm>
            <a:off x="358698" y="1384027"/>
            <a:ext cx="10995102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300"/>
              </a:spcAft>
              <a:buFont typeface="Wingdings" pitchFamily="2" charset="2"/>
              <a:buChar char="q"/>
            </a:pPr>
            <a:r>
              <a:rPr lang="en-US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Achieved: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zh-CN" altLang="en-US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neural network agent is capable to acquire domain knowledge, replicate given molecules, and extend this knowledge in discover species.</a:t>
            </a:r>
          </a:p>
          <a:p>
            <a:pPr>
              <a:spcAft>
                <a:spcPts val="300"/>
              </a:spcAft>
            </a:pPr>
            <a:endParaRPr lang="en-US" altLang="zh-CN" b="1" dirty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Aft>
                <a:spcPts val="300"/>
              </a:spcAft>
              <a:buFont typeface="Wingdings" pitchFamily="2" charset="2"/>
              <a:buChar char="q"/>
            </a:pPr>
            <a:r>
              <a:rPr lang="en-US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Short come:</a:t>
            </a:r>
            <a:r>
              <a:rPr lang="en-US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the discover is only a small fraction of action during the exploration stage. The most repletely discovered unknown species presents only 1.4% among all explorations, whereas the least present known species presents ~30% among all explorations. </a:t>
            </a:r>
          </a:p>
          <a:p>
            <a:pPr marL="285750" indent="-285750">
              <a:spcAft>
                <a:spcPts val="300"/>
              </a:spcAft>
              <a:buFont typeface="Wingdings" pitchFamily="2" charset="2"/>
              <a:buChar char="q"/>
            </a:pPr>
            <a:r>
              <a:rPr lang="en-US" b="1" dirty="0">
                <a:solidFill>
                  <a:srgbClr val="17803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Potential solution: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Implementing PUCT at the discovery stage, where the algorithm penalize frequent visited states and tends to explore unknown actions contributing to new species.</a:t>
            </a:r>
          </a:p>
          <a:p>
            <a:pPr marL="285750" indent="-285750">
              <a:spcAft>
                <a:spcPts val="300"/>
              </a:spcAft>
              <a:buFont typeface="Wingdings" pitchFamily="2" charset="2"/>
              <a:buChar char="q"/>
            </a:pP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Aft>
                <a:spcPts val="300"/>
              </a:spcAft>
              <a:buFont typeface="Wingdings" pitchFamily="2" charset="2"/>
              <a:buChar char="q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Toward New Horizons:</a:t>
            </a:r>
          </a:p>
          <a:p>
            <a:pPr marL="742950" lvl="1" indent="-285750">
              <a:spcAft>
                <a:spcPts val="300"/>
              </a:spcAft>
              <a:buFont typeface="Wingdings" pitchFamily="2" charset="2"/>
              <a:buChar char="q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Implement high fidelity, quantum mechanical tools to validate the explored species, which provide feedback to the agent. This process may help the algorithm to self-improve.</a:t>
            </a:r>
          </a:p>
        </p:txBody>
      </p:sp>
    </p:spTree>
    <p:extLst>
      <p:ext uri="{BB962C8B-B14F-4D97-AF65-F5344CB8AC3E}">
        <p14:creationId xmlns:p14="http://schemas.microsoft.com/office/powerpoint/2010/main" val="746228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5060</TotalTime>
  <Words>848</Words>
  <Application>Microsoft Macintosh PowerPoint</Application>
  <PresentationFormat>Widescreen</PresentationFormat>
  <Paragraphs>138</Paragraphs>
  <Slides>9</Slides>
  <Notes>9</Notes>
  <HiddenSlides>0</HiddenSlides>
  <MMClips>1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Cambria Math</vt:lpstr>
      <vt:lpstr>Courier New</vt:lpstr>
      <vt:lpstr>Garamond</vt:lpstr>
      <vt:lpstr>Helvetica</vt:lpstr>
      <vt:lpstr>Wingdings</vt:lpstr>
      <vt:lpstr>Office Theme</vt:lpstr>
      <vt:lpstr>Research Updates on GNN Species Discovery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Rui Xu</dc:creator>
  <cp:lastModifiedBy>Boyuan Yu</cp:lastModifiedBy>
  <cp:revision>3891</cp:revision>
  <dcterms:created xsi:type="dcterms:W3CDTF">2025-01-30T21:03:05Z</dcterms:created>
  <dcterms:modified xsi:type="dcterms:W3CDTF">2026-09-19T00:15:54Z</dcterms:modified>
</cp:coreProperties>
</file>