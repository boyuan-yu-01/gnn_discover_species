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sldIdLst>
    <p:sldId id="477" r:id="rId2"/>
    <p:sldId id="548" r:id="rId3"/>
    <p:sldId id="549" r:id="rId4"/>
    <p:sldId id="530" r:id="rId5"/>
    <p:sldId id="550" r:id="rId6"/>
    <p:sldId id="551" r:id="rId7"/>
    <p:sldId id="552" r:id="rId8"/>
    <p:sldId id="553" r:id="rId9"/>
    <p:sldId id="554" r:id="rId10"/>
    <p:sldId id="556" r:id="rId11"/>
    <p:sldId id="557" r:id="rId12"/>
    <p:sldId id="558" r:id="rId13"/>
    <p:sldId id="50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803C"/>
    <a:srgbClr val="8DC2D8"/>
    <a:srgbClr val="0000FF"/>
    <a:srgbClr val="0057D9"/>
    <a:srgbClr val="702FA1"/>
    <a:srgbClr val="7030A0"/>
    <a:srgbClr val="14532D"/>
    <a:srgbClr val="FF4D4D"/>
    <a:srgbClr val="A5C7FD"/>
    <a:srgbClr val="9F6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5137"/>
  </p:normalViewPr>
  <p:slideViewPr>
    <p:cSldViewPr snapToGrid="0">
      <p:cViewPr varScale="1">
        <p:scale>
          <a:sx n="121" d="100"/>
          <a:sy n="121" d="100"/>
        </p:scale>
        <p:origin x="14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055514-7F84-8A44-BF0D-F67E421A0CC6}" type="datetimeFigureOut">
              <a:rPr lang="en-US" smtClean="0"/>
              <a:t>8/24/26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3BFEB-DD89-0645-80CB-A8799B564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44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192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C6644-5B86-52F8-473E-9AC9E7CC2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C9E205-891E-E9BD-EAA1-8E96D8FC59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67C817-A48F-1F9D-0D26-C1087C57F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53C5D-1108-F589-FD7C-817DA457DB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048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3CA28-23DE-69DB-AC0D-1E0029EB5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AF2C09-A568-D4EA-83D5-5E791D1D63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053614-5F49-D0DD-C9F6-7BE0F693E6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4D802-431A-E6EE-A87C-CB3ED46672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548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B8BCC-C9BF-34AC-2CA8-111B6F470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4D74A7-C86C-9706-ED1F-EF491A19B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6745F7-4765-2B2E-8C96-67B8D16DB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339AA-4DF5-FF74-EC17-E6D884CE75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735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9E43C-7566-65B9-DACA-A8870E1C9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26E537-7AE9-F4C0-231A-0A0C197862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EDA05C-CC6A-E5A5-FF7F-5FB1196410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2F9C8-99E2-C012-05E9-6A0B09DA5F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07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6202D-B834-7241-3F5C-95F884E0A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3EB1D5-DBE3-4B3E-C1FD-6B5C172C6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116202-6CB9-454D-3F0A-234EDC2925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AA040-6790-AAAD-F06F-682B4A0865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7203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AE249-4DA9-C10F-7EA3-46F0EE7E1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AB2325-D34B-0D82-E07D-328FBAB054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FE4D70-EB05-8C65-BCCD-B57FBA5AA3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A458D-C10C-F218-3708-DEEB98778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8103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89CB4-713A-C8A8-96FF-09943EE70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338011-011B-B63B-120A-B011786E8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8AF8BA-43FA-0B1E-18E8-90AF6DE52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EBED7-F0C8-C2AF-3D7B-C4CA1981ED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088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99A94-DA01-8C1A-89DE-A7CC55056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C9FC63-5B45-B6F5-1079-EBD883480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20EC12-F1AE-BF7D-FE38-F6C500BAE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C0410-9927-23C2-C10D-D1043A3E47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0960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638E4-9DFF-D2A4-B585-1F0E1F3BF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0322BE-E8D2-AD3B-272B-F8AB29188A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E6AAE7-733C-D4D8-D953-222E278B4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FE379D-FE15-112F-DAB5-3E74E55FC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5381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3993B-7F42-2497-B69C-06BF221A6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F3793-1A04-5A9A-A824-1B7C3CC31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E7EE72-4B6B-8755-FBF8-7A81FE0E1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9C3ED-0F82-9A06-0F2A-B1407AD199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6782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EC68B-B2A5-77FD-5F74-64825A293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88F780-11C8-5276-8CEA-C2E7112B01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CA6F56-0B87-AD1A-F293-23C28EB08F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D757E-6673-617A-2F8E-46410AF39C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5409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64495-5C4E-A4EA-0D5D-0261D58F0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32FD33-DACB-CDC3-8647-8630D37095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0B807-FE18-BCE2-C7FA-B94EEF8CD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070F3-F898-8F7F-2E49-D1EB1E3603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350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81828-A740-60EF-5F7D-328A01908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46C149-91B5-D709-D604-9584F6DFE2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FDA84-C123-C8B7-BB16-2325D9498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7CEC8-9C94-5D4A-BDC3-A40FED9179B1}" type="datetime1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50313-7C58-E4B7-4FDA-E25E1610F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85CB0-9FEC-6A9E-4CFF-4FD3D472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094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E4662-E4D8-8CA7-3779-B91513EC8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E77A2-E909-B688-AD08-534C18F19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D6EE6-E4D8-C434-F684-7BDECD3CC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EBB2E-142D-B74B-9399-40F03EC43A94}" type="datetime1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72FF9-1EF4-47A4-648E-A8B6E547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33235-18F6-14B7-3F3C-1B310D36A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338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F5017-3F85-C2E6-5223-EDEBE5345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BA6AA-4581-665D-E86C-3B9112C72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D9C1-1EC7-0095-9E10-CD587E79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71EC9-59E5-E747-A114-45701F6348E1}" type="datetime1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838B0-8D46-6591-E13B-B62AEEEB6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77FE6-EC81-455E-9B35-2EA59EF01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4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C6101-F797-E64D-FA54-3D9EDC352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F29BB-B08E-A6A3-E23C-8249FDD738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4D1720-80A5-C549-E427-D6E34CBF9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DADA3F-5BC8-33B1-4189-E3B09EB1F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AB9A4-E352-8A49-AF8F-257AD10A1F2E}" type="datetime1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7241D-8BA1-7634-9F0F-3CCDC159B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A0BD1-5FBC-D461-C10C-FD6A8E54B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648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BA313-CE77-5A6F-1076-DC07B8319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7E2FB0-868C-4E75-F108-B0F0E94C5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69C154-890B-3905-BC3B-27FD1AFA1B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10E697-7659-F2D9-2650-1DD2EA5669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AFD821-CAF0-78FE-A714-AD8C47EF8E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4367DF-F1FB-0BD2-EE43-8377FA841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CF664-7136-1043-972E-DDC35FD0CC48}" type="datetime1">
              <a:rPr lang="en-US" smtClean="0"/>
              <a:t>8/24/26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B73405-8153-057C-F0B3-7FC449CFC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8C04F8-2DA2-2DD7-383C-E6AA0DF25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62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1579D-6958-9DCD-FEFD-E33A46F31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BBD8C7-08C9-A825-2CF0-885111CCB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9DDAD-17E3-7B4E-8819-8AFCE57411CF}" type="datetime1">
              <a:rPr lang="en-US" smtClean="0"/>
              <a:t>8/24/26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A69594-A820-57FA-D7BB-E26473D5B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4ED3E-D1F4-1DBA-E6B3-FC786A145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129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F0074D-7F29-ED97-3C6F-3A85EF565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540D-7B6C-724B-A93E-5D4733CE3F95}" type="datetime1">
              <a:rPr lang="en-US" smtClean="0"/>
              <a:t>8/24/26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4F0620-8F1B-8A53-1AA7-3F2ECFA6A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A3951-4F2E-6F10-D7C5-3037B0E47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202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DAF97-852E-02ED-58F0-6309FCC54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7C630-AAD8-151F-C40F-443103545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3E170-27A4-7FD2-FF3B-B51326F67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54BD4-BEEC-BCF8-4D36-777CFE173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5DA6F-F1D2-D34E-A317-99B8EDD7C888}" type="datetime1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46C24B-DF94-73BC-5F4C-21A8A9400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36ACD-6277-85CF-B58A-A31A9364E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61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44D50-EFC2-B2BE-11C7-360A75B8A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827050-819B-F6C2-CFC4-B0B3D535C9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438D2B-D60F-7B7A-D18A-F983C72EA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B2680E-AD25-2C7E-002C-25AC17811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9D098-CF73-674B-9BB3-3738976B525D}" type="datetime1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238F8-806A-352D-6E2F-9CDA90035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A7ECD-6F0E-1D20-7002-5A4DA8D7D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54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40CEB-0EAD-DA96-C068-9A26670C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67B2C-1552-E19F-82EE-6C3023C85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81990-6543-EB05-FA47-7676CD81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E1A24-4C5A-254A-9E96-CB06335422F3}" type="datetime1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242A2-92D9-3B84-F52F-717CD05B7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747D2-4730-FD71-2257-B2B678CA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99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874F61-394E-0423-441D-64174FCBBD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68D413-7F7E-1F7D-CC3B-29D83AB51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64D48-917A-F0BF-397C-D0DFC133F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0F1F-AF19-7C4A-AD81-0C60A4619494}" type="datetime1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6FA1D-8038-B110-7035-48232E48D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1AF4E-24B4-93C5-A966-DEC52D7B8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1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654920-4B0E-0BF2-6788-397E1EB6A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FACF1-7249-ABD7-FD7A-923C35382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8B585-BDA3-C9B1-C2BA-512DD11B95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33768C-DD3B-2A40-AF10-0EFC28DED6AB}" type="datetime1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A012F-4C81-44F6-F78D-28C261DAC5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11A4-CB77-A53A-D675-7A6609DB6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987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70C406E-5381-7676-FAC3-23D2538C8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86539"/>
            <a:ext cx="12192000" cy="118320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2900" b="1" noProof="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Research Updates on GNN Species Discovery </a:t>
            </a:r>
            <a:br>
              <a:rPr lang="en-GB" sz="2900" b="1" noProof="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</a:br>
            <a:endParaRPr lang="en-GB" sz="2900" b="1" noProof="0" dirty="0">
              <a:solidFill>
                <a:srgbClr val="2E2C28"/>
              </a:solidFill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FD5BD63-C5E7-ED49-10F7-79782BC8C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311522"/>
            <a:ext cx="12192000" cy="1259939"/>
          </a:xfrm>
        </p:spPr>
        <p:txBody>
          <a:bodyPr>
            <a:noAutofit/>
          </a:bodyPr>
          <a:lstStyle/>
          <a:p>
            <a:pPr marL="0" indent="0" eaLnBrk="1" hangingPunct="1"/>
            <a:r>
              <a:rPr lang="en-GB" sz="2000" b="1" noProof="0" dirty="0">
                <a:solidFill>
                  <a:srgbClr val="2E2C28"/>
                </a:solidFill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Boyuan Yu, Rui Xu</a:t>
            </a:r>
          </a:p>
          <a:p>
            <a:pPr marL="0" indent="0" eaLnBrk="1" hangingPunct="1"/>
            <a:r>
              <a:rPr lang="en-GB" sz="2000" b="1" noProof="0" dirty="0">
                <a:solidFill>
                  <a:srgbClr val="2E2C28"/>
                </a:solidFill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University of Southern California</a:t>
            </a:r>
          </a:p>
          <a:p>
            <a:pPr marL="0" indent="0" eaLnBrk="1" hangingPunct="1"/>
            <a:r>
              <a:rPr lang="en-GB" sz="2000" b="1" dirty="0">
                <a:solidFill>
                  <a:srgbClr val="2E2C28"/>
                </a:solidFill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Aug.</a:t>
            </a:r>
            <a:r>
              <a:rPr lang="en-GB" sz="2000" b="1" noProof="0" dirty="0">
                <a:solidFill>
                  <a:srgbClr val="2E2C28"/>
                </a:solidFill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 24, 2026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5DE126-872C-962A-2DD0-F3A2DDC665DC}"/>
              </a:ext>
            </a:extLst>
          </p:cNvPr>
          <p:cNvSpPr txBox="1"/>
          <p:nvPr/>
        </p:nvSpPr>
        <p:spPr>
          <a:xfrm>
            <a:off x="4448264" y="2952121"/>
            <a:ext cx="3469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>
                <a:latin typeface="Garamond" panose="02020404030301010803" pitchFamily="18" charset="0"/>
              </a:rPr>
              <a:t>Monte Carlo Tree Search:</a:t>
            </a:r>
          </a:p>
          <a:p>
            <a:pPr algn="ctr"/>
            <a:r>
              <a:rPr lang="en-US" b="1" i="1" dirty="0">
                <a:latin typeface="Garamond" panose="02020404030301010803" pitchFamily="18" charset="0"/>
              </a:rPr>
              <a:t>From AlphaGo to Species Discovery</a:t>
            </a:r>
          </a:p>
        </p:txBody>
      </p:sp>
    </p:spTree>
    <p:extLst>
      <p:ext uri="{BB962C8B-B14F-4D97-AF65-F5344CB8AC3E}">
        <p14:creationId xmlns:p14="http://schemas.microsoft.com/office/powerpoint/2010/main" val="725083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914C2-7049-F831-315C-B6A31C973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EDD5FD4-B863-8F97-E33E-F6DDC98A48D5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C7775F1-DC6F-01A5-E1A1-7A9DD4F96977}"/>
              </a:ext>
            </a:extLst>
          </p:cNvPr>
          <p:cNvSpPr txBox="1"/>
          <p:nvPr/>
        </p:nvSpPr>
        <p:spPr>
          <a:xfrm>
            <a:off x="271250" y="157003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Previously Addressed Problems</a:t>
            </a:r>
            <a:endParaRPr lang="en-GB" sz="2600" b="1" noProof="0" dirty="0">
              <a:solidFill>
                <a:srgbClr val="2E2C28"/>
              </a:solidFill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  <p:sp>
        <p:nvSpPr>
          <p:cNvPr id="63" name="Slide Number Placeholder 15">
            <a:extLst>
              <a:ext uri="{FF2B5EF4-FFF2-40B4-BE49-F238E27FC236}">
                <a16:creationId xmlns:a16="http://schemas.microsoft.com/office/drawing/2014/main" id="{41AC4868-9E6A-EC00-E7E9-237972592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GB" dirty="0"/>
              <a:t>1</a:t>
            </a:r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012C74-C4E5-6BA2-40E6-9DB693FA2A59}"/>
                  </a:ext>
                </a:extLst>
              </p:cNvPr>
              <p:cNvSpPr txBox="1"/>
              <p:nvPr/>
            </p:nvSpPr>
            <p:spPr>
              <a:xfrm>
                <a:off x="6905672" y="3245838"/>
                <a:ext cx="4349332" cy="6353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single</m:t>
                          </m:r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bond</m:t>
                          </m:r>
                        </m:sub>
                      </m:sSub>
                      <m:d>
                        <m:d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0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noProof="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noProof="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en-US" sz="2000" b="0" i="0" noProof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noProof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sz="2000" b="0" i="0" noProof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noProof="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sub>
                          </m:sSub>
                        </m:e>
                      </m:d>
                      <m:r>
                        <a:rPr lang="en-US" sz="2000" b="0" i="0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0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0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0" noProof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2000" b="0" i="0" noProof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sSup>
                            <m:sSupPr>
                              <m:ctrlPr>
                                <a:rPr lang="en-US" sz="2000" b="0" i="0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noProof="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000" b="0" i="0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000" b="0" i="0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0" noProof="0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 b="0" i="0" noProof="0" smtClean="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en-US" sz="2000" b="0" i="0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b="0" i="0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noProof="0" smtClean="0">
                                          <a:latin typeface="Cambria Math" panose="02040503050406030204" pitchFamily="18" charset="0"/>
                                        </a:rPr>
                                        <m:t>E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noProof="0" smtClean="0">
                                          <a:latin typeface="Cambria Math" panose="02040503050406030204" pitchFamily="18" charset="0"/>
                                        </a:rPr>
                                        <m:t>B</m:t>
                                      </m:r>
                                      <m:r>
                                        <a:rPr lang="en-US" sz="2000" b="0" i="0" noProof="0" smtClean="0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noProof="0" smtClean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  <m:r>
                                        <a:rPr lang="en-US" sz="2000" b="0" i="0" noProof="0" smtClean="0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noProof="0" smtClean="0">
                                          <a:latin typeface="Cambria Math" panose="02040503050406030204" pitchFamily="18" charset="0"/>
                                        </a:rPr>
                                        <m:t>E</m:t>
                                      </m:r>
                                    </m:sub>
                                  </m:sSub>
                                  <m:r>
                                    <a:rPr lang="en-US" sz="2000" b="0" i="0" noProof="0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sz="2000" b="0" i="0" noProof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p>
                              </m:sSup>
                            </m:sup>
                          </m:sSup>
                        </m:den>
                      </m:f>
                    </m:oMath>
                  </m:oMathPara>
                </a14:m>
                <a:endParaRPr lang="en-GB" sz="2000" noProof="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2012C74-C4E5-6BA2-40E6-9DB693FA2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5672" y="3245838"/>
                <a:ext cx="4349332" cy="635302"/>
              </a:xfrm>
              <a:prstGeom prst="rect">
                <a:avLst/>
              </a:prstGeom>
              <a:blipFill>
                <a:blip r:embed="rId3"/>
                <a:stretch>
                  <a:fillRect l="-872" b="-13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A58AC83-460A-EF74-59FE-5362FA1D8B5C}"/>
                  </a:ext>
                </a:extLst>
              </p:cNvPr>
              <p:cNvSpPr txBox="1"/>
              <p:nvPr/>
            </p:nvSpPr>
            <p:spPr>
              <a:xfrm>
                <a:off x="6905672" y="4490576"/>
                <a:ext cx="4148828" cy="7469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molecule</m:t>
                          </m:r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survival</m:t>
                          </m:r>
                        </m:sub>
                      </m:sSub>
                      <m:d>
                        <m:d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0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noProof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noProof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  <m:r>
                        <a:rPr lang="en-US" sz="2000" b="0" i="0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sty m:val="p"/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  <m:r>
                            <m:rPr>
                              <m:sty m:val="p"/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  <m:r>
                            <m:rPr>
                              <m:sty m:val="p"/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</m:t>
                          </m:r>
                          <m:r>
                            <m:rPr>
                              <m:sty m:val="p"/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  <m:r>
                            <m:rPr>
                              <m:sty m:val="p"/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  <m:r>
                            <m:rPr>
                              <m:sty m:val="p"/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  <m:r>
                            <m:rPr>
                              <m:sty m:val="p"/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</m:t>
                          </m:r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sty m:val="p"/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  <m:r>
                            <m:rPr>
                              <m:sty m:val="p"/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  <m:r>
                            <m:rPr>
                              <m:sty m:val="p"/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000" noProof="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A58AC83-460A-EF74-59FE-5362FA1D8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5672" y="4490576"/>
                <a:ext cx="4148828" cy="746936"/>
              </a:xfrm>
              <a:prstGeom prst="rect">
                <a:avLst/>
              </a:prstGeom>
              <a:blipFill>
                <a:blip r:embed="rId4"/>
                <a:stretch>
                  <a:fillRect l="-915" t="-145000" r="-305" b="-2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78DD6548-AB8A-7CE0-8249-FCEB6412D8BF}"/>
              </a:ext>
            </a:extLst>
          </p:cNvPr>
          <p:cNvGrpSpPr/>
          <p:nvPr/>
        </p:nvGrpSpPr>
        <p:grpSpPr>
          <a:xfrm>
            <a:off x="582312" y="2555690"/>
            <a:ext cx="5680767" cy="4302310"/>
            <a:chOff x="210257" y="2072241"/>
            <a:chExt cx="6079456" cy="446923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624A0F5-AC28-58D1-0382-736CA57F37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0257" y="2072241"/>
              <a:ext cx="5958977" cy="4469233"/>
            </a:xfrm>
            <a:prstGeom prst="rect">
              <a:avLst/>
            </a:prstGeom>
          </p:spPr>
        </p:pic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275C553-6D5A-B5AC-0DF1-EC2E7E2F7BF4}"/>
                </a:ext>
              </a:extLst>
            </p:cNvPr>
            <p:cNvSpPr/>
            <p:nvPr/>
          </p:nvSpPr>
          <p:spPr>
            <a:xfrm>
              <a:off x="1400418" y="3134293"/>
              <a:ext cx="236668" cy="268941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ADF6E37-9443-7FC8-2909-FA2EA0A152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7086" y="2800806"/>
              <a:ext cx="1344706" cy="419548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3D1B9E1-0BDC-DAFC-5749-D9452AC7C65E}"/>
                </a:ext>
              </a:extLst>
            </p:cNvPr>
            <p:cNvSpPr txBox="1"/>
            <p:nvPr/>
          </p:nvSpPr>
          <p:spPr>
            <a:xfrm>
              <a:off x="2981793" y="2407392"/>
              <a:ext cx="3026194" cy="607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600" i="1" noProof="0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probability for O-O bond breaking is much higher.</a:t>
              </a:r>
              <a:endParaRPr lang="en-GB" i="1" noProof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1059221D-D23F-C231-72A8-6D4273F0FDB1}"/>
                </a:ext>
              </a:extLst>
            </p:cNvPr>
            <p:cNvSpPr/>
            <p:nvPr/>
          </p:nvSpPr>
          <p:spPr>
            <a:xfrm>
              <a:off x="2309751" y="5352696"/>
              <a:ext cx="898918" cy="522689"/>
            </a:xfrm>
            <a:prstGeom prst="roundRect">
              <a:avLst/>
            </a:prstGeom>
            <a:noFill/>
            <a:ln w="31750">
              <a:solidFill>
                <a:srgbClr val="0057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75EFDC7-6ACE-578B-E34D-D8E42742C176}"/>
                </a:ext>
              </a:extLst>
            </p:cNvPr>
            <p:cNvSpPr txBox="1"/>
            <p:nvPr/>
          </p:nvSpPr>
          <p:spPr>
            <a:xfrm>
              <a:off x="1824770" y="4108937"/>
              <a:ext cx="400772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600" i="1" noProof="0" dirty="0">
                  <a:solidFill>
                    <a:srgbClr val="0057D9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Lower bond breaking probability compared with skeletal bonds</a:t>
              </a:r>
              <a:endParaRPr lang="en-GB" sz="1200" i="1" noProof="0" dirty="0">
                <a:solidFill>
                  <a:srgbClr val="0057D9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F6DDCC75-D527-BFD8-C727-F7B5BCB9EDEF}"/>
                </a:ext>
              </a:extLst>
            </p:cNvPr>
            <p:cNvSpPr/>
            <p:nvPr/>
          </p:nvSpPr>
          <p:spPr>
            <a:xfrm>
              <a:off x="3319154" y="5430488"/>
              <a:ext cx="2613617" cy="522689"/>
            </a:xfrm>
            <a:prstGeom prst="roundRect">
              <a:avLst/>
            </a:prstGeom>
            <a:noFill/>
            <a:ln w="31750">
              <a:solidFill>
                <a:srgbClr val="1780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E15D1CA-B7EA-41AB-51E2-233F796A4C5B}"/>
                </a:ext>
              </a:extLst>
            </p:cNvPr>
            <p:cNvSpPr txBox="1"/>
            <p:nvPr/>
          </p:nvSpPr>
          <p:spPr>
            <a:xfrm>
              <a:off x="3329148" y="4786504"/>
              <a:ext cx="296056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600" i="1" noProof="0" dirty="0">
                  <a:solidFill>
                    <a:srgbClr val="17803C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Very unlike to break but are constrained by valence rule. </a:t>
              </a:r>
              <a:endParaRPr lang="en-GB" i="1" noProof="0" dirty="0">
                <a:solidFill>
                  <a:srgbClr val="17803C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0DEBECD-D650-8616-4704-7CE4D14A32B2}"/>
                </a:ext>
              </a:extLst>
            </p:cNvPr>
            <p:cNvCxnSpPr>
              <a:cxnSpLocks/>
              <a:endCxn id="18" idx="0"/>
            </p:cNvCxnSpPr>
            <p:nvPr/>
          </p:nvCxnSpPr>
          <p:spPr>
            <a:xfrm>
              <a:off x="2759210" y="4619502"/>
              <a:ext cx="0" cy="733194"/>
            </a:xfrm>
            <a:prstGeom prst="straightConnector1">
              <a:avLst/>
            </a:prstGeom>
            <a:ln>
              <a:solidFill>
                <a:srgbClr val="0057D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BA27102-AD20-AA1E-A371-7FFF2E4D0E87}"/>
                  </a:ext>
                </a:extLst>
              </p:cNvPr>
              <p:cNvSpPr txBox="1"/>
              <p:nvPr/>
            </p:nvSpPr>
            <p:spPr>
              <a:xfrm>
                <a:off x="358698" y="1019312"/>
                <a:ext cx="10995102" cy="1908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300"/>
                  </a:spcAft>
                  <a:buFont typeface="Wingdings" pitchFamily="2" charset="2"/>
                  <a:buChar char="q"/>
                </a:pPr>
                <a:r>
                  <a:rPr lang="en-US" b="1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Previously: Developed a mathematical penalty function that discourages the formation of unrealistically long carbon or hydroperoxyl chains.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Aft>
                    <a:spcPts val="300"/>
                  </a:spcAft>
                  <a:buFont typeface="Wingdings" pitchFamily="2" charset="2"/>
                  <a:buChar char="q"/>
                </a:pPr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As carbon and/or hydroperoxyl chain grows, the likelihood of further growth drops exponentially.</a:t>
                </a:r>
              </a:p>
              <a:p>
                <a:pPr marL="285750" indent="-285750">
                  <a:spcAft>
                    <a:spcPts val="300"/>
                  </a:spcAft>
                  <a:buFont typeface="Wingdings" pitchFamily="2" charset="2"/>
                  <a:buChar char="q"/>
                </a:pPr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This mathematical survival score,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molecule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survival</m:t>
                        </m:r>
                      </m:sub>
                    </m:sSub>
                  </m:oMath>
                </a14:m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instructs the </a:t>
                </a:r>
                <a:r>
                  <a:rPr lang="en-US" b="1" i="1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evolution of subgraphs</a:t>
                </a:r>
                <a:r>
                  <a:rPr lang="en-US" b="1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(molecule.)</a:t>
                </a:r>
              </a:p>
              <a:p>
                <a:pPr marL="285750" indent="-285750">
                  <a:spcAft>
                    <a:spcPts val="300"/>
                  </a:spcAft>
                  <a:buFont typeface="Wingdings" pitchFamily="2" charset="2"/>
                  <a:buChar char="q"/>
                </a:pPr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This week, we address the algorithm for </a:t>
                </a:r>
                <a:r>
                  <a:rPr lang="en-US" b="1" i="1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graph level evolution</a:t>
                </a:r>
                <a:r>
                  <a:rPr 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285750" indent="-285750">
                  <a:spcAft>
                    <a:spcPts val="300"/>
                  </a:spcAft>
                  <a:buFont typeface="Wingdings" pitchFamily="2" charset="2"/>
                  <a:buChar char="q"/>
                </a:pPr>
                <a:endParaRPr lang="en-US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BA27102-AD20-AA1E-A371-7FFF2E4D0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98" y="1019312"/>
                <a:ext cx="10995102" cy="1908215"/>
              </a:xfrm>
              <a:prstGeom prst="rect">
                <a:avLst/>
              </a:prstGeom>
              <a:blipFill>
                <a:blip r:embed="rId6"/>
                <a:stretch>
                  <a:fillRect l="-346" t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8818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75C05-0D45-EDB6-B1F1-667A5F927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96DD37-C61D-4910-A6F3-6DB95A66DAD1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73119B0-2979-80BE-DD14-AADAD71EF7CC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New Challenge: Define a Searching Problem</a:t>
            </a:r>
            <a:endParaRPr lang="en-GB" sz="2600" b="1" noProof="0" dirty="0">
              <a:solidFill>
                <a:srgbClr val="2E2C28"/>
              </a:solidFill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  <p:sp>
        <p:nvSpPr>
          <p:cNvPr id="63" name="Slide Number Placeholder 15">
            <a:extLst>
              <a:ext uri="{FF2B5EF4-FFF2-40B4-BE49-F238E27FC236}">
                <a16:creationId xmlns:a16="http://schemas.microsoft.com/office/drawing/2014/main" id="{DC9ED09B-2DA0-1640-D6FA-8687D8CFC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GB" noProof="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DC1F8F-81BE-47C8-6ED1-62F1347C1169}"/>
              </a:ext>
            </a:extLst>
          </p:cNvPr>
          <p:cNvSpPr txBox="1"/>
          <p:nvPr/>
        </p:nvSpPr>
        <p:spPr>
          <a:xfrm>
            <a:off x="358698" y="941049"/>
            <a:ext cx="1099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8DC41E-4DEE-E632-83B0-C43FC372A337}"/>
              </a:ext>
            </a:extLst>
          </p:cNvPr>
          <p:cNvSpPr txBox="1"/>
          <p:nvPr/>
        </p:nvSpPr>
        <p:spPr>
          <a:xfrm>
            <a:off x="271250" y="1125715"/>
            <a:ext cx="10796554" cy="2500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 graph, we may yield node (atom), edge (bond), and subgraph (molecule) information.</a:t>
            </a:r>
          </a:p>
          <a:p>
            <a:pPr marL="285750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a graph, we may take actions such as forming new bonds, destructing existing bonds increasing bond order, or decreasing bond order.</a:t>
            </a:r>
          </a:p>
          <a:p>
            <a:pPr marL="285750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 a graph level, each bond action directs the graph to a new state. </a:t>
            </a:r>
          </a:p>
          <a:p>
            <a:pPr marL="285750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Question</a:t>
            </a: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How do we choose action to direct the search?</a:t>
            </a:r>
          </a:p>
          <a:p>
            <a:pPr marL="285750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Attempt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:   Implementing </a:t>
            </a:r>
            <a:r>
              <a:rPr lang="en-US" sz="1600" i="1" u="sng" dirty="0">
                <a:latin typeface="Calibri" panose="020F0502020204030204" pitchFamily="34" charset="0"/>
                <a:cs typeface="Calibri" panose="020F0502020204030204" pitchFamily="34" charset="0"/>
              </a:rPr>
              <a:t>Monte Carlo Tree Search (MCTS)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, and implementing neural network for policy and state value estimation.</a:t>
            </a:r>
          </a:p>
          <a:p>
            <a:pPr marL="285750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We implement MCTS and </a:t>
            </a:r>
            <a:r>
              <a:rPr lang="en-US" sz="1600" u="sng" dirty="0">
                <a:latin typeface="Calibri" panose="020F0502020204030204" pitchFamily="34" charset="0"/>
                <a:cs typeface="Calibri" panose="020F0502020204030204" pitchFamily="34" charset="0"/>
              </a:rPr>
              <a:t>Neural Network Agent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to a system containing C, O, H, and the searching aims to find its way to C-O-H state.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7C3036A-72A2-BA87-DF49-8ECF0CD54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073" y="3601472"/>
            <a:ext cx="6597650" cy="2928064"/>
          </a:xfrm>
          <a:prstGeom prst="rect">
            <a:avLst/>
          </a:prstGeom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94B608D3-A82C-CEB9-D5E3-62BDED68CC95}"/>
              </a:ext>
            </a:extLst>
          </p:cNvPr>
          <p:cNvGrpSpPr/>
          <p:nvPr/>
        </p:nvGrpSpPr>
        <p:grpSpPr>
          <a:xfrm>
            <a:off x="6982317" y="3542376"/>
            <a:ext cx="4125954" cy="2797040"/>
            <a:chOff x="6982317" y="3542376"/>
            <a:chExt cx="4125954" cy="2797040"/>
          </a:xfrm>
        </p:grpSpPr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49C9989D-A9BE-58DA-BAD0-BFEA4A784A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63321" y="3542376"/>
              <a:ext cx="4044950" cy="2797040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5DDFE171-4D99-8E7B-8151-73B2866E1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82317" y="4520006"/>
              <a:ext cx="1374283" cy="9161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2846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508F0-497D-83F6-6579-9382313B9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D50360-9B51-8201-F34A-F878F1D9AA8D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0070377-6B70-3E03-8C72-9D71F9EA5269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Attempt I: Monte Carlo Tree Search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CDAC1C-C5D8-BDC5-17F9-4AC086C113F4}"/>
                  </a:ext>
                </a:extLst>
              </p:cNvPr>
              <p:cNvSpPr txBox="1"/>
              <p:nvPr/>
            </p:nvSpPr>
            <p:spPr>
              <a:xfrm>
                <a:off x="271250" y="1125715"/>
                <a:ext cx="10796554" cy="18209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300"/>
                  </a:spcAft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solidFill>
                      <a:srgbClr val="2E2C2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The problem defined with three elements: </a:t>
                </a:r>
                <a:r>
                  <a:rPr lang="en-US" sz="1600" b="1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state</a:t>
                </a:r>
                <a:r>
                  <a:rPr lang="en-US" sz="1600" dirty="0">
                    <a:solidFill>
                      <a:srgbClr val="2E2C2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1600" b="1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action policy</a:t>
                </a:r>
                <a:r>
                  <a:rPr lang="en-US" sz="1600" dirty="0">
                    <a:solidFill>
                      <a:srgbClr val="2E2C2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and </a:t>
                </a:r>
                <a:r>
                  <a:rPr lang="en-US" sz="1600" b="1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final outcomes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US" sz="1600" b="1" dirty="0">
                  <a:solidFill>
                    <a:srgbClr val="0000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Aft>
                    <a:spcPts val="300"/>
                  </a:spcAft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To simplify the problem, we also assume known intermediate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V</m:t>
                        </m:r>
                      </m:e>
                      <m:sub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𝜃</m:t>
                        </m:r>
                      </m:sub>
                    </m:sSub>
                  </m:oMath>
                </a14:m>
                <a:endParaRPr 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spcAft>
                    <a:spcPts val="300"/>
                  </a:spcAft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policy is learnt from PUCT:</a:t>
                </a:r>
              </a:p>
              <a:p>
                <a:pPr algn="ctr"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d>
                                    <m:d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𝑝𝑢𝑐𝑡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  <m:f>
                                    <m:f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nary>
                                            <m:naryPr>
                                              <m:chr m:val="∑"/>
                                              <m:limLoc m:val="undOvr"/>
                                              <m:supHide m:val="on"/>
                                              <m:ctrlPr>
                                                <a:rPr lang="en-US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en-US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b>
                                            <m:sup/>
                                            <m:e>
                                              <m:r>
                                                <a:rPr lang="en-US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e>
                                          </m:nary>
                                          <m:d>
                                            <m:dPr>
                                              <m:ctrlPr>
                                                <a:rPr lang="en-US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  <m:r>
                                                <a:rPr lang="en-US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</m:d>
                                        </m:e>
                                      </m:rad>
                                    </m:num>
                                    <m:den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  <m:d>
                                        <m:dPr>
                                          <m:ctrlP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1600" b="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𝒜</m:t>
                      </m:r>
                    </m:oMath>
                  </m:oMathPara>
                </a14:m>
                <a:endParaRPr lang="en-US" sz="1600" b="0" dirty="0"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algn="ctr">
                  <a:spcAft>
                    <a:spcPts val="300"/>
                  </a:spcAft>
                </a:pPr>
                <a:endParaRPr 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CDAC1C-C5D8-BDC5-17F9-4AC086C11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50" y="1125715"/>
                <a:ext cx="10796554" cy="1820948"/>
              </a:xfrm>
              <a:prstGeom prst="rect">
                <a:avLst/>
              </a:prstGeom>
              <a:blipFill>
                <a:blip r:embed="rId3"/>
                <a:stretch>
                  <a:fillRect l="-235" t="-694"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 Brace 7">
            <a:extLst>
              <a:ext uri="{FF2B5EF4-FFF2-40B4-BE49-F238E27FC236}">
                <a16:creationId xmlns:a16="http://schemas.microsoft.com/office/drawing/2014/main" id="{12F4B72E-CE5D-CBB9-B291-EACC893EBE58}"/>
              </a:ext>
            </a:extLst>
          </p:cNvPr>
          <p:cNvSpPr/>
          <p:nvPr/>
        </p:nvSpPr>
        <p:spPr>
          <a:xfrm rot="16200000">
            <a:off x="4601635" y="2527562"/>
            <a:ext cx="228601" cy="609600"/>
          </a:xfrm>
          <a:prstGeom prst="leftBrace">
            <a:avLst/>
          </a:prstGeom>
          <a:ln w="25400">
            <a:solidFill>
              <a:srgbClr val="178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7803C"/>
              </a:solidFill>
            </a:endParaRP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FC2B60F2-BDAD-F066-01E3-61446D1E35AA}"/>
              </a:ext>
            </a:extLst>
          </p:cNvPr>
          <p:cNvSpPr/>
          <p:nvPr/>
        </p:nvSpPr>
        <p:spPr>
          <a:xfrm rot="16200000">
            <a:off x="6293195" y="1696058"/>
            <a:ext cx="228600" cy="2272610"/>
          </a:xfrm>
          <a:prstGeom prst="leftBrac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9EFB77-4436-7482-69D6-FC307FFFF588}"/>
              </a:ext>
            </a:extLst>
          </p:cNvPr>
          <p:cNvSpPr txBox="1"/>
          <p:nvPr/>
        </p:nvSpPr>
        <p:spPr>
          <a:xfrm>
            <a:off x="5669527" y="2955393"/>
            <a:ext cx="1508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exploration, </a:t>
            </a:r>
            <a:r>
              <a:rPr lang="en-US" i="1" u="sng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458CFB-D0E5-D0AF-4C68-7430D62B9C47}"/>
              </a:ext>
            </a:extLst>
          </p:cNvPr>
          <p:cNvSpPr txBox="1"/>
          <p:nvPr/>
        </p:nvSpPr>
        <p:spPr>
          <a:xfrm>
            <a:off x="3962934" y="2955393"/>
            <a:ext cx="1567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7803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exploitation, </a:t>
            </a:r>
            <a:r>
              <a:rPr lang="en-US" i="1" u="sng" dirty="0">
                <a:solidFill>
                  <a:srgbClr val="17803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CEB0C98-D533-B2CF-FD44-87640A603A55}"/>
                  </a:ext>
                </a:extLst>
              </p:cNvPr>
              <p:cNvSpPr txBox="1"/>
              <p:nvPr/>
            </p:nvSpPr>
            <p:spPr>
              <a:xfrm>
                <a:off x="271250" y="3640666"/>
                <a:ext cx="10796554" cy="2048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300"/>
                  </a:spcAft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solidFill>
                      <a:srgbClr val="2E2C28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The policy is determined by the number of visits:</a:t>
                </a:r>
              </a:p>
              <a:p>
                <a:pPr algn="ctr"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2E2C2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solidFill>
                                <a:srgbClr val="2E2C2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2E2C2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𝑀𝐶𝑇𝑆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solidFill>
                                <a:srgbClr val="2E2C2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2E2C2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 b="0" i="1" smtClean="0">
                              <a:solidFill>
                                <a:srgbClr val="2E2C2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600" b="0" i="1" smtClean="0">
                              <a:solidFill>
                                <a:srgbClr val="2E2C2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2E2C2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rgbClr val="2E2C2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rgbClr val="2E2C2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sz="1600" b="0" i="1" smtClean="0">
                                  <a:solidFill>
                                    <a:srgbClr val="2E2C2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solidFill>
                                    <a:srgbClr val="2E2C2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b="0" i="1" smtClean="0">
                                  <a:solidFill>
                                    <a:srgbClr val="2E2C2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solidFill>
                                    <a:srgbClr val="2E2C2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sz="1600" b="0" i="1" smtClean="0">
                                  <a:solidFill>
                                    <a:srgbClr val="2E2C2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600" b="0" i="1" smtClean="0">
                                  <a:solidFill>
                                    <a:srgbClr val="2E2C2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sub>
                            <m:sup/>
                            <m:e>
                              <m:r>
                                <a:rPr lang="en-US" sz="1600" b="0" i="1" smtClean="0">
                                  <a:solidFill>
                                    <a:srgbClr val="2E2C2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</m:nary>
                          <m:d>
                            <m:dPr>
                              <m:ctrlPr>
                                <a:rPr lang="en-US" sz="1600" b="0" i="1" smtClean="0">
                                  <a:solidFill>
                                    <a:srgbClr val="2E2C2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solidFill>
                                    <a:srgbClr val="2E2C2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b="0" i="1" smtClean="0">
                                  <a:solidFill>
                                    <a:srgbClr val="2E2C2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solidFill>
                                    <a:srgbClr val="2E2C2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600" dirty="0">
                  <a:solidFill>
                    <a:srgbClr val="2E2C28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algn="ctr">
                  <a:spcAft>
                    <a:spcPts val="300"/>
                  </a:spcAft>
                </a:pPr>
                <a:endParaRPr lang="en-US" sz="1600" dirty="0">
                  <a:solidFill>
                    <a:srgbClr val="2E2C28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285750" indent="-285750">
                  <a:spcAft>
                    <a:spcPts val="300"/>
                  </a:spcAft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solidFill>
                      <a:srgbClr val="2E2C28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The example search applies on a toy system containing C, O, H, and terminal rewards is begiven.</a:t>
                </a:r>
              </a:p>
              <a:p>
                <a:pPr marL="285750" indent="-285750">
                  <a:spcAft>
                    <a:spcPts val="300"/>
                  </a:spcAft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solidFill>
                      <a:srgbClr val="2E2C28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An initial probability,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solidFill>
                              <a:srgbClr val="2E2C2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 smtClean="0">
                            <a:solidFill>
                              <a:srgbClr val="2E2C2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600" i="1" dirty="0" smtClean="0">
                            <a:solidFill>
                              <a:srgbClr val="2E2C2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600" i="1" dirty="0" smtClean="0">
                            <a:solidFill>
                              <a:srgbClr val="2E2C2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 smtClean="0">
                            <a:solidFill>
                              <a:srgbClr val="2E2C2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1600" i="0" dirty="0" smtClean="0">
                            <a:solidFill>
                              <a:srgbClr val="2E2C2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 dirty="0" smtClean="0">
                            <a:solidFill>
                              <a:srgbClr val="2E2C2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2E2C28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is assigned</a:t>
                </a:r>
                <a:endParaRPr lang="en-US" sz="1600" b="0" dirty="0"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algn="ctr">
                  <a:spcAft>
                    <a:spcPts val="300"/>
                  </a:spcAft>
                </a:pPr>
                <a:endParaRPr 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CEB0C98-D533-B2CF-FD44-87640A603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50" y="3640666"/>
                <a:ext cx="10796554" cy="2048446"/>
              </a:xfrm>
              <a:prstGeom prst="rect">
                <a:avLst/>
              </a:prstGeom>
              <a:blipFill>
                <a:blip r:embed="rId4"/>
                <a:stretch>
                  <a:fillRect l="-235" t="-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Slide Number Placeholder 15">
            <a:extLst>
              <a:ext uri="{FF2B5EF4-FFF2-40B4-BE49-F238E27FC236}">
                <a16:creationId xmlns:a16="http://schemas.microsoft.com/office/drawing/2014/main" id="{05F570D2-5742-4D34-DF59-0A7069197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GB" dirty="0"/>
              <a:t>3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9234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1EB08-2975-D395-1347-8155415B8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769E8D2-742A-C80C-D615-60855900D00C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B82E09B-86FE-00C6-059F-42F614FA6866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Attempt I: Monte Carlo Tree Search Initialization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2755DD-7336-0BE0-E08E-80E8B365870E}"/>
              </a:ext>
            </a:extLst>
          </p:cNvPr>
          <p:cNvSpPr/>
          <p:nvPr/>
        </p:nvSpPr>
        <p:spPr>
          <a:xfrm>
            <a:off x="5983887" y="1021142"/>
            <a:ext cx="1073889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C, O, 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6C1714-F78A-ED00-C967-4AD6B9EA10AC}"/>
              </a:ext>
            </a:extLst>
          </p:cNvPr>
          <p:cNvSpPr/>
          <p:nvPr/>
        </p:nvSpPr>
        <p:spPr>
          <a:xfrm>
            <a:off x="2127813" y="2596047"/>
            <a:ext cx="1073889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C-O, 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D5E54B-11DA-93E3-D225-7FA213B16756}"/>
              </a:ext>
            </a:extLst>
          </p:cNvPr>
          <p:cNvSpPr/>
          <p:nvPr/>
        </p:nvSpPr>
        <p:spPr>
          <a:xfrm>
            <a:off x="4735887" y="2592502"/>
            <a:ext cx="1073889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C, O-H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A52465-9001-1FB8-DDEF-C996E6C2FDFC}"/>
              </a:ext>
            </a:extLst>
          </p:cNvPr>
          <p:cNvSpPr/>
          <p:nvPr/>
        </p:nvSpPr>
        <p:spPr>
          <a:xfrm>
            <a:off x="9952033" y="2592502"/>
            <a:ext cx="1168243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C, H, O Terminal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E76DBE-D31E-9101-6ABC-CD7613158D00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flipH="1">
            <a:off x="2664758" y="1637830"/>
            <a:ext cx="3856074" cy="9582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3B87BC-6467-52EA-303D-E1BF05FACF62}"/>
              </a:ext>
            </a:extLst>
          </p:cNvPr>
          <p:cNvCxnSpPr>
            <a:cxnSpLocks/>
            <a:stCxn id="3" idx="2"/>
            <a:endCxn id="7" idx="0"/>
          </p:cNvCxnSpPr>
          <p:nvPr/>
        </p:nvCxnSpPr>
        <p:spPr>
          <a:xfrm flipH="1">
            <a:off x="5272832" y="1637830"/>
            <a:ext cx="1248000" cy="9546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810E70-33A9-33CC-6ED0-15A2EB1E5F7B}"/>
              </a:ext>
            </a:extLst>
          </p:cNvPr>
          <p:cNvCxnSpPr>
            <a:cxnSpLocks/>
            <a:stCxn id="3" idx="2"/>
            <a:endCxn id="28" idx="0"/>
          </p:cNvCxnSpPr>
          <p:nvPr/>
        </p:nvCxnSpPr>
        <p:spPr>
          <a:xfrm>
            <a:off x="6520832" y="1637830"/>
            <a:ext cx="1646501" cy="9628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8CAE915-B3F6-E9CA-9F19-C42F1922656E}"/>
              </a:ext>
            </a:extLst>
          </p:cNvPr>
          <p:cNvCxnSpPr>
            <a:cxnSpLocks/>
            <a:stCxn id="3" idx="2"/>
            <a:endCxn id="9" idx="0"/>
          </p:cNvCxnSpPr>
          <p:nvPr/>
        </p:nvCxnSpPr>
        <p:spPr>
          <a:xfrm>
            <a:off x="6520832" y="1637830"/>
            <a:ext cx="4015323" cy="9546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740D328-E351-0421-C17E-07485A472948}"/>
                  </a:ext>
                </a:extLst>
              </p:cNvPr>
              <p:cNvSpPr/>
              <p:nvPr/>
            </p:nvSpPr>
            <p:spPr>
              <a:xfrm>
                <a:off x="3343256" y="1991198"/>
                <a:ext cx="1139005" cy="4055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Form C-O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0.45</m:t>
                      </m:r>
                    </m:oMath>
                  </m:oMathPara>
                </a14:m>
                <a:endParaRPr lang="en-US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740D328-E351-0421-C17E-07485A4729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256" y="1991198"/>
                <a:ext cx="1139005" cy="405587"/>
              </a:xfrm>
              <a:prstGeom prst="rect">
                <a:avLst/>
              </a:prstGeom>
              <a:blipFill>
                <a:blip r:embed="rId3"/>
                <a:stretch>
                  <a:fillRect t="-5882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50CABA8-4693-6FFD-2BB7-2174779B8D3E}"/>
                  </a:ext>
                </a:extLst>
              </p:cNvPr>
              <p:cNvSpPr/>
              <p:nvPr/>
            </p:nvSpPr>
            <p:spPr>
              <a:xfrm>
                <a:off x="5207610" y="1991198"/>
                <a:ext cx="1139005" cy="4055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Form O-H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0.30</m:t>
                      </m:r>
                    </m:oMath>
                  </m:oMathPara>
                </a14:m>
                <a:endParaRPr lang="en-US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50CABA8-4693-6FFD-2BB7-2174779B8D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610" y="1991198"/>
                <a:ext cx="1139005" cy="405587"/>
              </a:xfrm>
              <a:prstGeom prst="rect">
                <a:avLst/>
              </a:prstGeom>
              <a:blipFill>
                <a:blip r:embed="rId4"/>
                <a:stretch>
                  <a:fillRect t="-5882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788935A-0CDE-7FAC-A4B6-16441436F83F}"/>
                  </a:ext>
                </a:extLst>
              </p:cNvPr>
              <p:cNvSpPr/>
              <p:nvPr/>
            </p:nvSpPr>
            <p:spPr>
              <a:xfrm>
                <a:off x="6764106" y="1991198"/>
                <a:ext cx="1139005" cy="4055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Form C-H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0.20</m:t>
                      </m:r>
                    </m:oMath>
                  </m:oMathPara>
                </a14:m>
                <a:endParaRPr lang="en-US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788935A-0CDE-7FAC-A4B6-16441436F8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4106" y="1991198"/>
                <a:ext cx="1139005" cy="405587"/>
              </a:xfrm>
              <a:prstGeom prst="rect">
                <a:avLst/>
              </a:prstGeom>
              <a:blipFill>
                <a:blip r:embed="rId5"/>
                <a:stretch>
                  <a:fillRect t="-5882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7C1386C-ACEF-EAEA-F1A8-1B661D83E981}"/>
                  </a:ext>
                </a:extLst>
              </p:cNvPr>
              <p:cNvSpPr/>
              <p:nvPr/>
            </p:nvSpPr>
            <p:spPr>
              <a:xfrm>
                <a:off x="8467764" y="1991198"/>
                <a:ext cx="1139005" cy="4055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C00000"/>
                    </a:solidFill>
                  </a:rPr>
                  <a:t>STOP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1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= 0.05</m:t>
                      </m:r>
                    </m:oMath>
                  </m:oMathPara>
                </a14:m>
                <a:endParaRPr lang="en-US" sz="1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7C1386C-ACEF-EAEA-F1A8-1B661D83E9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7764" y="1991198"/>
                <a:ext cx="1139005" cy="405587"/>
              </a:xfrm>
              <a:prstGeom prst="rect">
                <a:avLst/>
              </a:prstGeom>
              <a:blipFill>
                <a:blip r:embed="rId6"/>
                <a:stretch>
                  <a:fillRect t="-5882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FE4D05FE-667E-357E-4CD6-05717EA0E631}"/>
              </a:ext>
            </a:extLst>
          </p:cNvPr>
          <p:cNvSpPr/>
          <p:nvPr/>
        </p:nvSpPr>
        <p:spPr>
          <a:xfrm>
            <a:off x="3382181" y="4529266"/>
            <a:ext cx="1184141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C-O-H</a:t>
            </a:r>
          </a:p>
          <a:p>
            <a:pPr algn="ctr"/>
            <a:r>
              <a:rPr lang="en-US" sz="2000" dirty="0">
                <a:solidFill>
                  <a:srgbClr val="C00000"/>
                </a:solidFill>
              </a:rPr>
              <a:t>Terminal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D24B68-005B-5DAB-5708-F0E9412098CA}"/>
              </a:ext>
            </a:extLst>
          </p:cNvPr>
          <p:cNvSpPr/>
          <p:nvPr/>
        </p:nvSpPr>
        <p:spPr>
          <a:xfrm>
            <a:off x="697401" y="4529266"/>
            <a:ext cx="1184141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C-O, H</a:t>
            </a:r>
          </a:p>
          <a:p>
            <a:pPr algn="ctr"/>
            <a:r>
              <a:rPr lang="en-US" sz="2000" dirty="0">
                <a:solidFill>
                  <a:srgbClr val="C00000"/>
                </a:solidFill>
              </a:rPr>
              <a:t>Terminal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985C22A-CD34-2C3A-6243-7BE6E876EC04}"/>
              </a:ext>
            </a:extLst>
          </p:cNvPr>
          <p:cNvCxnSpPr>
            <a:cxnSpLocks/>
            <a:stCxn id="4" idx="2"/>
            <a:endCxn id="23" idx="0"/>
          </p:cNvCxnSpPr>
          <p:nvPr/>
        </p:nvCxnSpPr>
        <p:spPr>
          <a:xfrm flipH="1">
            <a:off x="1289472" y="3212735"/>
            <a:ext cx="1375286" cy="13165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C95542-A986-FD6C-4FA3-159CB138B1D9}"/>
              </a:ext>
            </a:extLst>
          </p:cNvPr>
          <p:cNvCxnSpPr>
            <a:cxnSpLocks/>
            <a:stCxn id="4" idx="2"/>
            <a:endCxn id="22" idx="0"/>
          </p:cNvCxnSpPr>
          <p:nvPr/>
        </p:nvCxnSpPr>
        <p:spPr>
          <a:xfrm>
            <a:off x="2664758" y="3212735"/>
            <a:ext cx="1309494" cy="13165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854C294-B644-65AE-DB97-506F42FDE5F8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 flipH="1">
            <a:off x="3974252" y="3209190"/>
            <a:ext cx="1298580" cy="13200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BA7BFDC1-6C1F-CA27-0A4C-BB344B0B2C2E}"/>
              </a:ext>
            </a:extLst>
          </p:cNvPr>
          <p:cNvSpPr/>
          <p:nvPr/>
        </p:nvSpPr>
        <p:spPr>
          <a:xfrm>
            <a:off x="6066961" y="4536899"/>
            <a:ext cx="1184141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C, O-H</a:t>
            </a:r>
          </a:p>
          <a:p>
            <a:pPr algn="ctr"/>
            <a:r>
              <a:rPr lang="en-US" sz="2000" dirty="0">
                <a:solidFill>
                  <a:srgbClr val="C00000"/>
                </a:solidFill>
              </a:rPr>
              <a:t>Terminal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3E4EB9-33B5-50ED-0463-F568097AE0D6}"/>
              </a:ext>
            </a:extLst>
          </p:cNvPr>
          <p:cNvSpPr/>
          <p:nvPr/>
        </p:nvSpPr>
        <p:spPr>
          <a:xfrm>
            <a:off x="7575262" y="2600672"/>
            <a:ext cx="1184141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C-H, O</a:t>
            </a:r>
          </a:p>
          <a:p>
            <a:pPr algn="ctr"/>
            <a:r>
              <a:rPr lang="en-US" sz="2000" dirty="0">
                <a:solidFill>
                  <a:srgbClr val="C00000"/>
                </a:solidFill>
              </a:rPr>
              <a:t>Terminal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4EBAE5-FFCB-F1DC-1731-FE502C4F0C7E}"/>
              </a:ext>
            </a:extLst>
          </p:cNvPr>
          <p:cNvSpPr txBox="1"/>
          <p:nvPr/>
        </p:nvSpPr>
        <p:spPr>
          <a:xfrm>
            <a:off x="3912758" y="6332156"/>
            <a:ext cx="6948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Initial free capacities: C:1, O:2, H:1 </a:t>
            </a:r>
            <a:r>
              <a:rPr lang="en-US" i="1" u="sng" dirty="0"/>
              <a:t>(Only for this simplified example)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0A6298B-2FCD-8D9E-AFF7-AC483DF082E1}"/>
              </a:ext>
            </a:extLst>
          </p:cNvPr>
          <p:cNvCxnSpPr>
            <a:cxnSpLocks/>
            <a:stCxn id="7" idx="2"/>
            <a:endCxn id="27" idx="0"/>
          </p:cNvCxnSpPr>
          <p:nvPr/>
        </p:nvCxnSpPr>
        <p:spPr>
          <a:xfrm>
            <a:off x="5272832" y="3209190"/>
            <a:ext cx="1386200" cy="13277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2C9B5FC-6232-1748-7F31-03AC716E3B19}"/>
              </a:ext>
            </a:extLst>
          </p:cNvPr>
          <p:cNvSpPr txBox="1"/>
          <p:nvPr/>
        </p:nvSpPr>
        <p:spPr>
          <a:xfrm>
            <a:off x="874527" y="5417889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 = 0.7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E66F35-582C-C01F-444E-239807678DA3}"/>
              </a:ext>
            </a:extLst>
          </p:cNvPr>
          <p:cNvSpPr txBox="1"/>
          <p:nvPr/>
        </p:nvSpPr>
        <p:spPr>
          <a:xfrm>
            <a:off x="3583180" y="5436300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 = 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EAA20C-C337-59D0-9163-316C0C83A776}"/>
              </a:ext>
            </a:extLst>
          </p:cNvPr>
          <p:cNvSpPr txBox="1"/>
          <p:nvPr/>
        </p:nvSpPr>
        <p:spPr>
          <a:xfrm>
            <a:off x="7743177" y="3271711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 = 0.6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B75CA8B-7933-4E65-B5B6-8115C2E077B5}"/>
              </a:ext>
            </a:extLst>
          </p:cNvPr>
          <p:cNvSpPr txBox="1"/>
          <p:nvPr/>
        </p:nvSpPr>
        <p:spPr>
          <a:xfrm>
            <a:off x="6367447" y="5417889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 = 0.6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062360-33BE-BFE8-904E-69E939F6258F}"/>
              </a:ext>
            </a:extLst>
          </p:cNvPr>
          <p:cNvSpPr txBox="1"/>
          <p:nvPr/>
        </p:nvSpPr>
        <p:spPr>
          <a:xfrm>
            <a:off x="10308176" y="3271711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 =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3F88773-2D32-4C94-3E75-1824CEE9CBCB}"/>
                  </a:ext>
                </a:extLst>
              </p:cNvPr>
              <p:cNvSpPr/>
              <p:nvPr/>
            </p:nvSpPr>
            <p:spPr>
              <a:xfrm>
                <a:off x="1127623" y="3709927"/>
                <a:ext cx="1139005" cy="4055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C00000"/>
                    </a:solidFill>
                  </a:rPr>
                  <a:t>STOP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1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= 0.15</m:t>
                      </m:r>
                    </m:oMath>
                  </m:oMathPara>
                </a14:m>
                <a:endParaRPr lang="en-US" sz="1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3F88773-2D32-4C94-3E75-1824CEE9CB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623" y="3709927"/>
                <a:ext cx="1139005" cy="405587"/>
              </a:xfrm>
              <a:prstGeom prst="rect">
                <a:avLst/>
              </a:prstGeom>
              <a:blipFill>
                <a:blip r:embed="rId7"/>
                <a:stretch>
                  <a:fillRect t="-8824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2A3D716-FA14-4774-3B40-E33DAD35A902}"/>
                  </a:ext>
                </a:extLst>
              </p:cNvPr>
              <p:cNvSpPr/>
              <p:nvPr/>
            </p:nvSpPr>
            <p:spPr>
              <a:xfrm>
                <a:off x="2674186" y="3702283"/>
                <a:ext cx="1139005" cy="4055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Form O-H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0.85</m:t>
                      </m:r>
                    </m:oMath>
                  </m:oMathPara>
                </a14:m>
                <a:endParaRPr lang="en-US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2A3D716-FA14-4774-3B40-E33DAD35A9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4186" y="3702283"/>
                <a:ext cx="1139005" cy="405587"/>
              </a:xfrm>
              <a:prstGeom prst="rect">
                <a:avLst/>
              </a:prstGeom>
              <a:blipFill>
                <a:blip r:embed="rId8"/>
                <a:stretch>
                  <a:fillRect t="-5714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48FC9DA5-DC0A-A4A1-A0A2-23A4280556B6}"/>
                  </a:ext>
                </a:extLst>
              </p:cNvPr>
              <p:cNvSpPr/>
              <p:nvPr/>
            </p:nvSpPr>
            <p:spPr>
              <a:xfrm>
                <a:off x="5565511" y="3702283"/>
                <a:ext cx="1139005" cy="4055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C00000"/>
                    </a:solidFill>
                  </a:rPr>
                  <a:t>STOP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1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= 0.20</m:t>
                      </m:r>
                    </m:oMath>
                  </m:oMathPara>
                </a14:m>
                <a:endParaRPr lang="en-US" sz="1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48FC9DA5-DC0A-A4A1-A0A2-23A4280556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511" y="3702283"/>
                <a:ext cx="1139005" cy="405587"/>
              </a:xfrm>
              <a:prstGeom prst="rect">
                <a:avLst/>
              </a:prstGeom>
              <a:blipFill>
                <a:blip r:embed="rId9"/>
                <a:stretch>
                  <a:fillRect t="-5714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2431A266-BACA-ACFA-8345-B278CA4FD894}"/>
                  </a:ext>
                </a:extLst>
              </p:cNvPr>
              <p:cNvSpPr/>
              <p:nvPr/>
            </p:nvSpPr>
            <p:spPr>
              <a:xfrm>
                <a:off x="4075692" y="3702283"/>
                <a:ext cx="1139005" cy="4055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Form C-O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0.80</m:t>
                      </m:r>
                    </m:oMath>
                  </m:oMathPara>
                </a14:m>
                <a:endParaRPr lang="en-US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2431A266-BACA-ACFA-8345-B278CA4FD8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5692" y="3702283"/>
                <a:ext cx="1139005" cy="405587"/>
              </a:xfrm>
              <a:prstGeom prst="rect">
                <a:avLst/>
              </a:prstGeom>
              <a:blipFill>
                <a:blip r:embed="rId10"/>
                <a:stretch>
                  <a:fillRect t="-5714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3B2D3EA4-BD6E-5594-08D1-D589DD89C33A}"/>
              </a:ext>
            </a:extLst>
          </p:cNvPr>
          <p:cNvSpPr txBox="1"/>
          <p:nvPr/>
        </p:nvSpPr>
        <p:spPr>
          <a:xfrm>
            <a:off x="3219088" y="3026297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 = 0.7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0F89E21-9E95-C33F-B9AB-55CF77E62327}"/>
              </a:ext>
            </a:extLst>
          </p:cNvPr>
          <p:cNvSpPr txBox="1"/>
          <p:nvPr/>
        </p:nvSpPr>
        <p:spPr>
          <a:xfrm>
            <a:off x="5943292" y="303259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 = 0.6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F85CAC6-209E-AA23-6304-C3FC81D9B9B4}"/>
              </a:ext>
            </a:extLst>
          </p:cNvPr>
          <p:cNvSpPr txBox="1"/>
          <p:nvPr/>
        </p:nvSpPr>
        <p:spPr>
          <a:xfrm>
            <a:off x="9606769" y="5436300"/>
            <a:ext cx="20874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V: Model Estimate</a:t>
            </a:r>
          </a:p>
          <a:p>
            <a:r>
              <a:rPr lang="en-US" i="1" dirty="0"/>
              <a:t>R: Terminal Reward</a:t>
            </a:r>
          </a:p>
        </p:txBody>
      </p:sp>
      <p:sp>
        <p:nvSpPr>
          <p:cNvPr id="43" name="Slide Number Placeholder 15">
            <a:extLst>
              <a:ext uri="{FF2B5EF4-FFF2-40B4-BE49-F238E27FC236}">
                <a16:creationId xmlns:a16="http://schemas.microsoft.com/office/drawing/2014/main" id="{AF186BDB-F968-B96C-A001-F159EE6B2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US" noProof="0" dirty="0"/>
              <a:t>4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0720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62A89-F34D-3773-DAD6-4A991E1F0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4618071-F262-63F7-1C4F-6B5011BD30D6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E8DDC8D-A441-A643-8205-5D65C4E26312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Attempt I: Searching Process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AA83E6D-C178-1C32-3A37-7229B3902C12}"/>
                  </a:ext>
                </a:extLst>
              </p:cNvPr>
              <p:cNvSpPr txBox="1"/>
              <p:nvPr/>
            </p:nvSpPr>
            <p:spPr>
              <a:xfrm>
                <a:off x="271250" y="1125715"/>
                <a:ext cx="10796554" cy="1192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300"/>
                  </a:spcAft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solidFill>
                      <a:srgbClr val="2E2C2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 search is defined </a:t>
                </a:r>
                <a:r>
                  <a:rPr lang="en-US" sz="1600" dirty="0" err="1">
                    <a:solidFill>
                      <a:srgbClr val="2E2C2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s.t.</a:t>
                </a:r>
                <a:r>
                  <a:rPr lang="en-US" sz="1600" dirty="0">
                    <a:solidFill>
                      <a:srgbClr val="2E2C2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each simulation stops when it encounters either:</a:t>
                </a:r>
              </a:p>
              <a:p>
                <a:pPr marL="742950" lvl="1" indent="-285750">
                  <a:spcAft>
                    <a:spcPts val="300"/>
                  </a:spcAft>
                  <a:buFont typeface="Courier New" panose="02070309020205020404" pitchFamily="49" charset="0"/>
                  <a:buChar char="o"/>
                </a:pPr>
                <a:r>
                  <a:rPr lang="en-US" sz="1600" b="0" dirty="0">
                    <a:solidFill>
                      <a:srgbClr val="2E2C28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 terminal state, and back propagate using terminal reward, or</a:t>
                </a:r>
              </a:p>
              <a:p>
                <a:pPr marL="742950" lvl="1" indent="-285750">
                  <a:spcAft>
                    <a:spcPts val="300"/>
                  </a:spcAft>
                  <a:buFont typeface="Courier New" panose="02070309020205020404" pitchFamily="49" charset="0"/>
                  <a:buChar char="o"/>
                </a:pPr>
                <a:r>
                  <a:rPr lang="en-US" sz="1600" b="0" dirty="0">
                    <a:latin typeface="Calibri" panose="020F0502020204030204" pitchFamily="34" charset="0"/>
                    <a:ea typeface="Cambria Math" panose="02040503050406030204" pitchFamily="18" charset="0"/>
                  </a:rPr>
                  <a:t>A previously unexpected nonterminal state, and back propagate using the estimation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endParaRPr lang="en-US" sz="1600" b="0" dirty="0"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algn="ctr">
                  <a:spcAft>
                    <a:spcPts val="300"/>
                  </a:spcAft>
                </a:pPr>
                <a:endParaRPr 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AA83E6D-C178-1C32-3A37-7229B3902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50" y="1125715"/>
                <a:ext cx="10796554" cy="1192634"/>
              </a:xfrm>
              <a:prstGeom prst="rect">
                <a:avLst/>
              </a:prstGeom>
              <a:blipFill>
                <a:blip r:embed="rId3"/>
                <a:stretch>
                  <a:fillRect l="-235" t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B0A6E091-687E-9EA7-985F-DF3422519498}"/>
              </a:ext>
            </a:extLst>
          </p:cNvPr>
          <p:cNvGrpSpPr/>
          <p:nvPr/>
        </p:nvGrpSpPr>
        <p:grpSpPr>
          <a:xfrm>
            <a:off x="271250" y="2266378"/>
            <a:ext cx="6159208" cy="4406242"/>
            <a:chOff x="785642" y="2206224"/>
            <a:chExt cx="6159208" cy="4406242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6A2BA307-CF3A-03B5-69FE-3F1F17F73ED7}"/>
                </a:ext>
              </a:extLst>
            </p:cNvPr>
            <p:cNvGrpSpPr/>
            <p:nvPr/>
          </p:nvGrpSpPr>
          <p:grpSpPr>
            <a:xfrm>
              <a:off x="1124196" y="2206224"/>
              <a:ext cx="5820654" cy="4406242"/>
              <a:chOff x="1124196" y="2206224"/>
              <a:chExt cx="5820654" cy="440624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CA7C9B8A-7556-192D-CE23-D06E2D9CE1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4196" y="2206224"/>
                <a:ext cx="5820654" cy="2135388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025DBA87-7E33-A958-3259-ADBA72B8BB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24196" y="4477078"/>
                <a:ext cx="5820654" cy="2135388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A293F9DF-9D9B-CC67-2333-91883F695280}"/>
                  </a:ext>
                </a:extLst>
              </p:cNvPr>
              <p:cNvSpPr/>
              <p:nvPr/>
            </p:nvSpPr>
            <p:spPr>
              <a:xfrm>
                <a:off x="1388533" y="2658531"/>
                <a:ext cx="745067" cy="152400"/>
              </a:xfrm>
              <a:prstGeom prst="ellipse">
                <a:avLst/>
              </a:prstGeom>
              <a:solidFill>
                <a:srgbClr val="C00000">
                  <a:alpha val="50000"/>
                </a:srgb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12D29677-7576-2DFE-7249-CF525BC819CA}"/>
                  </a:ext>
                </a:extLst>
              </p:cNvPr>
              <p:cNvSpPr/>
              <p:nvPr/>
            </p:nvSpPr>
            <p:spPr>
              <a:xfrm>
                <a:off x="1388533" y="3564464"/>
                <a:ext cx="745067" cy="152400"/>
              </a:xfrm>
              <a:prstGeom prst="ellipse">
                <a:avLst/>
              </a:prstGeom>
              <a:solidFill>
                <a:srgbClr val="C00000">
                  <a:alpha val="50000"/>
                </a:srgb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564ECDE-6196-644A-A3E0-389863CB6527}"/>
                  </a:ext>
                </a:extLst>
              </p:cNvPr>
              <p:cNvSpPr/>
              <p:nvPr/>
            </p:nvSpPr>
            <p:spPr>
              <a:xfrm>
                <a:off x="1388532" y="5078211"/>
                <a:ext cx="745067" cy="152400"/>
              </a:xfrm>
              <a:prstGeom prst="ellipse">
                <a:avLst/>
              </a:prstGeom>
              <a:solidFill>
                <a:srgbClr val="17803C">
                  <a:alpha val="50000"/>
                </a:srgbClr>
              </a:solidFill>
              <a:ln>
                <a:solidFill>
                  <a:srgbClr val="17803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FD8B1A4-2879-DB4D-E49D-363209EB62FE}"/>
                  </a:ext>
                </a:extLst>
              </p:cNvPr>
              <p:cNvSpPr/>
              <p:nvPr/>
            </p:nvSpPr>
            <p:spPr>
              <a:xfrm>
                <a:off x="1388531" y="5831744"/>
                <a:ext cx="745067" cy="152400"/>
              </a:xfrm>
              <a:prstGeom prst="ellipse">
                <a:avLst/>
              </a:prstGeom>
              <a:solidFill>
                <a:srgbClr val="17803C">
                  <a:alpha val="50000"/>
                </a:srgbClr>
              </a:solidFill>
              <a:ln>
                <a:solidFill>
                  <a:srgbClr val="17803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E7F7A18-C5E7-98E9-D8E8-2A622606142F}"/>
                </a:ext>
              </a:extLst>
            </p:cNvPr>
            <p:cNvSpPr txBox="1"/>
            <p:nvPr/>
          </p:nvSpPr>
          <p:spPr>
            <a:xfrm rot="16200000">
              <a:off x="203339" y="2909428"/>
              <a:ext cx="152728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0" dirty="0">
                  <a:solidFill>
                    <a:srgbClr val="C00000"/>
                  </a:solidFill>
                  <a:latin typeface="Calibri" panose="020F0502020204030204" pitchFamily="34" charset="0"/>
                  <a:ea typeface="Cambria Math" panose="02040503050406030204" pitchFamily="18" charset="0"/>
                </a:rPr>
                <a:t>Actions in sim2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EFE6F56-108C-D32B-D7AA-5B3422DAEF1A}"/>
                </a:ext>
              </a:extLst>
            </p:cNvPr>
            <p:cNvSpPr txBox="1"/>
            <p:nvPr/>
          </p:nvSpPr>
          <p:spPr>
            <a:xfrm rot="16200000">
              <a:off x="191275" y="5345043"/>
              <a:ext cx="152728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0" dirty="0">
                  <a:solidFill>
                    <a:srgbClr val="17803C"/>
                  </a:solidFill>
                  <a:latin typeface="Calibri" panose="020F0502020204030204" pitchFamily="34" charset="0"/>
                  <a:ea typeface="Cambria Math" panose="02040503050406030204" pitchFamily="18" charset="0"/>
                </a:rPr>
                <a:t>Actions in sim9</a:t>
              </a:r>
              <a:endParaRPr lang="en-US" dirty="0">
                <a:solidFill>
                  <a:srgbClr val="17803C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FA96E4C-2479-0BE2-57F0-8B78892473F0}"/>
                  </a:ext>
                </a:extLst>
              </p:cNvPr>
              <p:cNvSpPr txBox="1"/>
              <p:nvPr/>
            </p:nvSpPr>
            <p:spPr>
              <a:xfrm>
                <a:off x="6577077" y="2266378"/>
                <a:ext cx="5614923" cy="41000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600" b="1" noProof="0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The reason behand this behaviour hides behind the: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600" b="1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Update rule: Q varies between each iteration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1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1600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600" b="1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600" b="1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1600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1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600" b="1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sz="1600" b="1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1600" b="1" i="1" dirty="0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GB" sz="16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sz="1600" b="1" i="0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1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GB" sz="1600" b="1" i="0" dirty="0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GB" sz="1600" b="1" i="1" dirty="0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GB" sz="16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sz="1600" b="1" i="0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1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GB" sz="1600" b="1" i="0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dirty="0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GB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sz="16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GB" sz="16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f>
                        <m:fPr>
                          <m:ctrlPr>
                            <a:rPr lang="en-GB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d>
                            <m:dPr>
                              <m:ctrlPr>
                                <a:rPr lang="en-GB" sz="16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GB" sz="16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16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en-GB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GB" sz="16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GB" sz="1600" b="1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16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1600" b="1" dirty="0">
                  <a:solidFill>
                    <a:srgbClr val="0000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GB" sz="1600" b="1" dirty="0">
                  <a:solidFill>
                    <a:srgbClr val="0000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600" b="1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PUCT adjustment: exploitation term varies between each iteration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𝑝𝑢𝑐𝑡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nary>
                                            <m:naryPr>
                                              <m:chr m:val="∑"/>
                                              <m:limLoc m:val="undOvr"/>
                                              <m:supHide m:val="on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b>
                                            <m:sup/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e>
                                          </m:nary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</m:d>
                                        </m:e>
                                      </m:rad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dirty="0"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algn="ctr"/>
                <a:endParaRPr lang="en-US" dirty="0"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00FF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higher P </a:t>
                </a:r>
                <a14:m>
                  <m:oMath xmlns:m="http://schemas.openxmlformats.org/officeDocument/2006/math">
                    <m:r>
                      <a:rPr lang="en-US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higher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>
                  <a:solidFill>
                    <a:srgbClr val="0000FF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00FF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higher number of visit, N(</a:t>
                </a:r>
                <a:r>
                  <a:rPr lang="en-US" dirty="0" err="1">
                    <a:solidFill>
                      <a:srgbClr val="0000FF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s,a</a:t>
                </a:r>
                <a:r>
                  <a:rPr lang="en-US" dirty="0">
                    <a:solidFill>
                      <a:srgbClr val="0000FF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 lower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>
                  <a:solidFill>
                    <a:srgbClr val="0000FF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00FF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higher total visit,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/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nary>
                    <m:d>
                      <m:d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  <a:latin typeface="Calibri" panose="020F0502020204030204" pitchFamily="34" charset="0"/>
                    <a:ea typeface="Cambria Math" panose="02040503050406030204" pitchFamily="18" charset="0"/>
                  </a:rPr>
                  <a:t> higher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>
                  <a:solidFill>
                    <a:srgbClr val="0000FF"/>
                  </a:solidFill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FA96E4C-2479-0BE2-57F0-8B7889247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077" y="2266378"/>
                <a:ext cx="5614923" cy="4100097"/>
              </a:xfrm>
              <a:prstGeom prst="rect">
                <a:avLst/>
              </a:prstGeom>
              <a:blipFill>
                <a:blip r:embed="rId6"/>
                <a:stretch>
                  <a:fillRect l="-450" t="-309" b="-145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Slide Number Placeholder 15">
            <a:extLst>
              <a:ext uri="{FF2B5EF4-FFF2-40B4-BE49-F238E27FC236}">
                <a16:creationId xmlns:a16="http://schemas.microsoft.com/office/drawing/2014/main" id="{A7FD1CEC-CC92-EC76-45A9-F14C0ED47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US" noProof="0" dirty="0"/>
              <a:t>5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92408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78ACB-3535-1B8E-ED92-B94EA57F2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6A95EF-3690-3A83-295A-69629976BBF7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077F068-8FA6-3784-5BAE-320FA6A9B058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Attempt I: Searching Update</a:t>
            </a:r>
          </a:p>
        </p:txBody>
      </p:sp>
      <p:sp>
        <p:nvSpPr>
          <p:cNvPr id="2" name="Slide Number Placeholder 15">
            <a:extLst>
              <a:ext uri="{FF2B5EF4-FFF2-40B4-BE49-F238E27FC236}">
                <a16:creationId xmlns:a16="http://schemas.microsoft.com/office/drawing/2014/main" id="{0070C2A7-B5CA-4F94-5F25-B6134D140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US" noProof="0" dirty="0"/>
              <a:t>6</a:t>
            </a:r>
            <a:endParaRPr lang="en-GB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72265F-2A0C-C14F-A73E-2C37138E4D9C}"/>
              </a:ext>
            </a:extLst>
          </p:cNvPr>
          <p:cNvSpPr/>
          <p:nvPr/>
        </p:nvSpPr>
        <p:spPr>
          <a:xfrm>
            <a:off x="6053063" y="1247678"/>
            <a:ext cx="1073889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C, O, 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AC9AE3-A025-C462-3455-8EF23A54D0B8}"/>
              </a:ext>
            </a:extLst>
          </p:cNvPr>
          <p:cNvSpPr/>
          <p:nvPr/>
        </p:nvSpPr>
        <p:spPr>
          <a:xfrm>
            <a:off x="2196989" y="2822583"/>
            <a:ext cx="1073889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C-O, 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5A12CF-39E8-62DB-6E4E-7F059D074C1C}"/>
              </a:ext>
            </a:extLst>
          </p:cNvPr>
          <p:cNvSpPr/>
          <p:nvPr/>
        </p:nvSpPr>
        <p:spPr>
          <a:xfrm>
            <a:off x="4805063" y="2819038"/>
            <a:ext cx="1073889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C, O-H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3E9524-AAC6-2E13-C835-CC15BB4DB70C}"/>
              </a:ext>
            </a:extLst>
          </p:cNvPr>
          <p:cNvSpPr/>
          <p:nvPr/>
        </p:nvSpPr>
        <p:spPr>
          <a:xfrm>
            <a:off x="10021209" y="2819038"/>
            <a:ext cx="1168243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C, H, O Terminal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D2E3FF-2133-D718-12FE-8780D62C9E25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flipH="1">
            <a:off x="2733934" y="1864366"/>
            <a:ext cx="3856074" cy="9582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7E56AA9-1302-F23D-073C-EE12E4ECEEB0}"/>
              </a:ext>
            </a:extLst>
          </p:cNvPr>
          <p:cNvCxnSpPr>
            <a:cxnSpLocks/>
            <a:stCxn id="3" idx="2"/>
            <a:endCxn id="7" idx="0"/>
          </p:cNvCxnSpPr>
          <p:nvPr/>
        </p:nvCxnSpPr>
        <p:spPr>
          <a:xfrm flipH="1">
            <a:off x="5342008" y="1864366"/>
            <a:ext cx="1248000" cy="9546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B84D98-A6F7-5E63-D5FE-636DC8E47EF9}"/>
              </a:ext>
            </a:extLst>
          </p:cNvPr>
          <p:cNvCxnSpPr>
            <a:cxnSpLocks/>
            <a:stCxn id="3" idx="2"/>
            <a:endCxn id="25" idx="0"/>
          </p:cNvCxnSpPr>
          <p:nvPr/>
        </p:nvCxnSpPr>
        <p:spPr>
          <a:xfrm>
            <a:off x="6590008" y="1864366"/>
            <a:ext cx="1646501" cy="9628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C396DD4-D1B1-1A01-479A-4B7616C0ECC5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>
            <a:off x="6590008" y="1864366"/>
            <a:ext cx="4015323" cy="9546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3CBA05C-E486-749B-A027-10B80CEE5050}"/>
                  </a:ext>
                </a:extLst>
              </p:cNvPr>
              <p:cNvSpPr/>
              <p:nvPr/>
            </p:nvSpPr>
            <p:spPr>
              <a:xfrm>
                <a:off x="3412432" y="2217734"/>
                <a:ext cx="1139005" cy="4055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Form C-O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=0.60</m:t>
                      </m:r>
                    </m:oMath>
                  </m:oMathPara>
                </a14:m>
                <a:endParaRPr lang="en-US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3CBA05C-E486-749B-A027-10B80CEE50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432" y="2217734"/>
                <a:ext cx="1139005" cy="405587"/>
              </a:xfrm>
              <a:prstGeom prst="rect">
                <a:avLst/>
              </a:prstGeom>
              <a:blipFill>
                <a:blip r:embed="rId3"/>
                <a:stretch>
                  <a:fillRect t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0530BFB-FD97-7A4B-912D-1059427244F9}"/>
                  </a:ext>
                </a:extLst>
              </p:cNvPr>
              <p:cNvSpPr/>
              <p:nvPr/>
            </p:nvSpPr>
            <p:spPr>
              <a:xfrm>
                <a:off x="5276786" y="2217734"/>
                <a:ext cx="1139005" cy="4055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Form O-H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1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=0.34</m:t>
                      </m:r>
                    </m:oMath>
                  </m:oMathPara>
                </a14:m>
                <a:endParaRPr lang="en-US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0530BFB-FD97-7A4B-912D-1059427244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6786" y="2217734"/>
                <a:ext cx="1139005" cy="405587"/>
              </a:xfrm>
              <a:prstGeom prst="rect">
                <a:avLst/>
              </a:prstGeom>
              <a:blipFill>
                <a:blip r:embed="rId4"/>
                <a:stretch>
                  <a:fillRect t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A8F027D-74A3-A901-04DE-E55FFB932B15}"/>
                  </a:ext>
                </a:extLst>
              </p:cNvPr>
              <p:cNvSpPr/>
              <p:nvPr/>
            </p:nvSpPr>
            <p:spPr>
              <a:xfrm>
                <a:off x="6833282" y="2217734"/>
                <a:ext cx="1139005" cy="4055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Form C-H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1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=0.06</m:t>
                      </m:r>
                    </m:oMath>
                  </m:oMathPara>
                </a14:m>
                <a:endParaRPr lang="en-US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A8F027D-74A3-A901-04DE-E55FFB932B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3282" y="2217734"/>
                <a:ext cx="1139005" cy="405587"/>
              </a:xfrm>
              <a:prstGeom prst="rect">
                <a:avLst/>
              </a:prstGeom>
              <a:blipFill>
                <a:blip r:embed="rId5"/>
                <a:stretch>
                  <a:fillRect t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1D237ED-FA1C-DC85-1A11-E721E7C6FC34}"/>
                  </a:ext>
                </a:extLst>
              </p:cNvPr>
              <p:cNvSpPr/>
              <p:nvPr/>
            </p:nvSpPr>
            <p:spPr>
              <a:xfrm>
                <a:off x="8536940" y="2217734"/>
                <a:ext cx="1139005" cy="4055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C00000"/>
                    </a:solidFill>
                  </a:rPr>
                  <a:t>STOP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1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=0.00</m:t>
                      </m:r>
                    </m:oMath>
                  </m:oMathPara>
                </a14:m>
                <a:endParaRPr lang="en-US" sz="1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1D237ED-FA1C-DC85-1A11-E721E7C6FC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6940" y="2217734"/>
                <a:ext cx="1139005" cy="405587"/>
              </a:xfrm>
              <a:prstGeom prst="rect">
                <a:avLst/>
              </a:prstGeom>
              <a:blipFill>
                <a:blip r:embed="rId6"/>
                <a:stretch>
                  <a:fillRect t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8849742F-2FCB-2527-F6B1-2381F2D7D0FA}"/>
              </a:ext>
            </a:extLst>
          </p:cNvPr>
          <p:cNvSpPr/>
          <p:nvPr/>
        </p:nvSpPr>
        <p:spPr>
          <a:xfrm>
            <a:off x="3451357" y="4755802"/>
            <a:ext cx="1184141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C-O-H</a:t>
            </a:r>
          </a:p>
          <a:p>
            <a:pPr algn="ctr"/>
            <a:r>
              <a:rPr lang="en-US" sz="2000" dirty="0">
                <a:solidFill>
                  <a:srgbClr val="C00000"/>
                </a:solidFill>
              </a:rPr>
              <a:t>Terminal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7CC761-1606-D58B-9DC9-0A6AC0A29B07}"/>
              </a:ext>
            </a:extLst>
          </p:cNvPr>
          <p:cNvSpPr/>
          <p:nvPr/>
        </p:nvSpPr>
        <p:spPr>
          <a:xfrm>
            <a:off x="766577" y="4755802"/>
            <a:ext cx="1184141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C-O, H</a:t>
            </a:r>
          </a:p>
          <a:p>
            <a:pPr algn="ctr"/>
            <a:r>
              <a:rPr lang="en-US" sz="2000" dirty="0">
                <a:solidFill>
                  <a:srgbClr val="C00000"/>
                </a:solidFill>
              </a:rPr>
              <a:t>Terminal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2A8F561-7D13-E19F-884F-E24556B8FFB8}"/>
              </a:ext>
            </a:extLst>
          </p:cNvPr>
          <p:cNvCxnSpPr>
            <a:cxnSpLocks/>
            <a:stCxn id="4" idx="2"/>
            <a:endCxn id="20" idx="0"/>
          </p:cNvCxnSpPr>
          <p:nvPr/>
        </p:nvCxnSpPr>
        <p:spPr>
          <a:xfrm flipH="1">
            <a:off x="1358648" y="3439271"/>
            <a:ext cx="1375286" cy="13165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9F284CA-695A-7BE1-C615-A5FED72EB6C6}"/>
              </a:ext>
            </a:extLst>
          </p:cNvPr>
          <p:cNvCxnSpPr>
            <a:cxnSpLocks/>
            <a:stCxn id="4" idx="2"/>
            <a:endCxn id="19" idx="0"/>
          </p:cNvCxnSpPr>
          <p:nvPr/>
        </p:nvCxnSpPr>
        <p:spPr>
          <a:xfrm>
            <a:off x="2733934" y="3439271"/>
            <a:ext cx="1309494" cy="13165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E96D5EE-86AD-6E40-DDC7-B1E6FCFDDA5E}"/>
              </a:ext>
            </a:extLst>
          </p:cNvPr>
          <p:cNvCxnSpPr>
            <a:cxnSpLocks/>
            <a:stCxn id="7" idx="2"/>
            <a:endCxn id="19" idx="0"/>
          </p:cNvCxnSpPr>
          <p:nvPr/>
        </p:nvCxnSpPr>
        <p:spPr>
          <a:xfrm flipH="1">
            <a:off x="4043428" y="3435726"/>
            <a:ext cx="1298580" cy="13200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BD6DBF66-D3EE-5BAD-A5E0-0D9893DABD84}"/>
              </a:ext>
            </a:extLst>
          </p:cNvPr>
          <p:cNvSpPr/>
          <p:nvPr/>
        </p:nvSpPr>
        <p:spPr>
          <a:xfrm>
            <a:off x="6136137" y="4763435"/>
            <a:ext cx="1184141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C, O-H</a:t>
            </a:r>
          </a:p>
          <a:p>
            <a:pPr algn="ctr"/>
            <a:r>
              <a:rPr lang="en-US" sz="2000" dirty="0">
                <a:solidFill>
                  <a:srgbClr val="C00000"/>
                </a:solidFill>
              </a:rPr>
              <a:t>Terminal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A19A3DD-7EFC-A02F-C586-73B8F8F4CC21}"/>
              </a:ext>
            </a:extLst>
          </p:cNvPr>
          <p:cNvSpPr/>
          <p:nvPr/>
        </p:nvSpPr>
        <p:spPr>
          <a:xfrm>
            <a:off x="7644438" y="2827208"/>
            <a:ext cx="1184141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C-H, O</a:t>
            </a:r>
          </a:p>
          <a:p>
            <a:pPr algn="ctr"/>
            <a:r>
              <a:rPr lang="en-US" sz="2000" dirty="0">
                <a:solidFill>
                  <a:srgbClr val="C00000"/>
                </a:solidFill>
              </a:rPr>
              <a:t>Terminal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7C8512E-843B-3A38-1F20-ACCC30B23E8F}"/>
              </a:ext>
            </a:extLst>
          </p:cNvPr>
          <p:cNvCxnSpPr>
            <a:cxnSpLocks/>
            <a:stCxn id="7" idx="2"/>
            <a:endCxn id="24" idx="0"/>
          </p:cNvCxnSpPr>
          <p:nvPr/>
        </p:nvCxnSpPr>
        <p:spPr>
          <a:xfrm>
            <a:off x="5342008" y="3435726"/>
            <a:ext cx="1386200" cy="13277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FC111A5-06B5-21DF-2675-67A2F2785FB4}"/>
              </a:ext>
            </a:extLst>
          </p:cNvPr>
          <p:cNvSpPr txBox="1"/>
          <p:nvPr/>
        </p:nvSpPr>
        <p:spPr>
          <a:xfrm>
            <a:off x="943703" y="5644425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 = 0.7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38DDDB-37E9-1E1A-9ADC-E7588057E8D8}"/>
              </a:ext>
            </a:extLst>
          </p:cNvPr>
          <p:cNvSpPr txBox="1"/>
          <p:nvPr/>
        </p:nvSpPr>
        <p:spPr>
          <a:xfrm>
            <a:off x="3652356" y="5662836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 = 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38C5B6-AD12-CA23-5100-3CA347C1650F}"/>
              </a:ext>
            </a:extLst>
          </p:cNvPr>
          <p:cNvSpPr txBox="1"/>
          <p:nvPr/>
        </p:nvSpPr>
        <p:spPr>
          <a:xfrm>
            <a:off x="7812353" y="3498247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 = 0.6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9F646A-E321-E74D-0449-CE70AAFD11A4}"/>
              </a:ext>
            </a:extLst>
          </p:cNvPr>
          <p:cNvSpPr txBox="1"/>
          <p:nvPr/>
        </p:nvSpPr>
        <p:spPr>
          <a:xfrm>
            <a:off x="6436623" y="5644425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 = 0.6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C27EBF-E418-EC8F-C5A5-EC7693672556}"/>
              </a:ext>
            </a:extLst>
          </p:cNvPr>
          <p:cNvSpPr txBox="1"/>
          <p:nvPr/>
        </p:nvSpPr>
        <p:spPr>
          <a:xfrm>
            <a:off x="10377352" y="3498247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 =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8C0C5F8D-82B1-CC7F-13E9-3C411BC38CD3}"/>
                  </a:ext>
                </a:extLst>
              </p:cNvPr>
              <p:cNvSpPr/>
              <p:nvPr/>
            </p:nvSpPr>
            <p:spPr>
              <a:xfrm>
                <a:off x="1196799" y="3936463"/>
                <a:ext cx="1139005" cy="4055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C00000"/>
                    </a:solidFill>
                  </a:rPr>
                  <a:t>STOP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1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=0.06</m:t>
                      </m:r>
                    </m:oMath>
                  </m:oMathPara>
                </a14:m>
                <a:endParaRPr lang="en-US" sz="1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8C0C5F8D-82B1-CC7F-13E9-3C411BC38C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6799" y="3936463"/>
                <a:ext cx="1139005" cy="405587"/>
              </a:xfrm>
              <a:prstGeom prst="rect">
                <a:avLst/>
              </a:prstGeom>
              <a:blipFill>
                <a:blip r:embed="rId7"/>
                <a:stretch>
                  <a:fillRect t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A1A6732-C6A5-5FDB-810D-0CD247E9B887}"/>
                  </a:ext>
                </a:extLst>
              </p:cNvPr>
              <p:cNvSpPr/>
              <p:nvPr/>
            </p:nvSpPr>
            <p:spPr>
              <a:xfrm>
                <a:off x="2743362" y="3928819"/>
                <a:ext cx="1139005" cy="4055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Form O-H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1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=0.94</m:t>
                      </m:r>
                    </m:oMath>
                  </m:oMathPara>
                </a14:m>
                <a:endParaRPr lang="en-US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A1A6732-C6A5-5FDB-810D-0CD247E9B8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362" y="3928819"/>
                <a:ext cx="1139005" cy="405587"/>
              </a:xfrm>
              <a:prstGeom prst="rect">
                <a:avLst/>
              </a:prstGeom>
              <a:blipFill>
                <a:blip r:embed="rId8"/>
                <a:stretch>
                  <a:fillRect t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4678DE7-27E2-1774-4BAD-6F63946A5DC2}"/>
                  </a:ext>
                </a:extLst>
              </p:cNvPr>
              <p:cNvSpPr/>
              <p:nvPr/>
            </p:nvSpPr>
            <p:spPr>
              <a:xfrm>
                <a:off x="5634687" y="3928819"/>
                <a:ext cx="1139005" cy="4055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C00000"/>
                    </a:solidFill>
                  </a:rPr>
                  <a:t>STOP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1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=0.08</m:t>
                      </m:r>
                    </m:oMath>
                  </m:oMathPara>
                </a14:m>
                <a:endParaRPr lang="en-US" sz="1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4678DE7-27E2-1774-4BAD-6F63946A5D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4687" y="3928819"/>
                <a:ext cx="1139005" cy="405587"/>
              </a:xfrm>
              <a:prstGeom prst="rect">
                <a:avLst/>
              </a:prstGeom>
              <a:blipFill>
                <a:blip r:embed="rId9"/>
                <a:stretch>
                  <a:fillRect t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DA2AB9A-E191-3D8E-CE76-48F66CB0C679}"/>
                  </a:ext>
                </a:extLst>
              </p:cNvPr>
              <p:cNvSpPr/>
              <p:nvPr/>
            </p:nvSpPr>
            <p:spPr>
              <a:xfrm>
                <a:off x="4144868" y="3928819"/>
                <a:ext cx="1139005" cy="4055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Form C-O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1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=0.92</m:t>
                      </m:r>
                    </m:oMath>
                  </m:oMathPara>
                </a14:m>
                <a:endParaRPr lang="en-US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DA2AB9A-E191-3D8E-CE76-48F66CB0C6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868" y="3928819"/>
                <a:ext cx="1139005" cy="405587"/>
              </a:xfrm>
              <a:prstGeom prst="rect">
                <a:avLst/>
              </a:prstGeom>
              <a:blipFill>
                <a:blip r:embed="rId10"/>
                <a:stretch>
                  <a:fillRect t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A3EF869-D908-852D-5083-D84D7F0701CA}"/>
                  </a:ext>
                </a:extLst>
              </p:cNvPr>
              <p:cNvSpPr txBox="1"/>
              <p:nvPr/>
            </p:nvSpPr>
            <p:spPr>
              <a:xfrm>
                <a:off x="606441" y="3147544"/>
                <a:ext cx="1657826" cy="3751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˜"/>
                              <m:ctrlP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𝑈𝐶𝑇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=0.981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A3EF869-D908-852D-5083-D84D7F070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41" y="3147544"/>
                <a:ext cx="1657826" cy="37516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903DD4D-06B6-A045-5B45-A56FDA915C2E}"/>
                  </a:ext>
                </a:extLst>
              </p:cNvPr>
              <p:cNvSpPr txBox="1"/>
              <p:nvPr/>
            </p:nvSpPr>
            <p:spPr>
              <a:xfrm>
                <a:off x="5878952" y="3318194"/>
                <a:ext cx="1657826" cy="3751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˜"/>
                              <m:ctrlP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𝑈𝐶𝑇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=0.969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903DD4D-06B6-A045-5B45-A56FDA915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952" y="3318194"/>
                <a:ext cx="1657826" cy="37516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C5A8BAD-2EB0-4E21-AA6D-6A282038E1A2}"/>
                  </a:ext>
                </a:extLst>
              </p:cNvPr>
              <p:cNvSpPr txBox="1"/>
              <p:nvPr/>
            </p:nvSpPr>
            <p:spPr>
              <a:xfrm>
                <a:off x="7289742" y="1381967"/>
                <a:ext cx="1657826" cy="3751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˜"/>
                              <m:ctrlP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𝑈𝐶𝑇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=0.945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C5A8BAD-2EB0-4E21-AA6D-6A282038E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742" y="1381967"/>
                <a:ext cx="1657826" cy="37516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D4CB3A4-4A5C-372D-7EAA-D010ACAF6568}"/>
                  </a:ext>
                </a:extLst>
              </p:cNvPr>
              <p:cNvSpPr txBox="1"/>
              <p:nvPr/>
            </p:nvSpPr>
            <p:spPr>
              <a:xfrm>
                <a:off x="8236508" y="4963775"/>
                <a:ext cx="3651962" cy="6521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i="1" dirty="0"/>
                  <a:t>    : Action Policy Evaluation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˜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𝑃𝑈𝐶𝑇</m:t>
                        </m:r>
                      </m:sub>
                    </m:sSub>
                  </m:oMath>
                </a14:m>
                <a:r>
                  <a:rPr lang="en-US" i="1" dirty="0"/>
                  <a:t>: Policy Evaluated State Value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D4CB3A4-4A5C-372D-7EAA-D010ACAF6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6508" y="4963775"/>
                <a:ext cx="3651962" cy="652166"/>
              </a:xfrm>
              <a:prstGeom prst="rect">
                <a:avLst/>
              </a:prstGeom>
              <a:blipFill>
                <a:blip r:embed="rId14"/>
                <a:stretch>
                  <a:fillRect t="-3774" r="-346"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4070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53991-DA13-0878-A7AF-951197FD3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2D989C-C12B-F541-10D0-C4919D79B194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BBF749-27B3-8590-FAB0-0A5886D5BAD8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Attempt II: Monte Carlo Tree Search with </a:t>
            </a:r>
            <a:r>
              <a:rPr lang="en-US" sz="2600" b="1" u="sng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Neural Network Agent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A0A256-EF5A-95A3-CDD2-E6943642D119}"/>
              </a:ext>
            </a:extLst>
          </p:cNvPr>
          <p:cNvSpPr txBox="1"/>
          <p:nvPr/>
        </p:nvSpPr>
        <p:spPr>
          <a:xfrm>
            <a:off x="557246" y="1889644"/>
            <a:ext cx="10796554" cy="2793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There are two problems inherent from Monte Carlo Tree Search:</a:t>
            </a:r>
          </a:p>
          <a:p>
            <a:pPr marL="742950" lvl="1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cs typeface="Calibri" panose="020F0502020204030204" pitchFamily="34" charset="0"/>
              </a:rPr>
              <a:t>Intermediate state value estimation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: The previous example assign 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fixed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intermediate value. This assignment may not be accurate, or even possible for a complex system</a:t>
            </a:r>
          </a:p>
          <a:p>
            <a:pPr marL="742950" lvl="1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cs typeface="Calibri" panose="020F0502020204030204" pitchFamily="34" charset="0"/>
              </a:rPr>
              <a:t>Lack of nonlinear decision-making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: The current PUCT evaluation lacks nonlinearity for action policy.</a:t>
            </a:r>
          </a:p>
          <a:p>
            <a:pPr marL="285750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17803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Solution: Neural Network Agent for policy making</a:t>
            </a:r>
          </a:p>
        </p:txBody>
      </p:sp>
      <p:sp>
        <p:nvSpPr>
          <p:cNvPr id="19" name="Slide Number Placeholder 15">
            <a:extLst>
              <a:ext uri="{FF2B5EF4-FFF2-40B4-BE49-F238E27FC236}">
                <a16:creationId xmlns:a16="http://schemas.microsoft.com/office/drawing/2014/main" id="{9476F8B9-346B-60B6-3152-CE019F45B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US" dirty="0"/>
              <a:t>7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91806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F5F7C-C843-FCEB-0334-7AF4AE32A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07">
            <a:extLst>
              <a:ext uri="{FF2B5EF4-FFF2-40B4-BE49-F238E27FC236}">
                <a16:creationId xmlns:a16="http://schemas.microsoft.com/office/drawing/2014/main" id="{524ACA8F-F4D6-5ADB-DDD2-A290F1D92536}"/>
              </a:ext>
            </a:extLst>
          </p:cNvPr>
          <p:cNvSpPr/>
          <p:nvPr/>
        </p:nvSpPr>
        <p:spPr>
          <a:xfrm>
            <a:off x="7918483" y="4410837"/>
            <a:ext cx="3933750" cy="1268733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700EE4-02D7-877B-1860-74F929B8D2EF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899A1AF-0754-7D45-703E-752136AF9913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Attempt II: MCTS + </a:t>
            </a:r>
            <a:r>
              <a:rPr lang="en-US" sz="2600" b="1" u="sng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Neural Network Agent</a:t>
            </a:r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 Initialization</a:t>
            </a:r>
            <a:endParaRPr lang="en-US" sz="2600" b="1" u="sng" dirty="0">
              <a:solidFill>
                <a:srgbClr val="2E2C28"/>
              </a:solidFill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  <p:sp>
        <p:nvSpPr>
          <p:cNvPr id="19" name="Slide Number Placeholder 15">
            <a:extLst>
              <a:ext uri="{FF2B5EF4-FFF2-40B4-BE49-F238E27FC236}">
                <a16:creationId xmlns:a16="http://schemas.microsoft.com/office/drawing/2014/main" id="{D6E3AB1E-4734-FDB9-0382-B3A6F827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US" dirty="0"/>
              <a:t>8</a:t>
            </a:r>
            <a:endParaRPr lang="en-GB" noProof="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375C17E-A9A1-51E2-32B4-FFA5AB22D068}"/>
              </a:ext>
            </a:extLst>
          </p:cNvPr>
          <p:cNvSpPr/>
          <p:nvPr/>
        </p:nvSpPr>
        <p:spPr>
          <a:xfrm>
            <a:off x="6136287" y="861025"/>
            <a:ext cx="1073889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C, O, H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20B2458-DBE9-8EA3-4726-87C6499BBD80}"/>
              </a:ext>
            </a:extLst>
          </p:cNvPr>
          <p:cNvSpPr/>
          <p:nvPr/>
        </p:nvSpPr>
        <p:spPr>
          <a:xfrm>
            <a:off x="2280213" y="2435930"/>
            <a:ext cx="1073889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C-O, H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9688497-1158-5578-9619-5A0EF10BBA3D}"/>
              </a:ext>
            </a:extLst>
          </p:cNvPr>
          <p:cNvSpPr/>
          <p:nvPr/>
        </p:nvSpPr>
        <p:spPr>
          <a:xfrm>
            <a:off x="4888287" y="2432385"/>
            <a:ext cx="1073889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C, O-H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3C1A5C8-8EA8-FAD5-1164-1E6D04587CBF}"/>
              </a:ext>
            </a:extLst>
          </p:cNvPr>
          <p:cNvSpPr/>
          <p:nvPr/>
        </p:nvSpPr>
        <p:spPr>
          <a:xfrm>
            <a:off x="10104433" y="2432385"/>
            <a:ext cx="1168243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C, H, O Terminal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825A5588-0DC3-5963-7E43-AD45829CA384}"/>
              </a:ext>
            </a:extLst>
          </p:cNvPr>
          <p:cNvCxnSpPr>
            <a:cxnSpLocks/>
            <a:stCxn id="74" idx="2"/>
            <a:endCxn id="75" idx="0"/>
          </p:cNvCxnSpPr>
          <p:nvPr/>
        </p:nvCxnSpPr>
        <p:spPr>
          <a:xfrm flipH="1">
            <a:off x="2817158" y="1477713"/>
            <a:ext cx="3856074" cy="9582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13AF492-55E4-4577-D363-8A4993B1DE71}"/>
              </a:ext>
            </a:extLst>
          </p:cNvPr>
          <p:cNvCxnSpPr>
            <a:cxnSpLocks/>
            <a:stCxn id="74" idx="2"/>
            <a:endCxn id="76" idx="0"/>
          </p:cNvCxnSpPr>
          <p:nvPr/>
        </p:nvCxnSpPr>
        <p:spPr>
          <a:xfrm flipH="1">
            <a:off x="5425232" y="1477713"/>
            <a:ext cx="1248000" cy="9546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D710CDC-433E-8575-8194-FF7462661440}"/>
              </a:ext>
            </a:extLst>
          </p:cNvPr>
          <p:cNvCxnSpPr>
            <a:cxnSpLocks/>
            <a:stCxn id="74" idx="2"/>
            <a:endCxn id="92" idx="0"/>
          </p:cNvCxnSpPr>
          <p:nvPr/>
        </p:nvCxnSpPr>
        <p:spPr>
          <a:xfrm>
            <a:off x="6673232" y="1477713"/>
            <a:ext cx="1646501" cy="9628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15B0838-9683-EFA2-368B-6875398AA717}"/>
              </a:ext>
            </a:extLst>
          </p:cNvPr>
          <p:cNvCxnSpPr>
            <a:cxnSpLocks/>
            <a:stCxn id="74" idx="2"/>
            <a:endCxn id="77" idx="0"/>
          </p:cNvCxnSpPr>
          <p:nvPr/>
        </p:nvCxnSpPr>
        <p:spPr>
          <a:xfrm>
            <a:off x="6673232" y="1477713"/>
            <a:ext cx="4015323" cy="9546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AEE1CF21-B329-6B19-D5E9-F04CCA978F98}"/>
              </a:ext>
            </a:extLst>
          </p:cNvPr>
          <p:cNvSpPr/>
          <p:nvPr/>
        </p:nvSpPr>
        <p:spPr>
          <a:xfrm>
            <a:off x="3495656" y="1831081"/>
            <a:ext cx="1139005" cy="4055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Form C-O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C177CFC-920C-D0A4-F131-04488278E10D}"/>
              </a:ext>
            </a:extLst>
          </p:cNvPr>
          <p:cNvSpPr/>
          <p:nvPr/>
        </p:nvSpPr>
        <p:spPr>
          <a:xfrm>
            <a:off x="5360010" y="1831081"/>
            <a:ext cx="1139005" cy="4055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Form O-H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82E197C-A702-566B-4511-24A396325E5B}"/>
              </a:ext>
            </a:extLst>
          </p:cNvPr>
          <p:cNvSpPr/>
          <p:nvPr/>
        </p:nvSpPr>
        <p:spPr>
          <a:xfrm>
            <a:off x="6916506" y="1831081"/>
            <a:ext cx="1139005" cy="4055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Form C-H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08C55EF-F716-0164-EBF1-EEB2A4F86941}"/>
              </a:ext>
            </a:extLst>
          </p:cNvPr>
          <p:cNvSpPr/>
          <p:nvPr/>
        </p:nvSpPr>
        <p:spPr>
          <a:xfrm>
            <a:off x="8620164" y="1831081"/>
            <a:ext cx="1139005" cy="4055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C00000"/>
                </a:solidFill>
              </a:rPr>
              <a:t>STOP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374565E-9BE8-FC33-56BB-E55CABC37203}"/>
              </a:ext>
            </a:extLst>
          </p:cNvPr>
          <p:cNvSpPr/>
          <p:nvPr/>
        </p:nvSpPr>
        <p:spPr>
          <a:xfrm>
            <a:off x="3534581" y="4369149"/>
            <a:ext cx="1184141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C-O-H</a:t>
            </a:r>
          </a:p>
          <a:p>
            <a:pPr algn="ctr"/>
            <a:r>
              <a:rPr lang="en-US" sz="2000" dirty="0">
                <a:solidFill>
                  <a:srgbClr val="C00000"/>
                </a:solidFill>
              </a:rPr>
              <a:t>Terminal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41E8013-BB61-BF38-5588-E88EDED146D3}"/>
              </a:ext>
            </a:extLst>
          </p:cNvPr>
          <p:cNvSpPr/>
          <p:nvPr/>
        </p:nvSpPr>
        <p:spPr>
          <a:xfrm>
            <a:off x="849801" y="4369149"/>
            <a:ext cx="1184141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C-O, H</a:t>
            </a:r>
          </a:p>
          <a:p>
            <a:pPr algn="ctr"/>
            <a:r>
              <a:rPr lang="en-US" sz="2000" dirty="0">
                <a:solidFill>
                  <a:srgbClr val="C00000"/>
                </a:solidFill>
              </a:rPr>
              <a:t>Terminal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B4615A1-B006-E9F6-4191-76E68973D28C}"/>
              </a:ext>
            </a:extLst>
          </p:cNvPr>
          <p:cNvCxnSpPr>
            <a:cxnSpLocks/>
            <a:stCxn id="75" idx="2"/>
            <a:endCxn id="87" idx="0"/>
          </p:cNvCxnSpPr>
          <p:nvPr/>
        </p:nvCxnSpPr>
        <p:spPr>
          <a:xfrm flipH="1">
            <a:off x="1441872" y="3052618"/>
            <a:ext cx="1375286" cy="13165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AA574DE3-A2CF-2EE7-CBF2-5833DE11BC15}"/>
              </a:ext>
            </a:extLst>
          </p:cNvPr>
          <p:cNvCxnSpPr>
            <a:cxnSpLocks/>
            <a:stCxn id="75" idx="2"/>
            <a:endCxn id="86" idx="0"/>
          </p:cNvCxnSpPr>
          <p:nvPr/>
        </p:nvCxnSpPr>
        <p:spPr>
          <a:xfrm>
            <a:off x="2817158" y="3052618"/>
            <a:ext cx="1309494" cy="13165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C77D2BBB-35A0-271B-BB78-E4D8CB2D561A}"/>
              </a:ext>
            </a:extLst>
          </p:cNvPr>
          <p:cNvCxnSpPr>
            <a:cxnSpLocks/>
            <a:stCxn id="76" idx="2"/>
            <a:endCxn id="86" idx="0"/>
          </p:cNvCxnSpPr>
          <p:nvPr/>
        </p:nvCxnSpPr>
        <p:spPr>
          <a:xfrm flipH="1">
            <a:off x="4126652" y="3049073"/>
            <a:ext cx="1298580" cy="13200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18439356-8C7C-76AA-1150-07CC088E4771}"/>
              </a:ext>
            </a:extLst>
          </p:cNvPr>
          <p:cNvSpPr/>
          <p:nvPr/>
        </p:nvSpPr>
        <p:spPr>
          <a:xfrm>
            <a:off x="6219361" y="4376782"/>
            <a:ext cx="1184141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C, O-H</a:t>
            </a:r>
          </a:p>
          <a:p>
            <a:pPr algn="ctr"/>
            <a:r>
              <a:rPr lang="en-US" sz="2000" dirty="0">
                <a:solidFill>
                  <a:srgbClr val="C00000"/>
                </a:solidFill>
              </a:rPr>
              <a:t>Terminal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7C173FD-76ED-D0A5-68CE-F55A01C22E62}"/>
              </a:ext>
            </a:extLst>
          </p:cNvPr>
          <p:cNvSpPr/>
          <p:nvPr/>
        </p:nvSpPr>
        <p:spPr>
          <a:xfrm>
            <a:off x="7727662" y="2440555"/>
            <a:ext cx="1184141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C-H, O</a:t>
            </a:r>
          </a:p>
          <a:p>
            <a:pPr algn="ctr"/>
            <a:r>
              <a:rPr lang="en-US" sz="2000" dirty="0">
                <a:solidFill>
                  <a:srgbClr val="C00000"/>
                </a:solidFill>
              </a:rPr>
              <a:t>Terminal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B24BD5E0-C040-DF81-D6AF-8A6F9C8AAC46}"/>
              </a:ext>
            </a:extLst>
          </p:cNvPr>
          <p:cNvCxnSpPr>
            <a:cxnSpLocks/>
            <a:stCxn id="76" idx="2"/>
            <a:endCxn id="91" idx="0"/>
          </p:cNvCxnSpPr>
          <p:nvPr/>
        </p:nvCxnSpPr>
        <p:spPr>
          <a:xfrm>
            <a:off x="5425232" y="3049073"/>
            <a:ext cx="1386200" cy="13277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42849926-2619-D6A8-B707-375630251081}"/>
              </a:ext>
            </a:extLst>
          </p:cNvPr>
          <p:cNvSpPr txBox="1"/>
          <p:nvPr/>
        </p:nvSpPr>
        <p:spPr>
          <a:xfrm>
            <a:off x="1026927" y="5257772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 = 0.7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DD1AFA7-8E9B-652A-5981-AE12DE3C3139}"/>
              </a:ext>
            </a:extLst>
          </p:cNvPr>
          <p:cNvSpPr txBox="1"/>
          <p:nvPr/>
        </p:nvSpPr>
        <p:spPr>
          <a:xfrm>
            <a:off x="3735580" y="5276183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 = 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92150DF-0CCD-4B32-1202-345F61A5EB25}"/>
              </a:ext>
            </a:extLst>
          </p:cNvPr>
          <p:cNvSpPr txBox="1"/>
          <p:nvPr/>
        </p:nvSpPr>
        <p:spPr>
          <a:xfrm>
            <a:off x="7895577" y="3111594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 = 0.6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A6C1F25-224A-40D4-3E7E-AAB70308BC66}"/>
              </a:ext>
            </a:extLst>
          </p:cNvPr>
          <p:cNvSpPr txBox="1"/>
          <p:nvPr/>
        </p:nvSpPr>
        <p:spPr>
          <a:xfrm>
            <a:off x="6519847" y="5257772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 = 0.6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488B45C-C21B-6F6E-DE7D-B056526A1E13}"/>
              </a:ext>
            </a:extLst>
          </p:cNvPr>
          <p:cNvSpPr txBox="1"/>
          <p:nvPr/>
        </p:nvSpPr>
        <p:spPr>
          <a:xfrm>
            <a:off x="10460576" y="3111594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 = 0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C2C7548-3F06-207F-84B2-9BCA0235D4B8}"/>
              </a:ext>
            </a:extLst>
          </p:cNvPr>
          <p:cNvSpPr/>
          <p:nvPr/>
        </p:nvSpPr>
        <p:spPr>
          <a:xfrm>
            <a:off x="1280023" y="3549810"/>
            <a:ext cx="1139005" cy="4055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C00000"/>
                </a:solidFill>
              </a:rPr>
              <a:t>STOP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941AC29-46AA-E61A-7F4E-741B4E00C79F}"/>
              </a:ext>
            </a:extLst>
          </p:cNvPr>
          <p:cNvSpPr/>
          <p:nvPr/>
        </p:nvSpPr>
        <p:spPr>
          <a:xfrm>
            <a:off x="2826586" y="3542166"/>
            <a:ext cx="1139005" cy="4055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Form O-H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955AD90-378E-8ADF-5AAB-8DDB951DA20F}"/>
              </a:ext>
            </a:extLst>
          </p:cNvPr>
          <p:cNvSpPr/>
          <p:nvPr/>
        </p:nvSpPr>
        <p:spPr>
          <a:xfrm>
            <a:off x="5717911" y="3542166"/>
            <a:ext cx="1139005" cy="4055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C00000"/>
                </a:solidFill>
              </a:rPr>
              <a:t>STOP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8D6CF05C-E0CD-995B-16A9-1909002A0B5D}"/>
              </a:ext>
            </a:extLst>
          </p:cNvPr>
          <p:cNvSpPr/>
          <p:nvPr/>
        </p:nvSpPr>
        <p:spPr>
          <a:xfrm>
            <a:off x="4228092" y="3542166"/>
            <a:ext cx="1139005" cy="4055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Form C-O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08313DB0-DD45-35F1-E59E-C7CA8271CF08}"/>
                  </a:ext>
                </a:extLst>
              </p:cNvPr>
              <p:cNvSpPr txBox="1"/>
              <p:nvPr/>
            </p:nvSpPr>
            <p:spPr>
              <a:xfrm>
                <a:off x="7997444" y="4446069"/>
                <a:ext cx="401532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Difference Compared with Attempt I: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i="1" dirty="0"/>
                  <a:t>No assigned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endParaRPr lang="en-US" i="1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i="1" dirty="0"/>
                  <a:t>No initial guess on the initial probability of actions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08313DB0-DD45-35F1-E59E-C7CA8271C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7444" y="4446069"/>
                <a:ext cx="4015323" cy="1200329"/>
              </a:xfrm>
              <a:prstGeom prst="rect">
                <a:avLst/>
              </a:prstGeom>
              <a:blipFill>
                <a:blip r:embed="rId3"/>
                <a:stretch>
                  <a:fillRect l="-1258" t="-1042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5279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90B7B-AC82-C884-7295-11D19B3D6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4C95B9-ACE3-E0D8-D5AB-6B7037896625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39FD832-C9A5-4ADD-115A-FC11503F8838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Attempt II: Searching Process</a:t>
            </a:r>
          </a:p>
        </p:txBody>
      </p:sp>
      <p:sp>
        <p:nvSpPr>
          <p:cNvPr id="56" name="Slide Number Placeholder 15">
            <a:extLst>
              <a:ext uri="{FF2B5EF4-FFF2-40B4-BE49-F238E27FC236}">
                <a16:creationId xmlns:a16="http://schemas.microsoft.com/office/drawing/2014/main" id="{AB3EC03E-9F41-68BB-1562-7DFF1F813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US" noProof="0" dirty="0"/>
              <a:t>9</a:t>
            </a:r>
            <a:endParaRPr lang="en-GB" noProof="0" dirty="0"/>
          </a:p>
        </p:txBody>
      </p:sp>
      <p:pic>
        <p:nvPicPr>
          <p:cNvPr id="165" name="Picture 164">
            <a:extLst>
              <a:ext uri="{FF2B5EF4-FFF2-40B4-BE49-F238E27FC236}">
                <a16:creationId xmlns:a16="http://schemas.microsoft.com/office/drawing/2014/main" id="{56E094C5-EDF9-3151-03B3-132B15556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535103" y="2246994"/>
            <a:ext cx="2260734" cy="38565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898ECD-347A-FEAC-56DA-762FF4E0C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658" y="2316444"/>
            <a:ext cx="2260734" cy="3856546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C1BA72F7-67D3-510F-3B36-E4D48FC758AF}"/>
              </a:ext>
            </a:extLst>
          </p:cNvPr>
          <p:cNvSpPr txBox="1"/>
          <p:nvPr/>
        </p:nvSpPr>
        <p:spPr>
          <a:xfrm>
            <a:off x="3106493" y="3845346"/>
            <a:ext cx="67358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. . 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BCA9037-C9A6-FCE5-D64D-CDFFF7CBEE22}"/>
              </a:ext>
            </a:extLst>
          </p:cNvPr>
          <p:cNvSpPr/>
          <p:nvPr/>
        </p:nvSpPr>
        <p:spPr>
          <a:xfrm>
            <a:off x="2257063" y="2246994"/>
            <a:ext cx="2222340" cy="4036576"/>
          </a:xfrm>
          <a:prstGeom prst="roundRect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E229E4-A70D-D560-F474-E9C91069F367}"/>
              </a:ext>
            </a:extLst>
          </p:cNvPr>
          <p:cNvSpPr txBox="1"/>
          <p:nvPr/>
        </p:nvSpPr>
        <p:spPr>
          <a:xfrm>
            <a:off x="2717759" y="6283570"/>
            <a:ext cx="63950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Shared Layer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3FBB8B1-593C-14B0-151B-6A2E615E8695}"/>
              </a:ext>
            </a:extLst>
          </p:cNvPr>
          <p:cNvSpPr/>
          <p:nvPr/>
        </p:nvSpPr>
        <p:spPr>
          <a:xfrm>
            <a:off x="6503753" y="2544741"/>
            <a:ext cx="288000" cy="288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B27AA10-D710-08BC-9311-C134CC9F5113}"/>
              </a:ext>
            </a:extLst>
          </p:cNvPr>
          <p:cNvSpPr/>
          <p:nvPr/>
        </p:nvSpPr>
        <p:spPr>
          <a:xfrm>
            <a:off x="6503753" y="2997762"/>
            <a:ext cx="288000" cy="288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B2134D0-7B9E-25C4-65BC-04F83BB0918D}"/>
              </a:ext>
            </a:extLst>
          </p:cNvPr>
          <p:cNvSpPr/>
          <p:nvPr/>
        </p:nvSpPr>
        <p:spPr>
          <a:xfrm>
            <a:off x="6503753" y="3458802"/>
            <a:ext cx="288000" cy="288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1FE04E8-A72E-5268-04A8-339FBAE215C2}"/>
              </a:ext>
            </a:extLst>
          </p:cNvPr>
          <p:cNvSpPr/>
          <p:nvPr/>
        </p:nvSpPr>
        <p:spPr>
          <a:xfrm>
            <a:off x="6510009" y="3919842"/>
            <a:ext cx="288000" cy="288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E24B528-7DF4-2FAE-6983-72D2B74313DE}"/>
              </a:ext>
            </a:extLst>
          </p:cNvPr>
          <p:cNvSpPr/>
          <p:nvPr/>
        </p:nvSpPr>
        <p:spPr>
          <a:xfrm>
            <a:off x="8031221" y="5971113"/>
            <a:ext cx="288000" cy="28800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B36AD9-B746-9386-38A9-E2B0D2B56392}"/>
              </a:ext>
            </a:extLst>
          </p:cNvPr>
          <p:cNvSpPr txBox="1"/>
          <p:nvPr/>
        </p:nvSpPr>
        <p:spPr>
          <a:xfrm>
            <a:off x="271250" y="1033115"/>
            <a:ext cx="10796554" cy="1192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Starting from random rollout, then introducing neural network guided exploration</a:t>
            </a:r>
          </a:p>
          <a:p>
            <a:pPr marL="742950" lvl="1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b="0" dirty="0">
                <a:solidFill>
                  <a:srgbClr val="2E2C28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 initial probabilities are evaluated from random rollout</a:t>
            </a:r>
          </a:p>
          <a:p>
            <a:pPr marL="742950" lvl="1" indent="-2857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 neural network is trained and later implemented into the exploration procedure</a:t>
            </a:r>
            <a:endParaRPr lang="en-US" sz="1600" b="0" dirty="0">
              <a:latin typeface="Calibri" panose="020F0502020204030204" pitchFamily="34" charset="0"/>
              <a:ea typeface="Cambria Math" panose="02040503050406030204" pitchFamily="18" charset="0"/>
            </a:endParaRPr>
          </a:p>
          <a:p>
            <a:pPr algn="ctr">
              <a:spcAft>
                <a:spcPts val="300"/>
              </a:spcAft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7BB81CD-2060-283E-C15A-4D484684CEDA}"/>
              </a:ext>
            </a:extLst>
          </p:cNvPr>
          <p:cNvSpPr/>
          <p:nvPr/>
        </p:nvSpPr>
        <p:spPr>
          <a:xfrm>
            <a:off x="8756680" y="2374319"/>
            <a:ext cx="712181" cy="2013450"/>
          </a:xfrm>
          <a:prstGeom prst="roundRect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20849CE-B9C4-539C-F7E0-568D56A3E4A6}"/>
              </a:ext>
            </a:extLst>
          </p:cNvPr>
          <p:cNvSpPr/>
          <p:nvPr/>
        </p:nvSpPr>
        <p:spPr>
          <a:xfrm>
            <a:off x="7819131" y="5789690"/>
            <a:ext cx="712181" cy="699759"/>
          </a:xfrm>
          <a:prstGeom prst="roundRect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A0F8559-EFFC-86F1-85B9-AE440A6C49FE}"/>
              </a:ext>
            </a:extLst>
          </p:cNvPr>
          <p:cNvCxnSpPr>
            <a:cxnSpLocks/>
            <a:stCxn id="44" idx="6"/>
          </p:cNvCxnSpPr>
          <p:nvPr/>
        </p:nvCxnSpPr>
        <p:spPr>
          <a:xfrm flipV="1">
            <a:off x="5532629" y="2701795"/>
            <a:ext cx="959017" cy="4369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6ACA163-9A60-D3DA-84E8-B6CF66CC3969}"/>
              </a:ext>
            </a:extLst>
          </p:cNvPr>
          <p:cNvCxnSpPr>
            <a:cxnSpLocks/>
            <a:stCxn id="44" idx="6"/>
            <a:endCxn id="23" idx="2"/>
          </p:cNvCxnSpPr>
          <p:nvPr/>
        </p:nvCxnSpPr>
        <p:spPr>
          <a:xfrm>
            <a:off x="5532629" y="3138706"/>
            <a:ext cx="971124" cy="30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AA74544C-C7E6-8F13-E0CF-D833F068DE44}"/>
              </a:ext>
            </a:extLst>
          </p:cNvPr>
          <p:cNvSpPr/>
          <p:nvPr/>
        </p:nvSpPr>
        <p:spPr>
          <a:xfrm>
            <a:off x="5244629" y="2994706"/>
            <a:ext cx="288000" cy="288000"/>
          </a:xfrm>
          <a:prstGeom prst="ellipse">
            <a:avLst/>
          </a:prstGeom>
          <a:solidFill>
            <a:srgbClr val="8DC2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A268BA3-860A-7898-EF31-C0C11C942BD8}"/>
              </a:ext>
            </a:extLst>
          </p:cNvPr>
          <p:cNvSpPr/>
          <p:nvPr/>
        </p:nvSpPr>
        <p:spPr>
          <a:xfrm>
            <a:off x="5253087" y="3535414"/>
            <a:ext cx="288000" cy="288000"/>
          </a:xfrm>
          <a:prstGeom prst="ellipse">
            <a:avLst/>
          </a:prstGeom>
          <a:solidFill>
            <a:srgbClr val="8DC2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C9C16A6-4961-6097-8F06-A54B379D5FD7}"/>
              </a:ext>
            </a:extLst>
          </p:cNvPr>
          <p:cNvSpPr/>
          <p:nvPr/>
        </p:nvSpPr>
        <p:spPr>
          <a:xfrm>
            <a:off x="5241512" y="4622037"/>
            <a:ext cx="288000" cy="288000"/>
          </a:xfrm>
          <a:prstGeom prst="ellipse">
            <a:avLst/>
          </a:prstGeom>
          <a:solidFill>
            <a:srgbClr val="8DC2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C60D135-FD61-C147-588B-67D3C73DA1AC}"/>
              </a:ext>
            </a:extLst>
          </p:cNvPr>
          <p:cNvSpPr/>
          <p:nvPr/>
        </p:nvSpPr>
        <p:spPr>
          <a:xfrm>
            <a:off x="5253087" y="5159500"/>
            <a:ext cx="288000" cy="288000"/>
          </a:xfrm>
          <a:prstGeom prst="ellipse">
            <a:avLst/>
          </a:prstGeom>
          <a:solidFill>
            <a:srgbClr val="8DC2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C835755-B206-C3D4-EA70-98B6D8B29505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5557609" y="3147377"/>
            <a:ext cx="946144" cy="4554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58FA21A-CA55-EBDF-A700-70035F20B0DA}"/>
              </a:ext>
            </a:extLst>
          </p:cNvPr>
          <p:cNvCxnSpPr>
            <a:cxnSpLocks/>
            <a:endCxn id="26" idx="2"/>
          </p:cNvCxnSpPr>
          <p:nvPr/>
        </p:nvCxnSpPr>
        <p:spPr>
          <a:xfrm>
            <a:off x="5541087" y="3147377"/>
            <a:ext cx="968922" cy="9164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F91C054-C033-3017-BA84-12AF17E31FBD}"/>
              </a:ext>
            </a:extLst>
          </p:cNvPr>
          <p:cNvCxnSpPr>
            <a:cxnSpLocks/>
            <a:stCxn id="44" idx="6"/>
            <a:endCxn id="27" idx="2"/>
          </p:cNvCxnSpPr>
          <p:nvPr/>
        </p:nvCxnSpPr>
        <p:spPr>
          <a:xfrm>
            <a:off x="5532629" y="3138706"/>
            <a:ext cx="2498592" cy="29764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35315A02-BDCC-BC50-C348-8DDE6B20B597}"/>
              </a:ext>
            </a:extLst>
          </p:cNvPr>
          <p:cNvCxnSpPr>
            <a:cxnSpLocks/>
            <a:stCxn id="46" idx="6"/>
            <a:endCxn id="21" idx="2"/>
          </p:cNvCxnSpPr>
          <p:nvPr/>
        </p:nvCxnSpPr>
        <p:spPr>
          <a:xfrm flipV="1">
            <a:off x="5541087" y="2688741"/>
            <a:ext cx="962666" cy="9906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BEB722D-66EF-D358-D081-1659D8CC222A}"/>
              </a:ext>
            </a:extLst>
          </p:cNvPr>
          <p:cNvCxnSpPr>
            <a:cxnSpLocks/>
            <a:stCxn id="46" idx="6"/>
            <a:endCxn id="23" idx="2"/>
          </p:cNvCxnSpPr>
          <p:nvPr/>
        </p:nvCxnSpPr>
        <p:spPr>
          <a:xfrm flipV="1">
            <a:off x="5541087" y="3141762"/>
            <a:ext cx="962666" cy="5376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548EF5F-2D25-6387-60EC-A2BA507F4B8E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5559741" y="3602802"/>
            <a:ext cx="944012" cy="704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D91F8F9-E72B-8BF0-D07F-1C139C865935}"/>
              </a:ext>
            </a:extLst>
          </p:cNvPr>
          <p:cNvCxnSpPr>
            <a:cxnSpLocks/>
            <a:stCxn id="46" idx="6"/>
            <a:endCxn id="26" idx="2"/>
          </p:cNvCxnSpPr>
          <p:nvPr/>
        </p:nvCxnSpPr>
        <p:spPr>
          <a:xfrm>
            <a:off x="5541087" y="3679414"/>
            <a:ext cx="968922" cy="3844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939925A7-D9D2-1CCE-1C56-C9501D1DBEFF}"/>
              </a:ext>
            </a:extLst>
          </p:cNvPr>
          <p:cNvCxnSpPr>
            <a:cxnSpLocks/>
            <a:stCxn id="46" idx="6"/>
            <a:endCxn id="27" idx="2"/>
          </p:cNvCxnSpPr>
          <p:nvPr/>
        </p:nvCxnSpPr>
        <p:spPr>
          <a:xfrm>
            <a:off x="5541087" y="3679414"/>
            <a:ext cx="2490134" cy="24356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1359A6F-D6E7-0B11-4BCB-4BC523236D73}"/>
              </a:ext>
            </a:extLst>
          </p:cNvPr>
          <p:cNvCxnSpPr>
            <a:cxnSpLocks/>
            <a:stCxn id="47" idx="6"/>
            <a:endCxn id="21" idx="2"/>
          </p:cNvCxnSpPr>
          <p:nvPr/>
        </p:nvCxnSpPr>
        <p:spPr>
          <a:xfrm flipV="1">
            <a:off x="5529512" y="2688741"/>
            <a:ext cx="974241" cy="20772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CEF51AF5-6AB2-0E79-6A70-70A6D62D6B3F}"/>
              </a:ext>
            </a:extLst>
          </p:cNvPr>
          <p:cNvCxnSpPr>
            <a:cxnSpLocks/>
            <a:stCxn id="47" idx="6"/>
            <a:endCxn id="23" idx="2"/>
          </p:cNvCxnSpPr>
          <p:nvPr/>
        </p:nvCxnSpPr>
        <p:spPr>
          <a:xfrm flipV="1">
            <a:off x="5529512" y="3141762"/>
            <a:ext cx="974241" cy="1624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6332639-FAE6-6D96-7322-F0BEBD8AE7C4}"/>
              </a:ext>
            </a:extLst>
          </p:cNvPr>
          <p:cNvCxnSpPr>
            <a:cxnSpLocks/>
            <a:stCxn id="47" idx="6"/>
            <a:endCxn id="24" idx="2"/>
          </p:cNvCxnSpPr>
          <p:nvPr/>
        </p:nvCxnSpPr>
        <p:spPr>
          <a:xfrm flipV="1">
            <a:off x="5529512" y="3602802"/>
            <a:ext cx="974241" cy="11632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5A218E96-F0F8-0ABE-7949-4381DD7B2792}"/>
              </a:ext>
            </a:extLst>
          </p:cNvPr>
          <p:cNvCxnSpPr>
            <a:cxnSpLocks/>
            <a:stCxn id="47" idx="6"/>
            <a:endCxn id="26" idx="2"/>
          </p:cNvCxnSpPr>
          <p:nvPr/>
        </p:nvCxnSpPr>
        <p:spPr>
          <a:xfrm flipV="1">
            <a:off x="5529512" y="4063842"/>
            <a:ext cx="980497" cy="702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E81B468C-2F58-8772-AF40-47F7F88985C5}"/>
              </a:ext>
            </a:extLst>
          </p:cNvPr>
          <p:cNvCxnSpPr>
            <a:cxnSpLocks/>
            <a:stCxn id="47" idx="6"/>
            <a:endCxn id="27" idx="2"/>
          </p:cNvCxnSpPr>
          <p:nvPr/>
        </p:nvCxnSpPr>
        <p:spPr>
          <a:xfrm>
            <a:off x="5529512" y="4766037"/>
            <a:ext cx="2501709" cy="13490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84520481-9E8C-27DD-D2F2-AC192670512D}"/>
              </a:ext>
            </a:extLst>
          </p:cNvPr>
          <p:cNvCxnSpPr>
            <a:cxnSpLocks/>
            <a:stCxn id="48" idx="6"/>
            <a:endCxn id="21" idx="2"/>
          </p:cNvCxnSpPr>
          <p:nvPr/>
        </p:nvCxnSpPr>
        <p:spPr>
          <a:xfrm flipV="1">
            <a:off x="5541087" y="2688741"/>
            <a:ext cx="962666" cy="26147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14056EFF-71EA-7B74-91D8-C34C6FEC7A1D}"/>
              </a:ext>
            </a:extLst>
          </p:cNvPr>
          <p:cNvCxnSpPr>
            <a:cxnSpLocks/>
            <a:stCxn id="48" idx="6"/>
            <a:endCxn id="23" idx="2"/>
          </p:cNvCxnSpPr>
          <p:nvPr/>
        </p:nvCxnSpPr>
        <p:spPr>
          <a:xfrm flipV="1">
            <a:off x="5541087" y="3141762"/>
            <a:ext cx="962666" cy="21617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B59809CF-7ED8-CA82-561F-FD00B35610B0}"/>
              </a:ext>
            </a:extLst>
          </p:cNvPr>
          <p:cNvCxnSpPr>
            <a:cxnSpLocks/>
            <a:stCxn id="48" idx="6"/>
            <a:endCxn id="24" idx="2"/>
          </p:cNvCxnSpPr>
          <p:nvPr/>
        </p:nvCxnSpPr>
        <p:spPr>
          <a:xfrm flipV="1">
            <a:off x="5541087" y="3602802"/>
            <a:ext cx="962666" cy="17006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99C21080-6551-C8BE-B905-ECE6A19D3AB6}"/>
              </a:ext>
            </a:extLst>
          </p:cNvPr>
          <p:cNvCxnSpPr>
            <a:cxnSpLocks/>
            <a:stCxn id="48" idx="6"/>
            <a:endCxn id="26" idx="2"/>
          </p:cNvCxnSpPr>
          <p:nvPr/>
        </p:nvCxnSpPr>
        <p:spPr>
          <a:xfrm flipV="1">
            <a:off x="5541087" y="4063842"/>
            <a:ext cx="968922" cy="12396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6DEFEA07-E6E1-8CE4-924B-38AC97CCACFE}"/>
              </a:ext>
            </a:extLst>
          </p:cNvPr>
          <p:cNvCxnSpPr>
            <a:cxnSpLocks/>
            <a:stCxn id="48" idx="6"/>
            <a:endCxn id="27" idx="2"/>
          </p:cNvCxnSpPr>
          <p:nvPr/>
        </p:nvCxnSpPr>
        <p:spPr>
          <a:xfrm>
            <a:off x="5541087" y="5303500"/>
            <a:ext cx="2490134" cy="8116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Oval 126">
            <a:extLst>
              <a:ext uri="{FF2B5EF4-FFF2-40B4-BE49-F238E27FC236}">
                <a16:creationId xmlns:a16="http://schemas.microsoft.com/office/drawing/2014/main" id="{9F476F82-06B8-5D02-9F5A-9B01584BE9F1}"/>
              </a:ext>
            </a:extLst>
          </p:cNvPr>
          <p:cNvSpPr/>
          <p:nvPr/>
        </p:nvSpPr>
        <p:spPr>
          <a:xfrm>
            <a:off x="8973173" y="2555497"/>
            <a:ext cx="288000" cy="288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45B10235-D656-DB09-A4E5-FD7E438703E2}"/>
              </a:ext>
            </a:extLst>
          </p:cNvPr>
          <p:cNvSpPr/>
          <p:nvPr/>
        </p:nvSpPr>
        <p:spPr>
          <a:xfrm>
            <a:off x="8971607" y="2999819"/>
            <a:ext cx="288000" cy="288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A0F9FB55-2635-382C-5FAC-96E7A6DF1CD4}"/>
              </a:ext>
            </a:extLst>
          </p:cNvPr>
          <p:cNvSpPr/>
          <p:nvPr/>
        </p:nvSpPr>
        <p:spPr>
          <a:xfrm>
            <a:off x="8968771" y="3458068"/>
            <a:ext cx="288000" cy="288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8EB078BF-2516-AA29-9198-E5219AE74027}"/>
              </a:ext>
            </a:extLst>
          </p:cNvPr>
          <p:cNvSpPr/>
          <p:nvPr/>
        </p:nvSpPr>
        <p:spPr>
          <a:xfrm>
            <a:off x="8968771" y="3918304"/>
            <a:ext cx="288000" cy="288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409392CB-BCEC-ADDD-C24F-7BD0D6574777}"/>
              </a:ext>
            </a:extLst>
          </p:cNvPr>
          <p:cNvCxnSpPr>
            <a:cxnSpLocks/>
            <a:stCxn id="21" idx="6"/>
            <a:endCxn id="127" idx="2"/>
          </p:cNvCxnSpPr>
          <p:nvPr/>
        </p:nvCxnSpPr>
        <p:spPr>
          <a:xfrm>
            <a:off x="6791753" y="2688741"/>
            <a:ext cx="2181420" cy="107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BBB130D3-45AC-3C4F-EACE-A30C14B299F8}"/>
              </a:ext>
            </a:extLst>
          </p:cNvPr>
          <p:cNvCxnSpPr>
            <a:cxnSpLocks/>
            <a:stCxn id="23" idx="6"/>
            <a:endCxn id="128" idx="2"/>
          </p:cNvCxnSpPr>
          <p:nvPr/>
        </p:nvCxnSpPr>
        <p:spPr>
          <a:xfrm>
            <a:off x="6791753" y="3141762"/>
            <a:ext cx="2179854" cy="20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58B489E0-BCFA-310D-C815-6DA859C0401B}"/>
              </a:ext>
            </a:extLst>
          </p:cNvPr>
          <p:cNvCxnSpPr>
            <a:cxnSpLocks/>
            <a:stCxn id="24" idx="6"/>
            <a:endCxn id="129" idx="2"/>
          </p:cNvCxnSpPr>
          <p:nvPr/>
        </p:nvCxnSpPr>
        <p:spPr>
          <a:xfrm flipV="1">
            <a:off x="6791753" y="3602068"/>
            <a:ext cx="2177018" cy="7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55D9DA3B-AEE1-7772-9290-B7863A00CE0F}"/>
              </a:ext>
            </a:extLst>
          </p:cNvPr>
          <p:cNvCxnSpPr>
            <a:cxnSpLocks/>
            <a:stCxn id="26" idx="6"/>
            <a:endCxn id="130" idx="2"/>
          </p:cNvCxnSpPr>
          <p:nvPr/>
        </p:nvCxnSpPr>
        <p:spPr>
          <a:xfrm flipV="1">
            <a:off x="6798009" y="4062304"/>
            <a:ext cx="2170762" cy="15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218948BB-6623-523C-3399-3DFEE3A84300}"/>
                  </a:ext>
                </a:extLst>
              </p:cNvPr>
              <p:cNvSpPr txBox="1"/>
              <p:nvPr/>
            </p:nvSpPr>
            <p:spPr>
              <a:xfrm>
                <a:off x="8790971" y="5971113"/>
                <a:ext cx="507358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5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5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218948BB-6623-523C-3399-3DFEE3A84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0971" y="5971113"/>
                <a:ext cx="507358" cy="477054"/>
              </a:xfrm>
              <a:prstGeom prst="rect">
                <a:avLst/>
              </a:prstGeom>
              <a:blipFill>
                <a:blip r:embed="rId4"/>
                <a:stretch>
                  <a:fillRect l="-5000"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TextBox 151">
            <a:extLst>
              <a:ext uri="{FF2B5EF4-FFF2-40B4-BE49-F238E27FC236}">
                <a16:creationId xmlns:a16="http://schemas.microsoft.com/office/drawing/2014/main" id="{84726D0F-5480-7D03-C133-B9075DDF21D5}"/>
              </a:ext>
            </a:extLst>
          </p:cNvPr>
          <p:cNvSpPr txBox="1"/>
          <p:nvPr/>
        </p:nvSpPr>
        <p:spPr>
          <a:xfrm>
            <a:off x="7272124" y="2044563"/>
            <a:ext cx="1216275" cy="584775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E2C28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Masking for valid action</a:t>
            </a:r>
            <a:endParaRPr lang="en-US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599EDBE-D632-614D-BD7A-93AF11A1CEBF}"/>
              </a:ext>
            </a:extLst>
          </p:cNvPr>
          <p:cNvSpPr txBox="1"/>
          <p:nvPr/>
        </p:nvSpPr>
        <p:spPr>
          <a:xfrm>
            <a:off x="9612743" y="3168926"/>
            <a:ext cx="21027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17803C"/>
                </a:solidFill>
              </a:rPr>
              <a:t>Score of each action</a:t>
            </a:r>
          </a:p>
        </p:txBody>
      </p:sp>
    </p:spTree>
    <p:extLst>
      <p:ext uri="{BB962C8B-B14F-4D97-AF65-F5344CB8AC3E}">
        <p14:creationId xmlns:p14="http://schemas.microsoft.com/office/powerpoint/2010/main" val="10485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1365A-60DD-EF48-CE0B-D78826CA6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546C74-ED4E-89C7-C33A-41464F5FED61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EEAF918-12DD-5BA1-F4CF-5715FCBF5F78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Attempt II: Searching Iterations</a:t>
            </a:r>
          </a:p>
        </p:txBody>
      </p:sp>
      <p:sp>
        <p:nvSpPr>
          <p:cNvPr id="56" name="Slide Number Placeholder 15">
            <a:extLst>
              <a:ext uri="{FF2B5EF4-FFF2-40B4-BE49-F238E27FC236}">
                <a16:creationId xmlns:a16="http://schemas.microsoft.com/office/drawing/2014/main" id="{CB2C8D71-9141-2679-018C-9C3CAED3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10</a:t>
            </a:r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F362A0-8981-ECE4-F3CB-4BEEA528EF1E}"/>
                  </a:ext>
                </a:extLst>
              </p:cNvPr>
              <p:cNvSpPr txBox="1"/>
              <p:nvPr/>
            </p:nvSpPr>
            <p:spPr>
              <a:xfrm>
                <a:off x="271250" y="1033115"/>
                <a:ext cx="10796554" cy="34317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300"/>
                  </a:spcAft>
                  <a:buFont typeface="Courier New" panose="02070309020205020404" pitchFamily="49" charset="0"/>
                  <a:buChar char="o"/>
                </a:pPr>
                <a:r>
                  <a:rPr lang="en-US" sz="1600" b="0" dirty="0">
                    <a:solidFill>
                      <a:srgbClr val="2E2C28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The simulation conducts by multiple iterations, at each iteration, the percentage for rollout episodes decreases:</a:t>
                </a:r>
              </a:p>
              <a:p>
                <a:pPr marL="742950" lvl="1" indent="-285750">
                  <a:spcAft>
                    <a:spcPts val="300"/>
                  </a:spcAft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solidFill>
                      <a:srgbClr val="2E2C28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Iteration1: 	100% 	rollout,  0%           neural prediction</a:t>
                </a:r>
              </a:p>
              <a:p>
                <a:pPr marL="742950" lvl="1" indent="-285750">
                  <a:spcAft>
                    <a:spcPts val="300"/>
                  </a:spcAft>
                  <a:buFont typeface="Courier New" panose="02070309020205020404" pitchFamily="49" charset="0"/>
                  <a:buChar char="o"/>
                </a:pPr>
                <a:r>
                  <a:rPr lang="en-US" sz="1600" b="0" dirty="0">
                    <a:solidFill>
                      <a:srgbClr val="2E2C28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Iteration2: 	26.56%	rollout,  73.44%   neural prediction</a:t>
                </a:r>
              </a:p>
              <a:p>
                <a:pPr marL="742950" lvl="1" indent="-285750">
                  <a:spcAft>
                    <a:spcPts val="300"/>
                  </a:spcAft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solidFill>
                      <a:srgbClr val="2E2C28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…</a:t>
                </a:r>
              </a:p>
              <a:p>
                <a:pPr marL="742950" lvl="1" indent="-285750">
                  <a:spcAft>
                    <a:spcPts val="300"/>
                  </a:spcAft>
                  <a:buFont typeface="Courier New" panose="02070309020205020404" pitchFamily="49" charset="0"/>
                  <a:buChar char="o"/>
                </a:pPr>
                <a:r>
                  <a:rPr lang="en-US" sz="1600" b="0" dirty="0">
                    <a:solidFill>
                      <a:srgbClr val="2E2C28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Iteration 8: 	0%	rollout, 100%       neural prediction     </a:t>
                </a:r>
              </a:p>
              <a:p>
                <a:pPr marL="742950" lvl="1" indent="-285750">
                  <a:spcAft>
                    <a:spcPts val="300"/>
                  </a:spcAft>
                  <a:buFont typeface="Courier New" panose="02070309020205020404" pitchFamily="49" charset="0"/>
                  <a:buChar char="o"/>
                </a:pPr>
                <a:endParaRPr lang="en-US" sz="1600" dirty="0">
                  <a:solidFill>
                    <a:srgbClr val="2E2C28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285750" indent="-285750">
                  <a:spcAft>
                    <a:spcPts val="300"/>
                  </a:spcAft>
                  <a:buFont typeface="Courier New" panose="02070309020205020404" pitchFamily="49" charset="0"/>
                  <a:buChar char="o"/>
                </a:pPr>
                <a:r>
                  <a:rPr lang="en-US" sz="1600" b="0" dirty="0">
                    <a:solidFill>
                      <a:srgbClr val="C00000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Why?</a:t>
                </a:r>
                <a:r>
                  <a:rPr lang="en-US" sz="1600" b="0" dirty="0">
                    <a:solidFill>
                      <a:srgbClr val="2E2C28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	 </a:t>
                </a:r>
                <a:r>
                  <a:rPr lang="en-US" sz="1600" dirty="0">
                    <a:solidFill>
                      <a:srgbClr val="17803C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Balancing exploitation &amp; exploration</a:t>
                </a:r>
              </a:p>
              <a:p>
                <a:pPr marL="742950" lvl="1" indent="-285750">
                  <a:spcAft>
                    <a:spcPts val="300"/>
                  </a:spcAft>
                  <a:buFont typeface="Courier New" panose="02070309020205020404" pitchFamily="49" charset="0"/>
                  <a:buChar char="o"/>
                </a:pPr>
                <a:r>
                  <a:rPr lang="en-US" sz="16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At the beginning, no effective e</a:t>
                </a:r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xploitation can be made since no experience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100% rollout</a:t>
                </a:r>
              </a:p>
              <a:p>
                <a:pPr marL="742950" lvl="1" indent="-285750">
                  <a:spcAft>
                    <a:spcPts val="300"/>
                  </a:spcAft>
                  <a:buFont typeface="Courier New" panose="02070309020205020404" pitchFamily="49" charset="0"/>
                  <a:buChar char="o"/>
                </a:pPr>
                <a:r>
                  <a:rPr lang="en-US" sz="16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As </a:t>
                </a:r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learning progress, the expectation is close to the ground truth. In this case, exploration may corrupt the accuracy. Therefore, the percentage of rollout will be largely decreased.</a:t>
                </a:r>
                <a:endParaRPr lang="en-US" sz="16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742950" lvl="1" indent="-285750">
                  <a:spcAft>
                    <a:spcPts val="300"/>
                  </a:spcAft>
                  <a:buFont typeface="Courier New" panose="02070309020205020404" pitchFamily="49" charset="0"/>
                  <a:buChar char="o"/>
                </a:pPr>
                <a:endParaRPr lang="en-US" sz="1600" b="0" dirty="0"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algn="ctr">
                  <a:spcAft>
                    <a:spcPts val="300"/>
                  </a:spcAft>
                </a:pPr>
                <a:endParaRPr 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F362A0-8981-ECE4-F3CB-4BEEA528E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50" y="1033115"/>
                <a:ext cx="10796554" cy="3431709"/>
              </a:xfrm>
              <a:prstGeom prst="rect">
                <a:avLst/>
              </a:prstGeom>
              <a:blipFill>
                <a:blip r:embed="rId3"/>
                <a:stretch>
                  <a:fillRect l="-235" t="-3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74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231EE-9D04-A33A-38D9-3B4B543C3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B59C796-A3D8-A286-D532-699AC9CE7D3A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5AB2E4F-BE58-ED36-A1E7-ED77A03F2DD3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Attempt II: Searching Results</a:t>
            </a:r>
          </a:p>
        </p:txBody>
      </p:sp>
      <p:sp>
        <p:nvSpPr>
          <p:cNvPr id="2" name="Slide Number Placeholder 15">
            <a:extLst>
              <a:ext uri="{FF2B5EF4-FFF2-40B4-BE49-F238E27FC236}">
                <a16:creationId xmlns:a16="http://schemas.microsoft.com/office/drawing/2014/main" id="{D6B243FA-8216-5F8F-4DA6-603FD67A6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US" altLang="zh-CN" dirty="0"/>
              <a:t>11</a:t>
            </a:r>
            <a:endParaRPr lang="en-GB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31E397-B173-C388-C107-52C5094F3B1D}"/>
              </a:ext>
            </a:extLst>
          </p:cNvPr>
          <p:cNvSpPr/>
          <p:nvPr/>
        </p:nvSpPr>
        <p:spPr>
          <a:xfrm>
            <a:off x="6053063" y="1247678"/>
            <a:ext cx="1073889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C, O, 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377FB4-599D-4728-6F56-49772925533A}"/>
              </a:ext>
            </a:extLst>
          </p:cNvPr>
          <p:cNvSpPr/>
          <p:nvPr/>
        </p:nvSpPr>
        <p:spPr>
          <a:xfrm>
            <a:off x="2196989" y="2822583"/>
            <a:ext cx="1073889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C-O, 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EA90FA-62A1-7E05-3D8B-E0609F5DC203}"/>
              </a:ext>
            </a:extLst>
          </p:cNvPr>
          <p:cNvSpPr/>
          <p:nvPr/>
        </p:nvSpPr>
        <p:spPr>
          <a:xfrm>
            <a:off x="4805063" y="2819038"/>
            <a:ext cx="1073889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C, O-H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7A8CCF-129C-06C4-92CF-F8F30DB858B5}"/>
              </a:ext>
            </a:extLst>
          </p:cNvPr>
          <p:cNvSpPr/>
          <p:nvPr/>
        </p:nvSpPr>
        <p:spPr>
          <a:xfrm>
            <a:off x="10021209" y="2819038"/>
            <a:ext cx="1168243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C, H, O Terminal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785CCE-C2F3-9788-EF12-BD1401B70DC7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flipH="1">
            <a:off x="2733934" y="1864366"/>
            <a:ext cx="3856074" cy="9582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C1D2A2-2A0D-C011-D050-A8581100B2F7}"/>
              </a:ext>
            </a:extLst>
          </p:cNvPr>
          <p:cNvCxnSpPr>
            <a:cxnSpLocks/>
            <a:stCxn id="3" idx="2"/>
            <a:endCxn id="7" idx="0"/>
          </p:cNvCxnSpPr>
          <p:nvPr/>
        </p:nvCxnSpPr>
        <p:spPr>
          <a:xfrm flipH="1">
            <a:off x="5342008" y="1864366"/>
            <a:ext cx="1248000" cy="9546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AF9CFF-838E-D05E-C7E7-4EA8427C1F14}"/>
              </a:ext>
            </a:extLst>
          </p:cNvPr>
          <p:cNvCxnSpPr>
            <a:cxnSpLocks/>
            <a:stCxn id="3" idx="2"/>
            <a:endCxn id="25" idx="0"/>
          </p:cNvCxnSpPr>
          <p:nvPr/>
        </p:nvCxnSpPr>
        <p:spPr>
          <a:xfrm>
            <a:off x="6590008" y="1864366"/>
            <a:ext cx="1646501" cy="9628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C18A53-C23A-AFE0-5447-038CBACBC952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>
            <a:off x="6590008" y="1864366"/>
            <a:ext cx="4015323" cy="9546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C2FDAD9-CBD4-A7E2-B872-C531359949EB}"/>
                  </a:ext>
                </a:extLst>
              </p:cNvPr>
              <p:cNvSpPr/>
              <p:nvPr/>
            </p:nvSpPr>
            <p:spPr>
              <a:xfrm>
                <a:off x="3412432" y="2217734"/>
                <a:ext cx="1139005" cy="4055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Form C-O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=0.482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C2FDAD9-CBD4-A7E2-B872-C531359949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432" y="2217734"/>
                <a:ext cx="1139005" cy="405587"/>
              </a:xfrm>
              <a:prstGeom prst="rect">
                <a:avLst/>
              </a:prstGeom>
              <a:blipFill>
                <a:blip r:embed="rId3"/>
                <a:stretch>
                  <a:fillRect t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F98BF51-9F13-2E0A-EA8D-E90A1C40273E}"/>
                  </a:ext>
                </a:extLst>
              </p:cNvPr>
              <p:cNvSpPr/>
              <p:nvPr/>
            </p:nvSpPr>
            <p:spPr>
              <a:xfrm>
                <a:off x="5276786" y="2217734"/>
                <a:ext cx="1139005" cy="4055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Form O-H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473</m:t>
                      </m:r>
                    </m:oMath>
                  </m:oMathPara>
                </a14:m>
                <a:endParaRPr lang="en-US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F98BF51-9F13-2E0A-EA8D-E90A1C402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6786" y="2217734"/>
                <a:ext cx="1139005" cy="405587"/>
              </a:xfrm>
              <a:prstGeom prst="rect">
                <a:avLst/>
              </a:prstGeom>
              <a:blipFill>
                <a:blip r:embed="rId4"/>
                <a:stretch>
                  <a:fillRect t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5B3B073-C167-3F06-6319-FB2BB6D9941D}"/>
                  </a:ext>
                </a:extLst>
              </p:cNvPr>
              <p:cNvSpPr/>
              <p:nvPr/>
            </p:nvSpPr>
            <p:spPr>
              <a:xfrm>
                <a:off x="6833282" y="2217734"/>
                <a:ext cx="1139005" cy="4055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Form C-H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=0.0</m:t>
                      </m:r>
                      <m:r>
                        <a:rPr lang="en-US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34</m:t>
                      </m:r>
                    </m:oMath>
                  </m:oMathPara>
                </a14:m>
                <a:endParaRPr lang="en-US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5B3B073-C167-3F06-6319-FB2BB6D994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3282" y="2217734"/>
                <a:ext cx="1139005" cy="405587"/>
              </a:xfrm>
              <a:prstGeom prst="rect">
                <a:avLst/>
              </a:prstGeom>
              <a:blipFill>
                <a:blip r:embed="rId5"/>
                <a:stretch>
                  <a:fillRect t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C78F28D-D4F8-CAEB-FEA0-2F39D1F2A319}"/>
                  </a:ext>
                </a:extLst>
              </p:cNvPr>
              <p:cNvSpPr/>
              <p:nvPr/>
            </p:nvSpPr>
            <p:spPr>
              <a:xfrm>
                <a:off x="8536940" y="2217734"/>
                <a:ext cx="1139005" cy="4055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C00000"/>
                    </a:solidFill>
                  </a:rPr>
                  <a:t>STOP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</m:t>
                      </m:r>
                    </m:oMath>
                  </m:oMathPara>
                </a14:m>
                <a:endParaRPr lang="en-US" sz="1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C78F28D-D4F8-CAEB-FEA0-2F39D1F2A3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6940" y="2217734"/>
                <a:ext cx="1139005" cy="405587"/>
              </a:xfrm>
              <a:prstGeom prst="rect">
                <a:avLst/>
              </a:prstGeom>
              <a:blipFill>
                <a:blip r:embed="rId6"/>
                <a:stretch>
                  <a:fillRect t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2AB5834F-0E07-DD05-FA4C-84D721858296}"/>
              </a:ext>
            </a:extLst>
          </p:cNvPr>
          <p:cNvSpPr/>
          <p:nvPr/>
        </p:nvSpPr>
        <p:spPr>
          <a:xfrm>
            <a:off x="3451357" y="4755802"/>
            <a:ext cx="1184141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C-O-H</a:t>
            </a:r>
          </a:p>
          <a:p>
            <a:pPr algn="ctr"/>
            <a:r>
              <a:rPr lang="en-US" sz="2000" dirty="0">
                <a:solidFill>
                  <a:srgbClr val="C00000"/>
                </a:solidFill>
              </a:rPr>
              <a:t>Terminal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B780A0-0E47-5FD3-718A-EE038EEB4A6C}"/>
              </a:ext>
            </a:extLst>
          </p:cNvPr>
          <p:cNvSpPr/>
          <p:nvPr/>
        </p:nvSpPr>
        <p:spPr>
          <a:xfrm>
            <a:off x="766577" y="4755802"/>
            <a:ext cx="1184141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C-O, H</a:t>
            </a:r>
          </a:p>
          <a:p>
            <a:pPr algn="ctr"/>
            <a:r>
              <a:rPr lang="en-US" sz="2000" dirty="0">
                <a:solidFill>
                  <a:srgbClr val="C00000"/>
                </a:solidFill>
              </a:rPr>
              <a:t>Terminal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B9421CD-B198-0387-C8F2-C858155C34C5}"/>
              </a:ext>
            </a:extLst>
          </p:cNvPr>
          <p:cNvCxnSpPr>
            <a:cxnSpLocks/>
            <a:stCxn id="4" idx="2"/>
            <a:endCxn id="20" idx="0"/>
          </p:cNvCxnSpPr>
          <p:nvPr/>
        </p:nvCxnSpPr>
        <p:spPr>
          <a:xfrm flipH="1">
            <a:off x="1358648" y="3439271"/>
            <a:ext cx="1375286" cy="13165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B4E3839-647A-D57A-96E5-CE727095CD88}"/>
              </a:ext>
            </a:extLst>
          </p:cNvPr>
          <p:cNvCxnSpPr>
            <a:cxnSpLocks/>
            <a:stCxn id="4" idx="2"/>
            <a:endCxn id="19" idx="0"/>
          </p:cNvCxnSpPr>
          <p:nvPr/>
        </p:nvCxnSpPr>
        <p:spPr>
          <a:xfrm>
            <a:off x="2733934" y="3439271"/>
            <a:ext cx="1309494" cy="13165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8027408-4EC6-6C7B-970C-553C3100085B}"/>
              </a:ext>
            </a:extLst>
          </p:cNvPr>
          <p:cNvCxnSpPr>
            <a:cxnSpLocks/>
            <a:stCxn id="7" idx="2"/>
            <a:endCxn id="19" idx="0"/>
          </p:cNvCxnSpPr>
          <p:nvPr/>
        </p:nvCxnSpPr>
        <p:spPr>
          <a:xfrm flipH="1">
            <a:off x="4043428" y="3435726"/>
            <a:ext cx="1298580" cy="13200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45DB5CEE-4491-89A0-6618-83242E423733}"/>
              </a:ext>
            </a:extLst>
          </p:cNvPr>
          <p:cNvSpPr/>
          <p:nvPr/>
        </p:nvSpPr>
        <p:spPr>
          <a:xfrm>
            <a:off x="6136137" y="4763435"/>
            <a:ext cx="1184141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C, O-H</a:t>
            </a:r>
          </a:p>
          <a:p>
            <a:pPr algn="ctr"/>
            <a:r>
              <a:rPr lang="en-US" sz="2000" dirty="0">
                <a:solidFill>
                  <a:srgbClr val="C00000"/>
                </a:solidFill>
              </a:rPr>
              <a:t>Terminal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4BADD8-1307-F3C8-0F61-D3F978664EA0}"/>
              </a:ext>
            </a:extLst>
          </p:cNvPr>
          <p:cNvSpPr/>
          <p:nvPr/>
        </p:nvSpPr>
        <p:spPr>
          <a:xfrm>
            <a:off x="7644438" y="2827208"/>
            <a:ext cx="1184141" cy="6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C-H, O</a:t>
            </a:r>
          </a:p>
          <a:p>
            <a:pPr algn="ctr"/>
            <a:r>
              <a:rPr lang="en-US" sz="2000" dirty="0">
                <a:solidFill>
                  <a:srgbClr val="C00000"/>
                </a:solidFill>
              </a:rPr>
              <a:t>Terminal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EC8E370-C4CB-98E3-84D9-C1D84147927D}"/>
              </a:ext>
            </a:extLst>
          </p:cNvPr>
          <p:cNvCxnSpPr>
            <a:cxnSpLocks/>
            <a:stCxn id="7" idx="2"/>
            <a:endCxn id="24" idx="0"/>
          </p:cNvCxnSpPr>
          <p:nvPr/>
        </p:nvCxnSpPr>
        <p:spPr>
          <a:xfrm>
            <a:off x="5342008" y="3435726"/>
            <a:ext cx="1386200" cy="13277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97CD34C-909D-38D7-E82A-9D6E7BCF099C}"/>
              </a:ext>
            </a:extLst>
          </p:cNvPr>
          <p:cNvSpPr txBox="1"/>
          <p:nvPr/>
        </p:nvSpPr>
        <p:spPr>
          <a:xfrm>
            <a:off x="943703" y="5644425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 = 0.7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70401C-0ABF-0B77-6B1E-D150D9D6B6AE}"/>
              </a:ext>
            </a:extLst>
          </p:cNvPr>
          <p:cNvSpPr txBox="1"/>
          <p:nvPr/>
        </p:nvSpPr>
        <p:spPr>
          <a:xfrm>
            <a:off x="3652356" y="5662836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 = 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E25419-4D3E-4AE7-DF07-132FD66B5B33}"/>
              </a:ext>
            </a:extLst>
          </p:cNvPr>
          <p:cNvSpPr txBox="1"/>
          <p:nvPr/>
        </p:nvSpPr>
        <p:spPr>
          <a:xfrm>
            <a:off x="7812353" y="3498247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 = 0.6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FCA4C8-002D-C440-CE21-910BDBCB91E0}"/>
              </a:ext>
            </a:extLst>
          </p:cNvPr>
          <p:cNvSpPr txBox="1"/>
          <p:nvPr/>
        </p:nvSpPr>
        <p:spPr>
          <a:xfrm>
            <a:off x="6436623" y="5644425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 = 0.6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147049-7704-E320-2FE0-9F67E8A64522}"/>
              </a:ext>
            </a:extLst>
          </p:cNvPr>
          <p:cNvSpPr txBox="1"/>
          <p:nvPr/>
        </p:nvSpPr>
        <p:spPr>
          <a:xfrm>
            <a:off x="10377352" y="3498247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 =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ABFECAA-27A5-2E8E-E0A1-A783C6B07F54}"/>
                  </a:ext>
                </a:extLst>
              </p:cNvPr>
              <p:cNvSpPr/>
              <p:nvPr/>
            </p:nvSpPr>
            <p:spPr>
              <a:xfrm>
                <a:off x="1196799" y="3936463"/>
                <a:ext cx="1139005" cy="4055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C00000"/>
                    </a:solidFill>
                  </a:rPr>
                  <a:t>STOP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091</m:t>
                      </m:r>
                    </m:oMath>
                  </m:oMathPara>
                </a14:m>
                <a:endParaRPr lang="en-US" sz="1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ABFECAA-27A5-2E8E-E0A1-A783C6B07F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6799" y="3936463"/>
                <a:ext cx="1139005" cy="405587"/>
              </a:xfrm>
              <a:prstGeom prst="rect">
                <a:avLst/>
              </a:prstGeom>
              <a:blipFill>
                <a:blip r:embed="rId7"/>
                <a:stretch>
                  <a:fillRect t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8DA1A8D-0F3E-819F-0A4D-1DD7F9F79387}"/>
                  </a:ext>
                </a:extLst>
              </p:cNvPr>
              <p:cNvSpPr/>
              <p:nvPr/>
            </p:nvSpPr>
            <p:spPr>
              <a:xfrm>
                <a:off x="2743362" y="3928819"/>
                <a:ext cx="1139005" cy="4055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Form O-H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909</m:t>
                      </m:r>
                    </m:oMath>
                  </m:oMathPara>
                </a14:m>
                <a:endParaRPr lang="en-US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8DA1A8D-0F3E-819F-0A4D-1DD7F9F79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362" y="3928819"/>
                <a:ext cx="1139005" cy="405587"/>
              </a:xfrm>
              <a:prstGeom prst="rect">
                <a:avLst/>
              </a:prstGeom>
              <a:blipFill>
                <a:blip r:embed="rId8"/>
                <a:stretch>
                  <a:fillRect t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5F467678-009C-1E41-7849-F891EB41FD3E}"/>
                  </a:ext>
                </a:extLst>
              </p:cNvPr>
              <p:cNvSpPr/>
              <p:nvPr/>
            </p:nvSpPr>
            <p:spPr>
              <a:xfrm>
                <a:off x="5634687" y="3928819"/>
                <a:ext cx="1139005" cy="4055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C00000"/>
                    </a:solidFill>
                  </a:rPr>
                  <a:t>STOP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.068</m:t>
                      </m:r>
                    </m:oMath>
                  </m:oMathPara>
                </a14:m>
                <a:endParaRPr lang="en-US" sz="1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5F467678-009C-1E41-7849-F891EB41FD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4687" y="3928819"/>
                <a:ext cx="1139005" cy="405587"/>
              </a:xfrm>
              <a:prstGeom prst="rect">
                <a:avLst/>
              </a:prstGeom>
              <a:blipFill>
                <a:blip r:embed="rId9"/>
                <a:stretch>
                  <a:fillRect t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D67720FA-8AA2-DAA2-DF5D-AB09800382C3}"/>
                  </a:ext>
                </a:extLst>
              </p:cNvPr>
              <p:cNvSpPr/>
              <p:nvPr/>
            </p:nvSpPr>
            <p:spPr>
              <a:xfrm>
                <a:off x="4144868" y="3928819"/>
                <a:ext cx="1139005" cy="40558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Form C-O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0.932</m:t>
                      </m:r>
                    </m:oMath>
                  </m:oMathPara>
                </a14:m>
                <a:endParaRPr lang="en-US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D67720FA-8AA2-DAA2-DF5D-AB09800382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868" y="3928819"/>
                <a:ext cx="1139005" cy="405587"/>
              </a:xfrm>
              <a:prstGeom prst="rect">
                <a:avLst/>
              </a:prstGeom>
              <a:blipFill>
                <a:blip r:embed="rId10"/>
                <a:stretch>
                  <a:fillRect t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A0CAA16-12D8-2117-8106-E4A321C8C5B0}"/>
                  </a:ext>
                </a:extLst>
              </p:cNvPr>
              <p:cNvSpPr txBox="1"/>
              <p:nvPr/>
            </p:nvSpPr>
            <p:spPr>
              <a:xfrm>
                <a:off x="411443" y="3172406"/>
                <a:ext cx="1766574" cy="3751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˜"/>
                              <m:ctrlP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Neural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=0.969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A0CAA16-12D8-2117-8106-E4A321C8C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43" y="3172406"/>
                <a:ext cx="1766574" cy="37516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E262B53-0111-21BA-3EF6-935005DA5D25}"/>
                  </a:ext>
                </a:extLst>
              </p:cNvPr>
              <p:cNvSpPr txBox="1"/>
              <p:nvPr/>
            </p:nvSpPr>
            <p:spPr>
              <a:xfrm>
                <a:off x="5890405" y="3172406"/>
                <a:ext cx="1766574" cy="3751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˜"/>
                              <m:ctrlP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Neural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=0.970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E262B53-0111-21BA-3EF6-935005DA5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0405" y="3172406"/>
                <a:ext cx="1766574" cy="37516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9A4E65C-42F5-E14D-A79B-41B28B96FD50}"/>
                  </a:ext>
                </a:extLst>
              </p:cNvPr>
              <p:cNvSpPr txBox="1"/>
              <p:nvPr/>
            </p:nvSpPr>
            <p:spPr>
              <a:xfrm>
                <a:off x="7289742" y="1381967"/>
                <a:ext cx="1766574" cy="3751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˜"/>
                              <m:ctrlP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Neural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=0.949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9A4E65C-42F5-E14D-A79B-41B28B96F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742" y="1381967"/>
                <a:ext cx="1766574" cy="37516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A851118-50BD-AACF-7083-4119D18D563B}"/>
                  </a:ext>
                </a:extLst>
              </p:cNvPr>
              <p:cNvSpPr txBox="1"/>
              <p:nvPr/>
            </p:nvSpPr>
            <p:spPr>
              <a:xfrm>
                <a:off x="7608552" y="4989896"/>
                <a:ext cx="4320991" cy="6521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i="1" dirty="0"/>
                  <a:t>   : Neural Network Action Prediction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˜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Neural</m:t>
                        </m:r>
                      </m:sub>
                    </m:sSub>
                  </m:oMath>
                </a14:m>
                <a:r>
                  <a:rPr lang="en-US" i="1" dirty="0"/>
                  <a:t> : Neural Network State Evaluation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A851118-50BD-AACF-7083-4119D18D5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8552" y="4989896"/>
                <a:ext cx="4320991" cy="652166"/>
              </a:xfrm>
              <a:prstGeom prst="rect">
                <a:avLst/>
              </a:prstGeom>
              <a:blipFill>
                <a:blip r:embed="rId14"/>
                <a:stretch>
                  <a:fillRect t="-5769" r="-293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2127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D676C-494B-3284-A7F6-CB1F11B08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9D8B25C-7EB7-47F0-940B-FD46721503C0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DD16916-F493-F1AE-2B45-F3F55456A805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Achievement and Further</a:t>
            </a:r>
            <a:r>
              <a:rPr lang="zh-CN" alt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 </a:t>
            </a:r>
            <a:r>
              <a:rPr lang="en-US" altLang="zh-CN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Implementation</a:t>
            </a:r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18A0318-D0F3-91E6-C425-13B70005E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12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D2FF95-1F7A-6135-204E-1A0CFFE337F4}"/>
              </a:ext>
            </a:extLst>
          </p:cNvPr>
          <p:cNvSpPr txBox="1"/>
          <p:nvPr/>
        </p:nvSpPr>
        <p:spPr>
          <a:xfrm>
            <a:off x="358698" y="1088191"/>
            <a:ext cx="10995102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Achieved: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zh-CN" altLang="en-US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neural network agent, together with PUCT, is capable to predict the value of intermediate state guide the state evaluation.  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For more complex system: graph isomorphism </a:t>
            </a:r>
          </a:p>
          <a:p>
            <a:pPr marL="742950" lvl="1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Two bond graph, despite different adjacent matrix, may represent identical state. We will develop a function to identify the identical state and consider graph transposition.</a:t>
            </a:r>
          </a:p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Open Question: Design Reward and the depth of exploration, and what species should be extracted </a:t>
            </a:r>
          </a:p>
          <a:p>
            <a:pPr marL="742950" lvl="1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For a complex system, reward rule is needed for recognizing different state that it reached. Meanwhile, as the tree depth grows, rewarding intermediate state may speed up the iteration.</a:t>
            </a:r>
          </a:p>
          <a:p>
            <a:pPr marL="742950" lvl="1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Fix-depth exploration and/or rule guided exploration?</a:t>
            </a:r>
          </a:p>
          <a:p>
            <a:pPr marL="742950" lvl="1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Should we read species along the tree branch? Or should we only explore species from the end state?</a:t>
            </a:r>
          </a:p>
          <a:p>
            <a:pPr marL="742950" lvl="1" indent="-285750">
              <a:spcAft>
                <a:spcPts val="300"/>
              </a:spcAft>
              <a:buFont typeface="Wingdings" pitchFamily="2" charset="2"/>
              <a:buChar char="q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228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4646</TotalTime>
  <Words>1337</Words>
  <Application>Microsoft Macintosh PowerPoint</Application>
  <PresentationFormat>Widescreen</PresentationFormat>
  <Paragraphs>257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Cambria Math</vt:lpstr>
      <vt:lpstr>Courier New</vt:lpstr>
      <vt:lpstr>Garamond</vt:lpstr>
      <vt:lpstr>Helvetica</vt:lpstr>
      <vt:lpstr>Wingdings</vt:lpstr>
      <vt:lpstr>Office Theme</vt:lpstr>
      <vt:lpstr>Research Updates on GNN Species Discovery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Rui Xu</dc:creator>
  <cp:lastModifiedBy>Boyuan Yu</cp:lastModifiedBy>
  <cp:revision>3876</cp:revision>
  <dcterms:created xsi:type="dcterms:W3CDTF">2025-01-30T21:03:05Z</dcterms:created>
  <dcterms:modified xsi:type="dcterms:W3CDTF">2026-08-25T06:55:12Z</dcterms:modified>
</cp:coreProperties>
</file>